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7315200" cy="457708"/>
          </a:xfrm>
          <a:prstGeom prst="rect">
            <a:avLst/>
          </a:prstGeom>
          <a:noFill/>
        </p:spPr>
        <p:txBody>
          <a:bodyPr wrap="square" lIns="0" rIns="0" tIns="0" bIns="0" anchor="ctr">
            <a:spAutoFit/>
          </a:bodyPr>
          <a:lstStyle/>
          <a:p>
            <a:pPr algn="l"/>
            <a:r>
              <a:rPr sz="2600" b="1" i="0">
                <a:solidFill>
                  <a:srgbClr val="1A1A1A"/>
                </a:solidFill>
              </a:rPr>
              <a:t>JABC Brand Health Matrix</a:t>
            </a:r>
          </a:p>
        </p:txBody>
      </p:sp>
      <p:sp>
        <p:nvSpPr>
          <p:cNvPr id="3" name="Rectangle 2"/>
          <p:cNvSpPr/>
          <p:nvPr/>
        </p:nvSpPr>
        <p:spPr>
          <a:xfrm>
            <a:off x="502920" y="1005840"/>
            <a:ext cx="11393424" cy="566928"/>
          </a:xfrm>
          <a:prstGeom prst="rect">
            <a:avLst/>
          </a:prstGeom>
          <a:solidFill>
            <a:srgbClr val="750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99185"/>
            <a:ext cx="1600200" cy="380238"/>
          </a:xfrm>
          <a:prstGeom prst="rect">
            <a:avLst/>
          </a:prstGeom>
          <a:noFill/>
        </p:spPr>
        <p:txBody>
          <a:bodyPr wrap="square" lIns="0" rIns="0" tIns="0" bIns="0" anchor="ctr">
            <a:spAutoFit/>
          </a:bodyPr>
          <a:lstStyle/>
          <a:p>
            <a:pPr algn="ctr"/>
            <a:r>
              <a:rPr sz="1050" b="1" i="0">
                <a:solidFill>
                  <a:srgbClr val="FFFFFF"/>
                </a:solidFill>
              </a:rPr>
              <a:t>Brand</a:t>
            </a:r>
          </a:p>
          <a:p>
            <a:pPr algn="ctr"/>
            <a:r>
              <a:rPr sz="1050" b="1" i="0">
                <a:solidFill>
                  <a:srgbClr val="FFFFFF"/>
                </a:solidFill>
              </a:rPr>
              <a:t>Persona</a:t>
            </a:r>
          </a:p>
        </p:txBody>
      </p:sp>
      <p:sp>
        <p:nvSpPr>
          <p:cNvPr id="5" name="TextBox 4"/>
          <p:cNvSpPr txBox="1"/>
          <p:nvPr/>
        </p:nvSpPr>
        <p:spPr>
          <a:xfrm>
            <a:off x="2130552" y="1184402"/>
            <a:ext cx="1344168" cy="209804"/>
          </a:xfrm>
          <a:prstGeom prst="rect">
            <a:avLst/>
          </a:prstGeom>
          <a:noFill/>
        </p:spPr>
        <p:txBody>
          <a:bodyPr wrap="square" lIns="0" rIns="0" tIns="0" bIns="0" anchor="ctr">
            <a:spAutoFit/>
          </a:bodyPr>
          <a:lstStyle/>
          <a:p>
            <a:pPr algn="ctr"/>
            <a:r>
              <a:rPr sz="1000" b="1" i="0">
                <a:solidFill>
                  <a:srgbClr val="FFFFFF"/>
                </a:solidFill>
              </a:rPr>
              <a:t>Awareness</a:t>
            </a:r>
          </a:p>
        </p:txBody>
      </p:sp>
      <p:sp>
        <p:nvSpPr>
          <p:cNvPr id="6" name="TextBox 5"/>
          <p:cNvSpPr txBox="1"/>
          <p:nvPr/>
        </p:nvSpPr>
        <p:spPr>
          <a:xfrm>
            <a:off x="3529584" y="1184402"/>
            <a:ext cx="1344168" cy="209804"/>
          </a:xfrm>
          <a:prstGeom prst="rect">
            <a:avLst/>
          </a:prstGeom>
          <a:noFill/>
        </p:spPr>
        <p:txBody>
          <a:bodyPr wrap="square" lIns="0" rIns="0" tIns="0" bIns="0" anchor="ctr">
            <a:spAutoFit/>
          </a:bodyPr>
          <a:lstStyle/>
          <a:p>
            <a:pPr algn="ctr"/>
            <a:r>
              <a:rPr sz="1000" b="1" i="0">
                <a:solidFill>
                  <a:srgbClr val="FFFFFF"/>
                </a:solidFill>
              </a:rPr>
              <a:t>Understanding</a:t>
            </a:r>
          </a:p>
        </p:txBody>
      </p:sp>
      <p:sp>
        <p:nvSpPr>
          <p:cNvPr id="7" name="TextBox 6"/>
          <p:cNvSpPr txBox="1"/>
          <p:nvPr/>
        </p:nvSpPr>
        <p:spPr>
          <a:xfrm>
            <a:off x="4928616" y="1184402"/>
            <a:ext cx="1344168" cy="209804"/>
          </a:xfrm>
          <a:prstGeom prst="rect">
            <a:avLst/>
          </a:prstGeom>
          <a:noFill/>
        </p:spPr>
        <p:txBody>
          <a:bodyPr wrap="square" lIns="0" rIns="0" tIns="0" bIns="0" anchor="ctr">
            <a:spAutoFit/>
          </a:bodyPr>
          <a:lstStyle/>
          <a:p>
            <a:pPr algn="ctr"/>
            <a:r>
              <a:rPr sz="1000" b="1" i="0">
                <a:solidFill>
                  <a:srgbClr val="FFFFFF"/>
                </a:solidFill>
              </a:rPr>
              <a:t>Trust</a:t>
            </a:r>
          </a:p>
        </p:txBody>
      </p:sp>
      <p:sp>
        <p:nvSpPr>
          <p:cNvPr id="8" name="TextBox 7"/>
          <p:cNvSpPr txBox="1"/>
          <p:nvPr/>
        </p:nvSpPr>
        <p:spPr>
          <a:xfrm>
            <a:off x="6327648" y="1184402"/>
            <a:ext cx="1344168" cy="209804"/>
          </a:xfrm>
          <a:prstGeom prst="rect">
            <a:avLst/>
          </a:prstGeom>
          <a:noFill/>
        </p:spPr>
        <p:txBody>
          <a:bodyPr wrap="square" lIns="0" rIns="0" tIns="0" bIns="0" anchor="ctr">
            <a:spAutoFit/>
          </a:bodyPr>
          <a:lstStyle/>
          <a:p>
            <a:pPr algn="ctr"/>
            <a:r>
              <a:rPr sz="1000" b="1" i="0">
                <a:solidFill>
                  <a:srgbClr val="FFFFFF"/>
                </a:solidFill>
              </a:rPr>
              <a:t>Relevance</a:t>
            </a:r>
          </a:p>
        </p:txBody>
      </p:sp>
      <p:sp>
        <p:nvSpPr>
          <p:cNvPr id="9" name="TextBox 8"/>
          <p:cNvSpPr txBox="1"/>
          <p:nvPr/>
        </p:nvSpPr>
        <p:spPr>
          <a:xfrm>
            <a:off x="7726679" y="1184402"/>
            <a:ext cx="1344168" cy="209804"/>
          </a:xfrm>
          <a:prstGeom prst="rect">
            <a:avLst/>
          </a:prstGeom>
          <a:noFill/>
        </p:spPr>
        <p:txBody>
          <a:bodyPr wrap="square" lIns="0" rIns="0" tIns="0" bIns="0" anchor="ctr">
            <a:spAutoFit/>
          </a:bodyPr>
          <a:lstStyle/>
          <a:p>
            <a:pPr algn="ctr"/>
            <a:r>
              <a:rPr sz="1000" b="1" i="0">
                <a:solidFill>
                  <a:srgbClr val="FFFFFF"/>
                </a:solidFill>
              </a:rPr>
              <a:t>Ease of Engagement</a:t>
            </a:r>
          </a:p>
        </p:txBody>
      </p:sp>
      <p:sp>
        <p:nvSpPr>
          <p:cNvPr id="10" name="TextBox 9"/>
          <p:cNvSpPr txBox="1"/>
          <p:nvPr/>
        </p:nvSpPr>
        <p:spPr>
          <a:xfrm>
            <a:off x="9125712" y="1184402"/>
            <a:ext cx="1344168" cy="209804"/>
          </a:xfrm>
          <a:prstGeom prst="rect">
            <a:avLst/>
          </a:prstGeom>
          <a:noFill/>
        </p:spPr>
        <p:txBody>
          <a:bodyPr wrap="square" lIns="0" rIns="0" tIns="0" bIns="0" anchor="ctr">
            <a:spAutoFit/>
          </a:bodyPr>
          <a:lstStyle/>
          <a:p>
            <a:pPr algn="ctr"/>
            <a:r>
              <a:rPr sz="1000" b="1" i="0">
                <a:solidFill>
                  <a:srgbClr val="FFFFFF"/>
                </a:solidFill>
              </a:rPr>
              <a:t>Advocacy</a:t>
            </a:r>
          </a:p>
        </p:txBody>
      </p:sp>
      <p:sp>
        <p:nvSpPr>
          <p:cNvPr id="11" name="TextBox 10"/>
          <p:cNvSpPr txBox="1"/>
          <p:nvPr/>
        </p:nvSpPr>
        <p:spPr>
          <a:xfrm>
            <a:off x="10524744" y="1114679"/>
            <a:ext cx="1344168" cy="349250"/>
          </a:xfrm>
          <a:prstGeom prst="rect">
            <a:avLst/>
          </a:prstGeom>
          <a:noFill/>
        </p:spPr>
        <p:txBody>
          <a:bodyPr wrap="square" lIns="0" rIns="0" tIns="0" bIns="0" anchor="ctr">
            <a:spAutoFit/>
          </a:bodyPr>
          <a:lstStyle/>
          <a:p>
            <a:pPr algn="ctr"/>
            <a:r>
              <a:rPr sz="950" b="1" i="1">
                <a:solidFill>
                  <a:srgbClr val="FFFFFF"/>
                </a:solidFill>
              </a:rPr>
              <a:t>Average</a:t>
            </a:r>
          </a:p>
          <a:p>
            <a:pPr algn="ctr"/>
            <a:r>
              <a:rPr sz="950" b="1" i="1">
                <a:solidFill>
                  <a:srgbClr val="FFFFFF"/>
                </a:solidFill>
              </a:rPr>
              <a:t>of Personas</a:t>
            </a:r>
          </a:p>
        </p:txBody>
      </p:sp>
      <p:sp>
        <p:nvSpPr>
          <p:cNvPr id="12" name="Rectangle 11"/>
          <p:cNvSpPr/>
          <p:nvPr/>
        </p:nvSpPr>
        <p:spPr>
          <a:xfrm>
            <a:off x="502920" y="1572768"/>
            <a:ext cx="1600200" cy="658368"/>
          </a:xfrm>
          <a:prstGeom prst="rect">
            <a:avLst/>
          </a:prstGeom>
          <a:solidFill>
            <a:srgbClr val="FFFFFF"/>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39496" y="1797050"/>
            <a:ext cx="1527048" cy="209804"/>
          </a:xfrm>
          <a:prstGeom prst="rect">
            <a:avLst/>
          </a:prstGeom>
          <a:noFill/>
        </p:spPr>
        <p:txBody>
          <a:bodyPr wrap="square" lIns="0" rIns="0" tIns="0" bIns="0" anchor="ctr">
            <a:spAutoFit/>
          </a:bodyPr>
          <a:lstStyle/>
          <a:p>
            <a:pPr algn="ctr"/>
            <a:r>
              <a:rPr sz="1000" b="1" i="0">
                <a:solidFill>
                  <a:srgbClr val="1A1A1A"/>
                </a:solidFill>
              </a:rPr>
              <a:t>Established Supporters</a:t>
            </a:r>
          </a:p>
        </p:txBody>
      </p:sp>
      <p:sp>
        <p:nvSpPr>
          <p:cNvPr id="14" name="Rectangle 13"/>
          <p:cNvSpPr/>
          <p:nvPr/>
        </p:nvSpPr>
        <p:spPr>
          <a:xfrm>
            <a:off x="2103120" y="1572768"/>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2605125" y="1704441"/>
            <a:ext cx="395020" cy="395020"/>
          </a:xfrm>
          <a:prstGeom prst="ellipse">
            <a:avLst/>
          </a:prstGeom>
          <a:solidFill>
            <a:srgbClr val="C0C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2711781"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2853988"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Freeform 17"/>
          <p:cNvSpPr/>
          <p:nvPr/>
        </p:nvSpPr>
        <p:spPr>
          <a:xfrm>
            <a:off x="2709836" y="1974612"/>
            <a:ext cx="185599" cy="18194"/>
          </a:xfrm>
          <a:custGeom>
            <a:avLst/>
            <a:gdLst/>
            <a:ahLst/>
            <a:cxnLst/>
            <a:rect l="l" t="t" r="r" b="b"/>
            <a:pathLst>
              <a:path w="185599" h="18194">
                <a:moveTo>
                  <a:pt x="0" y="0"/>
                </a:moveTo>
                <a:lnTo>
                  <a:pt x="1839" y="1310"/>
                </a:lnTo>
                <a:lnTo>
                  <a:pt x="3913" y="2592"/>
                </a:lnTo>
                <a:lnTo>
                  <a:pt x="6218" y="3843"/>
                </a:lnTo>
                <a:lnTo>
                  <a:pt x="8747" y="5059"/>
                </a:lnTo>
                <a:lnTo>
                  <a:pt x="11494" y="6238"/>
                </a:lnTo>
                <a:lnTo>
                  <a:pt x="14452" y="7376"/>
                </a:lnTo>
                <a:lnTo>
                  <a:pt x="17612" y="8470"/>
                </a:lnTo>
                <a:lnTo>
                  <a:pt x="20968" y="9518"/>
                </a:lnTo>
                <a:lnTo>
                  <a:pt x="24509" y="10517"/>
                </a:lnTo>
                <a:lnTo>
                  <a:pt x="28227" y="11464"/>
                </a:lnTo>
                <a:lnTo>
                  <a:pt x="32113" y="12357"/>
                </a:lnTo>
                <a:lnTo>
                  <a:pt x="36156" y="13194"/>
                </a:lnTo>
                <a:lnTo>
                  <a:pt x="40345" y="13971"/>
                </a:lnTo>
                <a:lnTo>
                  <a:pt x="44671" y="14688"/>
                </a:lnTo>
                <a:lnTo>
                  <a:pt x="49121" y="15343"/>
                </a:lnTo>
                <a:lnTo>
                  <a:pt x="53685" y="15933"/>
                </a:lnTo>
                <a:lnTo>
                  <a:pt x="58349" y="16457"/>
                </a:lnTo>
                <a:lnTo>
                  <a:pt x="63103" y="16914"/>
                </a:lnTo>
                <a:lnTo>
                  <a:pt x="67934" y="17303"/>
                </a:lnTo>
                <a:lnTo>
                  <a:pt x="72829" y="17623"/>
                </a:lnTo>
                <a:lnTo>
                  <a:pt x="77777" y="17872"/>
                </a:lnTo>
                <a:lnTo>
                  <a:pt x="82763" y="18051"/>
                </a:lnTo>
                <a:lnTo>
                  <a:pt x="87774" y="18158"/>
                </a:lnTo>
                <a:lnTo>
                  <a:pt x="92800" y="18194"/>
                </a:lnTo>
                <a:lnTo>
                  <a:pt x="97825" y="18158"/>
                </a:lnTo>
                <a:lnTo>
                  <a:pt x="102836" y="18051"/>
                </a:lnTo>
                <a:lnTo>
                  <a:pt x="107822" y="17872"/>
                </a:lnTo>
                <a:lnTo>
                  <a:pt x="112770" y="17623"/>
                </a:lnTo>
                <a:lnTo>
                  <a:pt x="117665" y="17303"/>
                </a:lnTo>
                <a:lnTo>
                  <a:pt x="122496" y="16914"/>
                </a:lnTo>
                <a:lnTo>
                  <a:pt x="127250" y="16457"/>
                </a:lnTo>
                <a:lnTo>
                  <a:pt x="131914" y="15933"/>
                </a:lnTo>
                <a:lnTo>
                  <a:pt x="136478" y="15343"/>
                </a:lnTo>
                <a:lnTo>
                  <a:pt x="140928" y="14688"/>
                </a:lnTo>
                <a:lnTo>
                  <a:pt x="145254" y="13971"/>
                </a:lnTo>
                <a:lnTo>
                  <a:pt x="149443" y="13194"/>
                </a:lnTo>
                <a:lnTo>
                  <a:pt x="153486" y="12357"/>
                </a:lnTo>
                <a:lnTo>
                  <a:pt x="157372" y="11464"/>
                </a:lnTo>
                <a:lnTo>
                  <a:pt x="161090" y="10517"/>
                </a:lnTo>
                <a:lnTo>
                  <a:pt x="164631" y="9518"/>
                </a:lnTo>
                <a:lnTo>
                  <a:pt x="167987" y="8470"/>
                </a:lnTo>
                <a:lnTo>
                  <a:pt x="171147" y="7376"/>
                </a:lnTo>
                <a:lnTo>
                  <a:pt x="174105" y="6238"/>
                </a:lnTo>
                <a:lnTo>
                  <a:pt x="176852" y="5059"/>
                </a:lnTo>
                <a:lnTo>
                  <a:pt x="179381" y="3843"/>
                </a:lnTo>
                <a:lnTo>
                  <a:pt x="181686" y="2592"/>
                </a:lnTo>
                <a:lnTo>
                  <a:pt x="183760" y="1310"/>
                </a:lnTo>
                <a:lnTo>
                  <a:pt x="185599" y="0"/>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502152" y="1572768"/>
            <a:ext cx="1399032" cy="658368"/>
          </a:xfrm>
          <a:prstGeom prst="rect">
            <a:avLst/>
          </a:prstGeom>
          <a:solidFill>
            <a:srgbClr val="DCEDC8"/>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004157" y="1704441"/>
            <a:ext cx="395020" cy="395020"/>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110813"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4253020"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reeform 22"/>
          <p:cNvSpPr/>
          <p:nvPr/>
        </p:nvSpPr>
        <p:spPr>
          <a:xfrm>
            <a:off x="4108868" y="1964605"/>
            <a:ext cx="185599" cy="28201"/>
          </a:xfrm>
          <a:custGeom>
            <a:avLst/>
            <a:gdLst/>
            <a:ahLst/>
            <a:cxnLst/>
            <a:rect l="l" t="t" r="r" b="b"/>
            <a:pathLst>
              <a:path w="185599" h="28201">
                <a:moveTo>
                  <a:pt x="0" y="0"/>
                </a:moveTo>
                <a:lnTo>
                  <a:pt x="1839" y="2031"/>
                </a:lnTo>
                <a:lnTo>
                  <a:pt x="3913" y="4018"/>
                </a:lnTo>
                <a:lnTo>
                  <a:pt x="6218" y="5957"/>
                </a:lnTo>
                <a:lnTo>
                  <a:pt x="8747" y="7842"/>
                </a:lnTo>
                <a:lnTo>
                  <a:pt x="11494" y="9669"/>
                </a:lnTo>
                <a:lnTo>
                  <a:pt x="14452" y="11433"/>
                </a:lnTo>
                <a:lnTo>
                  <a:pt x="17612" y="13129"/>
                </a:lnTo>
                <a:lnTo>
                  <a:pt x="20968" y="14754"/>
                </a:lnTo>
                <a:lnTo>
                  <a:pt x="24509" y="16302"/>
                </a:lnTo>
                <a:lnTo>
                  <a:pt x="28227" y="17770"/>
                </a:lnTo>
                <a:lnTo>
                  <a:pt x="32113" y="19154"/>
                </a:lnTo>
                <a:lnTo>
                  <a:pt x="36156" y="20450"/>
                </a:lnTo>
                <a:lnTo>
                  <a:pt x="40345" y="21656"/>
                </a:lnTo>
                <a:lnTo>
                  <a:pt x="44671" y="22767"/>
                </a:lnTo>
                <a:lnTo>
                  <a:pt x="49121" y="23781"/>
                </a:lnTo>
                <a:lnTo>
                  <a:pt x="53685" y="24696"/>
                </a:lnTo>
                <a:lnTo>
                  <a:pt x="58349" y="25509"/>
                </a:lnTo>
                <a:lnTo>
                  <a:pt x="63103" y="26218"/>
                </a:lnTo>
                <a:lnTo>
                  <a:pt x="67934" y="26820"/>
                </a:lnTo>
                <a:lnTo>
                  <a:pt x="72829" y="27316"/>
                </a:lnTo>
                <a:lnTo>
                  <a:pt x="77777" y="27702"/>
                </a:lnTo>
                <a:lnTo>
                  <a:pt x="82763" y="27979"/>
                </a:lnTo>
                <a:lnTo>
                  <a:pt x="87774" y="28146"/>
                </a:lnTo>
                <a:lnTo>
                  <a:pt x="92800" y="28201"/>
                </a:lnTo>
                <a:lnTo>
                  <a:pt x="97825" y="28146"/>
                </a:lnTo>
                <a:lnTo>
                  <a:pt x="102836" y="27979"/>
                </a:lnTo>
                <a:lnTo>
                  <a:pt x="107822" y="27702"/>
                </a:lnTo>
                <a:lnTo>
                  <a:pt x="112770" y="27316"/>
                </a:lnTo>
                <a:lnTo>
                  <a:pt x="117665" y="26820"/>
                </a:lnTo>
                <a:lnTo>
                  <a:pt x="122496" y="26218"/>
                </a:lnTo>
                <a:lnTo>
                  <a:pt x="127250" y="25509"/>
                </a:lnTo>
                <a:lnTo>
                  <a:pt x="131914" y="24696"/>
                </a:lnTo>
                <a:lnTo>
                  <a:pt x="136478" y="23781"/>
                </a:lnTo>
                <a:lnTo>
                  <a:pt x="140928" y="22767"/>
                </a:lnTo>
                <a:lnTo>
                  <a:pt x="145254" y="21656"/>
                </a:lnTo>
                <a:lnTo>
                  <a:pt x="149443" y="20450"/>
                </a:lnTo>
                <a:lnTo>
                  <a:pt x="153486" y="19154"/>
                </a:lnTo>
                <a:lnTo>
                  <a:pt x="157372" y="17770"/>
                </a:lnTo>
                <a:lnTo>
                  <a:pt x="161090" y="16302"/>
                </a:lnTo>
                <a:lnTo>
                  <a:pt x="164631" y="14754"/>
                </a:lnTo>
                <a:lnTo>
                  <a:pt x="167987" y="13129"/>
                </a:lnTo>
                <a:lnTo>
                  <a:pt x="171147" y="11433"/>
                </a:lnTo>
                <a:lnTo>
                  <a:pt x="174105" y="9669"/>
                </a:lnTo>
                <a:lnTo>
                  <a:pt x="176852" y="7842"/>
                </a:lnTo>
                <a:lnTo>
                  <a:pt x="179381" y="5957"/>
                </a:lnTo>
                <a:lnTo>
                  <a:pt x="181686" y="4018"/>
                </a:lnTo>
                <a:lnTo>
                  <a:pt x="183760" y="2031"/>
                </a:lnTo>
                <a:lnTo>
                  <a:pt x="185599" y="0"/>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901183" y="1572768"/>
            <a:ext cx="1399032" cy="658368"/>
          </a:xfrm>
          <a:prstGeom prst="rect">
            <a:avLst/>
          </a:prstGeom>
          <a:solidFill>
            <a:srgbClr val="DCEDC8"/>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403189" y="1704441"/>
            <a:ext cx="395020" cy="395020"/>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5509845"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652052"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Freeform 27"/>
          <p:cNvSpPr/>
          <p:nvPr/>
        </p:nvSpPr>
        <p:spPr>
          <a:xfrm>
            <a:off x="5507900" y="1964605"/>
            <a:ext cx="185599" cy="28201"/>
          </a:xfrm>
          <a:custGeom>
            <a:avLst/>
            <a:gdLst/>
            <a:ahLst/>
            <a:cxnLst/>
            <a:rect l="l" t="t" r="r" b="b"/>
            <a:pathLst>
              <a:path w="185599" h="28201">
                <a:moveTo>
                  <a:pt x="0" y="0"/>
                </a:moveTo>
                <a:lnTo>
                  <a:pt x="1839" y="2031"/>
                </a:lnTo>
                <a:lnTo>
                  <a:pt x="3913" y="4018"/>
                </a:lnTo>
                <a:lnTo>
                  <a:pt x="6218" y="5957"/>
                </a:lnTo>
                <a:lnTo>
                  <a:pt x="8747" y="7842"/>
                </a:lnTo>
                <a:lnTo>
                  <a:pt x="11494" y="9669"/>
                </a:lnTo>
                <a:lnTo>
                  <a:pt x="14452" y="11433"/>
                </a:lnTo>
                <a:lnTo>
                  <a:pt x="17612" y="13129"/>
                </a:lnTo>
                <a:lnTo>
                  <a:pt x="20968" y="14754"/>
                </a:lnTo>
                <a:lnTo>
                  <a:pt x="24509" y="16302"/>
                </a:lnTo>
                <a:lnTo>
                  <a:pt x="28227" y="17770"/>
                </a:lnTo>
                <a:lnTo>
                  <a:pt x="32113" y="19154"/>
                </a:lnTo>
                <a:lnTo>
                  <a:pt x="36156" y="20450"/>
                </a:lnTo>
                <a:lnTo>
                  <a:pt x="40345" y="21656"/>
                </a:lnTo>
                <a:lnTo>
                  <a:pt x="44671" y="22767"/>
                </a:lnTo>
                <a:lnTo>
                  <a:pt x="49121" y="23781"/>
                </a:lnTo>
                <a:lnTo>
                  <a:pt x="53685" y="24696"/>
                </a:lnTo>
                <a:lnTo>
                  <a:pt x="58349" y="25509"/>
                </a:lnTo>
                <a:lnTo>
                  <a:pt x="63103" y="26218"/>
                </a:lnTo>
                <a:lnTo>
                  <a:pt x="67934" y="26820"/>
                </a:lnTo>
                <a:lnTo>
                  <a:pt x="72829" y="27316"/>
                </a:lnTo>
                <a:lnTo>
                  <a:pt x="77777" y="27702"/>
                </a:lnTo>
                <a:lnTo>
                  <a:pt x="82763" y="27979"/>
                </a:lnTo>
                <a:lnTo>
                  <a:pt x="87774" y="28146"/>
                </a:lnTo>
                <a:lnTo>
                  <a:pt x="92799" y="28201"/>
                </a:lnTo>
                <a:lnTo>
                  <a:pt x="97825" y="28146"/>
                </a:lnTo>
                <a:lnTo>
                  <a:pt x="102836" y="27979"/>
                </a:lnTo>
                <a:lnTo>
                  <a:pt x="107822" y="27702"/>
                </a:lnTo>
                <a:lnTo>
                  <a:pt x="112770" y="27316"/>
                </a:lnTo>
                <a:lnTo>
                  <a:pt x="117665" y="26820"/>
                </a:lnTo>
                <a:lnTo>
                  <a:pt x="122496" y="26218"/>
                </a:lnTo>
                <a:lnTo>
                  <a:pt x="127250" y="25509"/>
                </a:lnTo>
                <a:lnTo>
                  <a:pt x="131914" y="24696"/>
                </a:lnTo>
                <a:lnTo>
                  <a:pt x="136478" y="23781"/>
                </a:lnTo>
                <a:lnTo>
                  <a:pt x="140928" y="22767"/>
                </a:lnTo>
                <a:lnTo>
                  <a:pt x="145254" y="21656"/>
                </a:lnTo>
                <a:lnTo>
                  <a:pt x="149443" y="20450"/>
                </a:lnTo>
                <a:lnTo>
                  <a:pt x="153486" y="19154"/>
                </a:lnTo>
                <a:lnTo>
                  <a:pt x="157372" y="17770"/>
                </a:lnTo>
                <a:lnTo>
                  <a:pt x="161090" y="16302"/>
                </a:lnTo>
                <a:lnTo>
                  <a:pt x="164631" y="14754"/>
                </a:lnTo>
                <a:lnTo>
                  <a:pt x="167987" y="13129"/>
                </a:lnTo>
                <a:lnTo>
                  <a:pt x="171147" y="11433"/>
                </a:lnTo>
                <a:lnTo>
                  <a:pt x="174105" y="9669"/>
                </a:lnTo>
                <a:lnTo>
                  <a:pt x="176852" y="7842"/>
                </a:lnTo>
                <a:lnTo>
                  <a:pt x="179381" y="5957"/>
                </a:lnTo>
                <a:lnTo>
                  <a:pt x="181686" y="4018"/>
                </a:lnTo>
                <a:lnTo>
                  <a:pt x="183760" y="2031"/>
                </a:lnTo>
                <a:lnTo>
                  <a:pt x="185599" y="0"/>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300216" y="1572768"/>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802221" y="1704441"/>
            <a:ext cx="395020" cy="395020"/>
          </a:xfrm>
          <a:prstGeom prst="ellipse">
            <a:avLst/>
          </a:prstGeom>
          <a:solidFill>
            <a:srgbClr val="C0C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908877"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051084"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Freeform 32"/>
          <p:cNvSpPr/>
          <p:nvPr/>
        </p:nvSpPr>
        <p:spPr>
          <a:xfrm>
            <a:off x="6906932" y="1974612"/>
            <a:ext cx="185599" cy="18194"/>
          </a:xfrm>
          <a:custGeom>
            <a:avLst/>
            <a:gdLst/>
            <a:ahLst/>
            <a:cxnLst/>
            <a:rect l="l" t="t" r="r" b="b"/>
            <a:pathLst>
              <a:path w="185599" h="18194">
                <a:moveTo>
                  <a:pt x="0" y="0"/>
                </a:moveTo>
                <a:lnTo>
                  <a:pt x="1839" y="1310"/>
                </a:lnTo>
                <a:lnTo>
                  <a:pt x="3913" y="2592"/>
                </a:lnTo>
                <a:lnTo>
                  <a:pt x="6218" y="3843"/>
                </a:lnTo>
                <a:lnTo>
                  <a:pt x="8747" y="5059"/>
                </a:lnTo>
                <a:lnTo>
                  <a:pt x="11494" y="6238"/>
                </a:lnTo>
                <a:lnTo>
                  <a:pt x="14452" y="7376"/>
                </a:lnTo>
                <a:lnTo>
                  <a:pt x="17612" y="8470"/>
                </a:lnTo>
                <a:lnTo>
                  <a:pt x="20968" y="9518"/>
                </a:lnTo>
                <a:lnTo>
                  <a:pt x="24509" y="10517"/>
                </a:lnTo>
                <a:lnTo>
                  <a:pt x="28227" y="11464"/>
                </a:lnTo>
                <a:lnTo>
                  <a:pt x="32113" y="12357"/>
                </a:lnTo>
                <a:lnTo>
                  <a:pt x="36156" y="13194"/>
                </a:lnTo>
                <a:lnTo>
                  <a:pt x="40345" y="13971"/>
                </a:lnTo>
                <a:lnTo>
                  <a:pt x="44671" y="14688"/>
                </a:lnTo>
                <a:lnTo>
                  <a:pt x="49121" y="15343"/>
                </a:lnTo>
                <a:lnTo>
                  <a:pt x="53685" y="15933"/>
                </a:lnTo>
                <a:lnTo>
                  <a:pt x="58349" y="16457"/>
                </a:lnTo>
                <a:lnTo>
                  <a:pt x="63103" y="16914"/>
                </a:lnTo>
                <a:lnTo>
                  <a:pt x="67934" y="17303"/>
                </a:lnTo>
                <a:lnTo>
                  <a:pt x="72829" y="17623"/>
                </a:lnTo>
                <a:lnTo>
                  <a:pt x="77777" y="17872"/>
                </a:lnTo>
                <a:lnTo>
                  <a:pt x="82763" y="18051"/>
                </a:lnTo>
                <a:lnTo>
                  <a:pt x="87774" y="18158"/>
                </a:lnTo>
                <a:lnTo>
                  <a:pt x="92799" y="18194"/>
                </a:lnTo>
                <a:lnTo>
                  <a:pt x="97825" y="18158"/>
                </a:lnTo>
                <a:lnTo>
                  <a:pt x="102836" y="18051"/>
                </a:lnTo>
                <a:lnTo>
                  <a:pt x="107822" y="17872"/>
                </a:lnTo>
                <a:lnTo>
                  <a:pt x="112770" y="17623"/>
                </a:lnTo>
                <a:lnTo>
                  <a:pt x="117665" y="17303"/>
                </a:lnTo>
                <a:lnTo>
                  <a:pt x="122496" y="16914"/>
                </a:lnTo>
                <a:lnTo>
                  <a:pt x="127250" y="16457"/>
                </a:lnTo>
                <a:lnTo>
                  <a:pt x="131914" y="15933"/>
                </a:lnTo>
                <a:lnTo>
                  <a:pt x="136478" y="15343"/>
                </a:lnTo>
                <a:lnTo>
                  <a:pt x="140928" y="14688"/>
                </a:lnTo>
                <a:lnTo>
                  <a:pt x="145254" y="13971"/>
                </a:lnTo>
                <a:lnTo>
                  <a:pt x="149443" y="13194"/>
                </a:lnTo>
                <a:lnTo>
                  <a:pt x="153486" y="12357"/>
                </a:lnTo>
                <a:lnTo>
                  <a:pt x="157372" y="11464"/>
                </a:lnTo>
                <a:lnTo>
                  <a:pt x="161090" y="10517"/>
                </a:lnTo>
                <a:lnTo>
                  <a:pt x="164631" y="9518"/>
                </a:lnTo>
                <a:lnTo>
                  <a:pt x="167987" y="8470"/>
                </a:lnTo>
                <a:lnTo>
                  <a:pt x="171147" y="7376"/>
                </a:lnTo>
                <a:lnTo>
                  <a:pt x="174105" y="6238"/>
                </a:lnTo>
                <a:lnTo>
                  <a:pt x="176852" y="5059"/>
                </a:lnTo>
                <a:lnTo>
                  <a:pt x="179381" y="3843"/>
                </a:lnTo>
                <a:lnTo>
                  <a:pt x="181686" y="2592"/>
                </a:lnTo>
                <a:lnTo>
                  <a:pt x="183760" y="1310"/>
                </a:lnTo>
                <a:lnTo>
                  <a:pt x="185599" y="0"/>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99248" y="1572768"/>
            <a:ext cx="1399032" cy="658368"/>
          </a:xfrm>
          <a:prstGeom prst="rect">
            <a:avLst/>
          </a:prstGeom>
          <a:solidFill>
            <a:srgbClr val="DCEDC8"/>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201253" y="1704441"/>
            <a:ext cx="395020" cy="395020"/>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307909"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450116"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Freeform 37"/>
          <p:cNvSpPr/>
          <p:nvPr/>
        </p:nvSpPr>
        <p:spPr>
          <a:xfrm>
            <a:off x="8305964" y="1964605"/>
            <a:ext cx="185599" cy="28201"/>
          </a:xfrm>
          <a:custGeom>
            <a:avLst/>
            <a:gdLst/>
            <a:ahLst/>
            <a:cxnLst/>
            <a:rect l="l" t="t" r="r" b="b"/>
            <a:pathLst>
              <a:path w="185599" h="28201">
                <a:moveTo>
                  <a:pt x="0" y="0"/>
                </a:moveTo>
                <a:lnTo>
                  <a:pt x="1839" y="2031"/>
                </a:lnTo>
                <a:lnTo>
                  <a:pt x="3913" y="4018"/>
                </a:lnTo>
                <a:lnTo>
                  <a:pt x="6218" y="5957"/>
                </a:lnTo>
                <a:lnTo>
                  <a:pt x="8747" y="7842"/>
                </a:lnTo>
                <a:lnTo>
                  <a:pt x="11494" y="9669"/>
                </a:lnTo>
                <a:lnTo>
                  <a:pt x="14452" y="11433"/>
                </a:lnTo>
                <a:lnTo>
                  <a:pt x="17612" y="13129"/>
                </a:lnTo>
                <a:lnTo>
                  <a:pt x="20968" y="14754"/>
                </a:lnTo>
                <a:lnTo>
                  <a:pt x="24509" y="16302"/>
                </a:lnTo>
                <a:lnTo>
                  <a:pt x="28227" y="17770"/>
                </a:lnTo>
                <a:lnTo>
                  <a:pt x="32113" y="19154"/>
                </a:lnTo>
                <a:lnTo>
                  <a:pt x="36156" y="20450"/>
                </a:lnTo>
                <a:lnTo>
                  <a:pt x="40345" y="21656"/>
                </a:lnTo>
                <a:lnTo>
                  <a:pt x="44671" y="22767"/>
                </a:lnTo>
                <a:lnTo>
                  <a:pt x="49121" y="23781"/>
                </a:lnTo>
                <a:lnTo>
                  <a:pt x="53685" y="24696"/>
                </a:lnTo>
                <a:lnTo>
                  <a:pt x="58349" y="25509"/>
                </a:lnTo>
                <a:lnTo>
                  <a:pt x="63103" y="26218"/>
                </a:lnTo>
                <a:lnTo>
                  <a:pt x="67934" y="26820"/>
                </a:lnTo>
                <a:lnTo>
                  <a:pt x="72829" y="27316"/>
                </a:lnTo>
                <a:lnTo>
                  <a:pt x="77777" y="27702"/>
                </a:lnTo>
                <a:lnTo>
                  <a:pt x="82763" y="27979"/>
                </a:lnTo>
                <a:lnTo>
                  <a:pt x="87774" y="28146"/>
                </a:lnTo>
                <a:lnTo>
                  <a:pt x="92800" y="28201"/>
                </a:lnTo>
                <a:lnTo>
                  <a:pt x="97825" y="28146"/>
                </a:lnTo>
                <a:lnTo>
                  <a:pt x="102836" y="27979"/>
                </a:lnTo>
                <a:lnTo>
                  <a:pt x="107822" y="27702"/>
                </a:lnTo>
                <a:lnTo>
                  <a:pt x="112770" y="27316"/>
                </a:lnTo>
                <a:lnTo>
                  <a:pt x="117665" y="26820"/>
                </a:lnTo>
                <a:lnTo>
                  <a:pt x="122496" y="26218"/>
                </a:lnTo>
                <a:lnTo>
                  <a:pt x="127250" y="25509"/>
                </a:lnTo>
                <a:lnTo>
                  <a:pt x="131914" y="24696"/>
                </a:lnTo>
                <a:lnTo>
                  <a:pt x="136478" y="23781"/>
                </a:lnTo>
                <a:lnTo>
                  <a:pt x="140928" y="22767"/>
                </a:lnTo>
                <a:lnTo>
                  <a:pt x="145254" y="21656"/>
                </a:lnTo>
                <a:lnTo>
                  <a:pt x="149443" y="20450"/>
                </a:lnTo>
                <a:lnTo>
                  <a:pt x="153486" y="19154"/>
                </a:lnTo>
                <a:lnTo>
                  <a:pt x="157372" y="17770"/>
                </a:lnTo>
                <a:lnTo>
                  <a:pt x="161090" y="16302"/>
                </a:lnTo>
                <a:lnTo>
                  <a:pt x="164631" y="14754"/>
                </a:lnTo>
                <a:lnTo>
                  <a:pt x="167987" y="13129"/>
                </a:lnTo>
                <a:lnTo>
                  <a:pt x="171147" y="11433"/>
                </a:lnTo>
                <a:lnTo>
                  <a:pt x="174105" y="9669"/>
                </a:lnTo>
                <a:lnTo>
                  <a:pt x="176852" y="7842"/>
                </a:lnTo>
                <a:lnTo>
                  <a:pt x="179381" y="5957"/>
                </a:lnTo>
                <a:lnTo>
                  <a:pt x="181686" y="4018"/>
                </a:lnTo>
                <a:lnTo>
                  <a:pt x="183760" y="2031"/>
                </a:lnTo>
                <a:lnTo>
                  <a:pt x="185599" y="0"/>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98280" y="1572768"/>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9600285" y="1704441"/>
            <a:ext cx="395020" cy="395020"/>
          </a:xfrm>
          <a:prstGeom prst="ellipse">
            <a:avLst/>
          </a:prstGeom>
          <a:solidFill>
            <a:srgbClr val="C0C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9706941"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849148" y="1826898"/>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Freeform 42"/>
          <p:cNvSpPr/>
          <p:nvPr/>
        </p:nvSpPr>
        <p:spPr>
          <a:xfrm>
            <a:off x="9704996" y="1974612"/>
            <a:ext cx="185599" cy="18194"/>
          </a:xfrm>
          <a:custGeom>
            <a:avLst/>
            <a:gdLst/>
            <a:ahLst/>
            <a:cxnLst/>
            <a:rect l="l" t="t" r="r" b="b"/>
            <a:pathLst>
              <a:path w="185599" h="18194">
                <a:moveTo>
                  <a:pt x="0" y="0"/>
                </a:moveTo>
                <a:lnTo>
                  <a:pt x="1839" y="1310"/>
                </a:lnTo>
                <a:lnTo>
                  <a:pt x="3913" y="2592"/>
                </a:lnTo>
                <a:lnTo>
                  <a:pt x="6218" y="3843"/>
                </a:lnTo>
                <a:lnTo>
                  <a:pt x="8747" y="5059"/>
                </a:lnTo>
                <a:lnTo>
                  <a:pt x="11494" y="6238"/>
                </a:lnTo>
                <a:lnTo>
                  <a:pt x="14452" y="7376"/>
                </a:lnTo>
                <a:lnTo>
                  <a:pt x="17612" y="8470"/>
                </a:lnTo>
                <a:lnTo>
                  <a:pt x="20968" y="9518"/>
                </a:lnTo>
                <a:lnTo>
                  <a:pt x="24509" y="10517"/>
                </a:lnTo>
                <a:lnTo>
                  <a:pt x="28227" y="11464"/>
                </a:lnTo>
                <a:lnTo>
                  <a:pt x="32113" y="12357"/>
                </a:lnTo>
                <a:lnTo>
                  <a:pt x="36156" y="13194"/>
                </a:lnTo>
                <a:lnTo>
                  <a:pt x="40345" y="13971"/>
                </a:lnTo>
                <a:lnTo>
                  <a:pt x="44671" y="14688"/>
                </a:lnTo>
                <a:lnTo>
                  <a:pt x="49121" y="15343"/>
                </a:lnTo>
                <a:lnTo>
                  <a:pt x="53685" y="15933"/>
                </a:lnTo>
                <a:lnTo>
                  <a:pt x="58349" y="16457"/>
                </a:lnTo>
                <a:lnTo>
                  <a:pt x="63103" y="16914"/>
                </a:lnTo>
                <a:lnTo>
                  <a:pt x="67934" y="17303"/>
                </a:lnTo>
                <a:lnTo>
                  <a:pt x="72829" y="17623"/>
                </a:lnTo>
                <a:lnTo>
                  <a:pt x="77777" y="17872"/>
                </a:lnTo>
                <a:lnTo>
                  <a:pt x="82763" y="18051"/>
                </a:lnTo>
                <a:lnTo>
                  <a:pt x="87774" y="18158"/>
                </a:lnTo>
                <a:lnTo>
                  <a:pt x="92800" y="18194"/>
                </a:lnTo>
                <a:lnTo>
                  <a:pt x="97825" y="18158"/>
                </a:lnTo>
                <a:lnTo>
                  <a:pt x="102836" y="18051"/>
                </a:lnTo>
                <a:lnTo>
                  <a:pt x="107822" y="17872"/>
                </a:lnTo>
                <a:lnTo>
                  <a:pt x="112770" y="17623"/>
                </a:lnTo>
                <a:lnTo>
                  <a:pt x="117665" y="17303"/>
                </a:lnTo>
                <a:lnTo>
                  <a:pt x="122496" y="16914"/>
                </a:lnTo>
                <a:lnTo>
                  <a:pt x="127250" y="16457"/>
                </a:lnTo>
                <a:lnTo>
                  <a:pt x="131914" y="15933"/>
                </a:lnTo>
                <a:lnTo>
                  <a:pt x="136478" y="15343"/>
                </a:lnTo>
                <a:lnTo>
                  <a:pt x="140928" y="14688"/>
                </a:lnTo>
                <a:lnTo>
                  <a:pt x="145254" y="13971"/>
                </a:lnTo>
                <a:lnTo>
                  <a:pt x="149443" y="13194"/>
                </a:lnTo>
                <a:lnTo>
                  <a:pt x="153486" y="12357"/>
                </a:lnTo>
                <a:lnTo>
                  <a:pt x="157372" y="11464"/>
                </a:lnTo>
                <a:lnTo>
                  <a:pt x="161090" y="10517"/>
                </a:lnTo>
                <a:lnTo>
                  <a:pt x="164631" y="9518"/>
                </a:lnTo>
                <a:lnTo>
                  <a:pt x="167987" y="8470"/>
                </a:lnTo>
                <a:lnTo>
                  <a:pt x="171147" y="7376"/>
                </a:lnTo>
                <a:lnTo>
                  <a:pt x="174105" y="6238"/>
                </a:lnTo>
                <a:lnTo>
                  <a:pt x="176852" y="5059"/>
                </a:lnTo>
                <a:lnTo>
                  <a:pt x="179381" y="3843"/>
                </a:lnTo>
                <a:lnTo>
                  <a:pt x="181686" y="2592"/>
                </a:lnTo>
                <a:lnTo>
                  <a:pt x="183760" y="1310"/>
                </a:lnTo>
                <a:lnTo>
                  <a:pt x="185599" y="0"/>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0497312" y="1572768"/>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497312" y="1781556"/>
            <a:ext cx="1399032" cy="240791"/>
          </a:xfrm>
          <a:prstGeom prst="rect">
            <a:avLst/>
          </a:prstGeom>
          <a:noFill/>
        </p:spPr>
        <p:txBody>
          <a:bodyPr wrap="square" lIns="0" rIns="0" tIns="0" bIns="0" anchor="ctr">
            <a:spAutoFit/>
          </a:bodyPr>
          <a:lstStyle/>
          <a:p>
            <a:pPr algn="ctr"/>
            <a:r>
              <a:rPr sz="1200" b="1" i="1">
                <a:solidFill>
                  <a:srgbClr val="333333"/>
                </a:solidFill>
              </a:rPr>
              <a:t>3.53</a:t>
            </a:r>
          </a:p>
        </p:txBody>
      </p:sp>
      <p:sp>
        <p:nvSpPr>
          <p:cNvPr id="46" name="Rectangle 45"/>
          <p:cNvSpPr/>
          <p:nvPr/>
        </p:nvSpPr>
        <p:spPr>
          <a:xfrm>
            <a:off x="502920" y="2231136"/>
            <a:ext cx="1600200" cy="658368"/>
          </a:xfrm>
          <a:prstGeom prst="rect">
            <a:avLst/>
          </a:prstGeom>
          <a:solidFill>
            <a:srgbClr val="FFFFFF"/>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39496" y="2455418"/>
            <a:ext cx="1527048" cy="209804"/>
          </a:xfrm>
          <a:prstGeom prst="rect">
            <a:avLst/>
          </a:prstGeom>
          <a:noFill/>
        </p:spPr>
        <p:txBody>
          <a:bodyPr wrap="square" lIns="0" rIns="0" tIns="0" bIns="0" anchor="ctr">
            <a:spAutoFit/>
          </a:bodyPr>
          <a:lstStyle/>
          <a:p>
            <a:pPr algn="ctr"/>
            <a:r>
              <a:rPr sz="1000" b="1" i="0">
                <a:solidFill>
                  <a:srgbClr val="1A1A1A"/>
                </a:solidFill>
              </a:rPr>
              <a:t>Potential Adopters</a:t>
            </a:r>
          </a:p>
        </p:txBody>
      </p:sp>
      <p:sp>
        <p:nvSpPr>
          <p:cNvPr id="48" name="Rectangle 47"/>
          <p:cNvSpPr/>
          <p:nvPr/>
        </p:nvSpPr>
        <p:spPr>
          <a:xfrm>
            <a:off x="2103120" y="2231136"/>
            <a:ext cx="1399032" cy="658368"/>
          </a:xfrm>
          <a:prstGeom prst="rect">
            <a:avLst/>
          </a:prstGeom>
          <a:solidFill>
            <a:srgbClr val="FFCC80"/>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2605125" y="2362809"/>
            <a:ext cx="395020" cy="395020"/>
          </a:xfrm>
          <a:prstGeom prst="ellipse">
            <a:avLst/>
          </a:prstGeom>
          <a:solidFill>
            <a:srgbClr val="EF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2711781" y="2485266"/>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2853988" y="2485266"/>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Freeform 51"/>
          <p:cNvSpPr/>
          <p:nvPr/>
        </p:nvSpPr>
        <p:spPr>
          <a:xfrm>
            <a:off x="2709836" y="2607722"/>
            <a:ext cx="185599" cy="22158"/>
          </a:xfrm>
          <a:custGeom>
            <a:avLst/>
            <a:gdLst/>
            <a:ahLst/>
            <a:cxnLst/>
            <a:rect l="l" t="t" r="r" b="b"/>
            <a:pathLst>
              <a:path w="185599" h="22158">
                <a:moveTo>
                  <a:pt x="185599" y="22158"/>
                </a:moveTo>
                <a:lnTo>
                  <a:pt x="183760" y="20563"/>
                </a:lnTo>
                <a:lnTo>
                  <a:pt x="181686" y="19001"/>
                </a:lnTo>
                <a:lnTo>
                  <a:pt x="179381" y="17478"/>
                </a:lnTo>
                <a:lnTo>
                  <a:pt x="176852" y="15997"/>
                </a:lnTo>
                <a:lnTo>
                  <a:pt x="174105" y="14561"/>
                </a:lnTo>
                <a:lnTo>
                  <a:pt x="171147" y="13175"/>
                </a:lnTo>
                <a:lnTo>
                  <a:pt x="167987" y="11842"/>
                </a:lnTo>
                <a:lnTo>
                  <a:pt x="164631" y="10566"/>
                </a:lnTo>
                <a:lnTo>
                  <a:pt x="161090" y="9350"/>
                </a:lnTo>
                <a:lnTo>
                  <a:pt x="157372" y="8196"/>
                </a:lnTo>
                <a:lnTo>
                  <a:pt x="153486" y="7109"/>
                </a:lnTo>
                <a:lnTo>
                  <a:pt x="149443" y="6090"/>
                </a:lnTo>
                <a:lnTo>
                  <a:pt x="145254" y="5143"/>
                </a:lnTo>
                <a:lnTo>
                  <a:pt x="140928" y="4270"/>
                </a:lnTo>
                <a:lnTo>
                  <a:pt x="136478" y="3473"/>
                </a:lnTo>
                <a:lnTo>
                  <a:pt x="131914" y="2754"/>
                </a:lnTo>
                <a:lnTo>
                  <a:pt x="127250" y="2115"/>
                </a:lnTo>
                <a:lnTo>
                  <a:pt x="122496" y="1559"/>
                </a:lnTo>
                <a:lnTo>
                  <a:pt x="117665" y="1085"/>
                </a:lnTo>
                <a:lnTo>
                  <a:pt x="112770" y="696"/>
                </a:lnTo>
                <a:lnTo>
                  <a:pt x="107822" y="392"/>
                </a:lnTo>
                <a:lnTo>
                  <a:pt x="102836" y="174"/>
                </a:lnTo>
                <a:lnTo>
                  <a:pt x="97825" y="44"/>
                </a:lnTo>
                <a:lnTo>
                  <a:pt x="92800" y="0"/>
                </a:lnTo>
                <a:lnTo>
                  <a:pt x="87774" y="44"/>
                </a:lnTo>
                <a:lnTo>
                  <a:pt x="82763" y="174"/>
                </a:lnTo>
                <a:lnTo>
                  <a:pt x="77777" y="392"/>
                </a:lnTo>
                <a:lnTo>
                  <a:pt x="72829" y="696"/>
                </a:lnTo>
                <a:lnTo>
                  <a:pt x="67934" y="1085"/>
                </a:lnTo>
                <a:lnTo>
                  <a:pt x="63103" y="1559"/>
                </a:lnTo>
                <a:lnTo>
                  <a:pt x="58349" y="2115"/>
                </a:lnTo>
                <a:lnTo>
                  <a:pt x="53685" y="2754"/>
                </a:lnTo>
                <a:lnTo>
                  <a:pt x="49121" y="3473"/>
                </a:lnTo>
                <a:lnTo>
                  <a:pt x="44671" y="4270"/>
                </a:lnTo>
                <a:lnTo>
                  <a:pt x="40345" y="5143"/>
                </a:lnTo>
                <a:lnTo>
                  <a:pt x="36156" y="6090"/>
                </a:lnTo>
                <a:lnTo>
                  <a:pt x="32113" y="7109"/>
                </a:lnTo>
                <a:lnTo>
                  <a:pt x="28227" y="8196"/>
                </a:lnTo>
                <a:lnTo>
                  <a:pt x="24509" y="9350"/>
                </a:lnTo>
                <a:lnTo>
                  <a:pt x="20968" y="10566"/>
                </a:lnTo>
                <a:lnTo>
                  <a:pt x="17612" y="11842"/>
                </a:lnTo>
                <a:lnTo>
                  <a:pt x="14452" y="13175"/>
                </a:lnTo>
                <a:lnTo>
                  <a:pt x="11494" y="14561"/>
                </a:lnTo>
                <a:lnTo>
                  <a:pt x="8747" y="15997"/>
                </a:lnTo>
                <a:lnTo>
                  <a:pt x="6218" y="17478"/>
                </a:lnTo>
                <a:lnTo>
                  <a:pt x="3913" y="19001"/>
                </a:lnTo>
                <a:lnTo>
                  <a:pt x="1839" y="20563"/>
                </a:lnTo>
                <a:lnTo>
                  <a:pt x="0" y="22158"/>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3502152" y="2231136"/>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4004157" y="2362809"/>
            <a:ext cx="395020" cy="395020"/>
          </a:xfrm>
          <a:prstGeom prst="ellipse">
            <a:avLst/>
          </a:prstGeom>
          <a:solidFill>
            <a:srgbClr val="C0C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4110813" y="2485266"/>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4253020" y="2485266"/>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Freeform 56"/>
          <p:cNvSpPr/>
          <p:nvPr/>
        </p:nvSpPr>
        <p:spPr>
          <a:xfrm>
            <a:off x="4108868" y="2632980"/>
            <a:ext cx="185599" cy="18194"/>
          </a:xfrm>
          <a:custGeom>
            <a:avLst/>
            <a:gdLst/>
            <a:ahLst/>
            <a:cxnLst/>
            <a:rect l="l" t="t" r="r" b="b"/>
            <a:pathLst>
              <a:path w="185599" h="18194">
                <a:moveTo>
                  <a:pt x="0" y="0"/>
                </a:moveTo>
                <a:lnTo>
                  <a:pt x="1839" y="1310"/>
                </a:lnTo>
                <a:lnTo>
                  <a:pt x="3913" y="2592"/>
                </a:lnTo>
                <a:lnTo>
                  <a:pt x="6218" y="3843"/>
                </a:lnTo>
                <a:lnTo>
                  <a:pt x="8747" y="5059"/>
                </a:lnTo>
                <a:lnTo>
                  <a:pt x="11494" y="6238"/>
                </a:lnTo>
                <a:lnTo>
                  <a:pt x="14452" y="7376"/>
                </a:lnTo>
                <a:lnTo>
                  <a:pt x="17612" y="8470"/>
                </a:lnTo>
                <a:lnTo>
                  <a:pt x="20968" y="9518"/>
                </a:lnTo>
                <a:lnTo>
                  <a:pt x="24509" y="10517"/>
                </a:lnTo>
                <a:lnTo>
                  <a:pt x="28227" y="11464"/>
                </a:lnTo>
                <a:lnTo>
                  <a:pt x="32113" y="12357"/>
                </a:lnTo>
                <a:lnTo>
                  <a:pt x="36156" y="13194"/>
                </a:lnTo>
                <a:lnTo>
                  <a:pt x="40345" y="13971"/>
                </a:lnTo>
                <a:lnTo>
                  <a:pt x="44671" y="14688"/>
                </a:lnTo>
                <a:lnTo>
                  <a:pt x="49121" y="15343"/>
                </a:lnTo>
                <a:lnTo>
                  <a:pt x="53685" y="15933"/>
                </a:lnTo>
                <a:lnTo>
                  <a:pt x="58349" y="16457"/>
                </a:lnTo>
                <a:lnTo>
                  <a:pt x="63103" y="16914"/>
                </a:lnTo>
                <a:lnTo>
                  <a:pt x="67934" y="17303"/>
                </a:lnTo>
                <a:lnTo>
                  <a:pt x="72829" y="17623"/>
                </a:lnTo>
                <a:lnTo>
                  <a:pt x="77777" y="17872"/>
                </a:lnTo>
                <a:lnTo>
                  <a:pt x="82763" y="18051"/>
                </a:lnTo>
                <a:lnTo>
                  <a:pt x="87774" y="18158"/>
                </a:lnTo>
                <a:lnTo>
                  <a:pt x="92800" y="18194"/>
                </a:lnTo>
                <a:lnTo>
                  <a:pt x="97825" y="18158"/>
                </a:lnTo>
                <a:lnTo>
                  <a:pt x="102836" y="18051"/>
                </a:lnTo>
                <a:lnTo>
                  <a:pt x="107822" y="17872"/>
                </a:lnTo>
                <a:lnTo>
                  <a:pt x="112770" y="17623"/>
                </a:lnTo>
                <a:lnTo>
                  <a:pt x="117665" y="17303"/>
                </a:lnTo>
                <a:lnTo>
                  <a:pt x="122496" y="16914"/>
                </a:lnTo>
                <a:lnTo>
                  <a:pt x="127250" y="16457"/>
                </a:lnTo>
                <a:lnTo>
                  <a:pt x="131914" y="15933"/>
                </a:lnTo>
                <a:lnTo>
                  <a:pt x="136478" y="15343"/>
                </a:lnTo>
                <a:lnTo>
                  <a:pt x="140928" y="14688"/>
                </a:lnTo>
                <a:lnTo>
                  <a:pt x="145254" y="13971"/>
                </a:lnTo>
                <a:lnTo>
                  <a:pt x="149443" y="13194"/>
                </a:lnTo>
                <a:lnTo>
                  <a:pt x="153486" y="12357"/>
                </a:lnTo>
                <a:lnTo>
                  <a:pt x="157372" y="11464"/>
                </a:lnTo>
                <a:lnTo>
                  <a:pt x="161090" y="10517"/>
                </a:lnTo>
                <a:lnTo>
                  <a:pt x="164631" y="9518"/>
                </a:lnTo>
                <a:lnTo>
                  <a:pt x="167987" y="8470"/>
                </a:lnTo>
                <a:lnTo>
                  <a:pt x="171147" y="7376"/>
                </a:lnTo>
                <a:lnTo>
                  <a:pt x="174105" y="6238"/>
                </a:lnTo>
                <a:lnTo>
                  <a:pt x="176852" y="5059"/>
                </a:lnTo>
                <a:lnTo>
                  <a:pt x="179381" y="3843"/>
                </a:lnTo>
                <a:lnTo>
                  <a:pt x="181686" y="2592"/>
                </a:lnTo>
                <a:lnTo>
                  <a:pt x="183760" y="1310"/>
                </a:lnTo>
                <a:lnTo>
                  <a:pt x="185599" y="0"/>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4901183" y="2231136"/>
            <a:ext cx="1399032" cy="658368"/>
          </a:xfrm>
          <a:prstGeom prst="rect">
            <a:avLst/>
          </a:prstGeom>
          <a:solidFill>
            <a:srgbClr val="FFF9C4"/>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5403189" y="2362809"/>
            <a:ext cx="395020" cy="395020"/>
          </a:xfrm>
          <a:prstGeom prst="ellipse">
            <a:avLst/>
          </a:prstGeom>
          <a:solidFill>
            <a:srgbClr val="FBC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5509845" y="2485266"/>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5652052" y="2485266"/>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2" name="Connector 61"/>
          <p:cNvCxnSpPr/>
          <p:nvPr/>
        </p:nvCxnSpPr>
        <p:spPr>
          <a:xfrm>
            <a:off x="5501944" y="2627473"/>
            <a:ext cx="197511"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2231136"/>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802221" y="2362809"/>
            <a:ext cx="395020" cy="395020"/>
          </a:xfrm>
          <a:prstGeom prst="ellipse">
            <a:avLst/>
          </a:prstGeom>
          <a:solidFill>
            <a:srgbClr val="C0C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Oval 64"/>
          <p:cNvSpPr/>
          <p:nvPr/>
        </p:nvSpPr>
        <p:spPr>
          <a:xfrm>
            <a:off x="6908877" y="2485266"/>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Oval 65"/>
          <p:cNvSpPr/>
          <p:nvPr/>
        </p:nvSpPr>
        <p:spPr>
          <a:xfrm>
            <a:off x="7051084" y="2485266"/>
            <a:ext cx="39502" cy="3950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Freeform 66"/>
          <p:cNvSpPr/>
          <p:nvPr/>
        </p:nvSpPr>
        <p:spPr>
          <a:xfrm>
            <a:off x="6906932" y="2632980"/>
            <a:ext cx="185599" cy="18194"/>
          </a:xfrm>
          <a:custGeom>
            <a:avLst/>
            <a:gdLst/>
            <a:ahLst/>
            <a:cxnLst/>
            <a:rect l="l" t="t" r="r" b="b"/>
            <a:pathLst>
              <a:path w="185599" h="18194">
                <a:moveTo>
                  <a:pt x="0" y="0"/>
                </a:moveTo>
                <a:lnTo>
                  <a:pt x="1839" y="1310"/>
                </a:lnTo>
                <a:lnTo>
                  <a:pt x="3913" y="2592"/>
                </a:lnTo>
                <a:lnTo>
                  <a:pt x="6218" y="3843"/>
                </a:lnTo>
                <a:lnTo>
                  <a:pt x="8747" y="5059"/>
                </a:lnTo>
                <a:lnTo>
                  <a:pt x="11494" y="6238"/>
                </a:lnTo>
                <a:lnTo>
                  <a:pt x="14452" y="7376"/>
                </a:lnTo>
                <a:lnTo>
                  <a:pt x="17612" y="8470"/>
                </a:lnTo>
                <a:lnTo>
                  <a:pt x="20968" y="9518"/>
                </a:lnTo>
                <a:lnTo>
                  <a:pt x="24509" y="10517"/>
                </a:lnTo>
                <a:lnTo>
                  <a:pt x="28227" y="11464"/>
                </a:lnTo>
                <a:lnTo>
                  <a:pt x="32113" y="12357"/>
                </a:lnTo>
                <a:lnTo>
                  <a:pt x="36156" y="13194"/>
                </a:lnTo>
                <a:lnTo>
                  <a:pt x="40345" y="13971"/>
                </a:lnTo>
                <a:lnTo>
                  <a:pt x="44671" y="14688"/>
                </a:lnTo>
                <a:lnTo>
                  <a:pt x="49121" y="15343"/>
                </a:lnTo>
                <a:lnTo>
                  <a:pt x="53685" y="15933"/>
                </a:lnTo>
                <a:lnTo>
                  <a:pt x="58349" y="16457"/>
                </a:lnTo>
                <a:lnTo>
                  <a:pt x="63103" y="16914"/>
                </a:lnTo>
                <a:lnTo>
                  <a:pt x="67934" y="17303"/>
                </a:lnTo>
                <a:lnTo>
                  <a:pt x="72829" y="17623"/>
                </a:lnTo>
                <a:lnTo>
                  <a:pt x="77777" y="17872"/>
                </a:lnTo>
                <a:lnTo>
                  <a:pt x="82763" y="18051"/>
                </a:lnTo>
                <a:lnTo>
                  <a:pt x="87774" y="18158"/>
                </a:lnTo>
                <a:lnTo>
                  <a:pt x="92799" y="18194"/>
                </a:lnTo>
                <a:lnTo>
                  <a:pt x="97825" y="18158"/>
                </a:lnTo>
                <a:lnTo>
                  <a:pt x="102836" y="18051"/>
                </a:lnTo>
                <a:lnTo>
                  <a:pt x="107822" y="17872"/>
                </a:lnTo>
                <a:lnTo>
                  <a:pt x="112770" y="17623"/>
                </a:lnTo>
                <a:lnTo>
                  <a:pt x="117665" y="17303"/>
                </a:lnTo>
                <a:lnTo>
                  <a:pt x="122496" y="16914"/>
                </a:lnTo>
                <a:lnTo>
                  <a:pt x="127250" y="16457"/>
                </a:lnTo>
                <a:lnTo>
                  <a:pt x="131914" y="15933"/>
                </a:lnTo>
                <a:lnTo>
                  <a:pt x="136478" y="15343"/>
                </a:lnTo>
                <a:lnTo>
                  <a:pt x="140928" y="14688"/>
                </a:lnTo>
                <a:lnTo>
                  <a:pt x="145254" y="13971"/>
                </a:lnTo>
                <a:lnTo>
                  <a:pt x="149443" y="13194"/>
                </a:lnTo>
                <a:lnTo>
                  <a:pt x="153486" y="12357"/>
                </a:lnTo>
                <a:lnTo>
                  <a:pt x="157372" y="11464"/>
                </a:lnTo>
                <a:lnTo>
                  <a:pt x="161090" y="10517"/>
                </a:lnTo>
                <a:lnTo>
                  <a:pt x="164631" y="9518"/>
                </a:lnTo>
                <a:lnTo>
                  <a:pt x="167987" y="8470"/>
                </a:lnTo>
                <a:lnTo>
                  <a:pt x="171147" y="7376"/>
                </a:lnTo>
                <a:lnTo>
                  <a:pt x="174105" y="6238"/>
                </a:lnTo>
                <a:lnTo>
                  <a:pt x="176852" y="5059"/>
                </a:lnTo>
                <a:lnTo>
                  <a:pt x="179381" y="3843"/>
                </a:lnTo>
                <a:lnTo>
                  <a:pt x="181686" y="2592"/>
                </a:lnTo>
                <a:lnTo>
                  <a:pt x="183760" y="1310"/>
                </a:lnTo>
                <a:lnTo>
                  <a:pt x="185599" y="0"/>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7699248" y="2231136"/>
            <a:ext cx="1399032" cy="658368"/>
          </a:xfrm>
          <a:prstGeom prst="rect">
            <a:avLst/>
          </a:prstGeom>
          <a:solidFill>
            <a:srgbClr val="FFFFFF"/>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9098280" y="2231136"/>
            <a:ext cx="1399032" cy="658368"/>
          </a:xfrm>
          <a:prstGeom prst="rect">
            <a:avLst/>
          </a:prstGeom>
          <a:solidFill>
            <a:srgbClr val="FFFFFF"/>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0497312" y="2231136"/>
            <a:ext cx="1399032" cy="658368"/>
          </a:xfrm>
          <a:prstGeom prst="rect">
            <a:avLst/>
          </a:prstGeom>
          <a:solidFill>
            <a:srgbClr val="FFF9C4"/>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0497312" y="2439924"/>
            <a:ext cx="1399032" cy="240791"/>
          </a:xfrm>
          <a:prstGeom prst="rect">
            <a:avLst/>
          </a:prstGeom>
          <a:noFill/>
        </p:spPr>
        <p:txBody>
          <a:bodyPr wrap="square" lIns="0" rIns="0" tIns="0" bIns="0" anchor="ctr">
            <a:spAutoFit/>
          </a:bodyPr>
          <a:lstStyle/>
          <a:p>
            <a:pPr algn="ctr"/>
            <a:r>
              <a:rPr sz="1200" b="1" i="1">
                <a:solidFill>
                  <a:srgbClr val="333333"/>
                </a:solidFill>
              </a:rPr>
              <a:t>3.03</a:t>
            </a:r>
          </a:p>
        </p:txBody>
      </p:sp>
      <p:sp>
        <p:nvSpPr>
          <p:cNvPr id="72" name="Rectangle 71"/>
          <p:cNvSpPr/>
          <p:nvPr/>
        </p:nvSpPr>
        <p:spPr>
          <a:xfrm>
            <a:off x="502920" y="2889504"/>
            <a:ext cx="1600200" cy="658368"/>
          </a:xfrm>
          <a:prstGeom prst="rect">
            <a:avLst/>
          </a:prstGeom>
          <a:solidFill>
            <a:srgbClr val="7500C0"/>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539496" y="3036316"/>
            <a:ext cx="1527048" cy="364744"/>
          </a:xfrm>
          <a:prstGeom prst="rect">
            <a:avLst/>
          </a:prstGeom>
          <a:noFill/>
        </p:spPr>
        <p:txBody>
          <a:bodyPr wrap="square" lIns="0" rIns="0" tIns="0" bIns="0" anchor="ctr">
            <a:spAutoFit/>
          </a:bodyPr>
          <a:lstStyle/>
          <a:p>
            <a:pPr algn="ctr"/>
            <a:r>
              <a:rPr sz="1000" b="1" i="1">
                <a:solidFill>
                  <a:srgbClr val="FFFFFF"/>
                </a:solidFill>
              </a:rPr>
              <a:t>Average</a:t>
            </a:r>
          </a:p>
          <a:p>
            <a:pPr algn="ctr"/>
            <a:r>
              <a:rPr sz="1000" b="1" i="1">
                <a:solidFill>
                  <a:srgbClr val="FFFFFF"/>
                </a:solidFill>
              </a:rPr>
              <a:t>of Themes</a:t>
            </a:r>
          </a:p>
        </p:txBody>
      </p:sp>
      <p:sp>
        <p:nvSpPr>
          <p:cNvPr id="74" name="Rectangle 73"/>
          <p:cNvSpPr/>
          <p:nvPr/>
        </p:nvSpPr>
        <p:spPr>
          <a:xfrm>
            <a:off x="2103120" y="2889504"/>
            <a:ext cx="1399032" cy="658368"/>
          </a:xfrm>
          <a:prstGeom prst="rect">
            <a:avLst/>
          </a:prstGeom>
          <a:solidFill>
            <a:srgbClr val="FFF9C4"/>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2103120" y="3098292"/>
            <a:ext cx="1399032" cy="240791"/>
          </a:xfrm>
          <a:prstGeom prst="rect">
            <a:avLst/>
          </a:prstGeom>
          <a:noFill/>
        </p:spPr>
        <p:txBody>
          <a:bodyPr wrap="square" lIns="0" rIns="0" tIns="0" bIns="0" anchor="ctr">
            <a:spAutoFit/>
          </a:bodyPr>
          <a:lstStyle/>
          <a:p>
            <a:pPr algn="ctr"/>
            <a:r>
              <a:rPr sz="1200" b="1" i="1">
                <a:solidFill>
                  <a:srgbClr val="333333"/>
                </a:solidFill>
              </a:rPr>
              <a:t>2.91</a:t>
            </a:r>
          </a:p>
        </p:txBody>
      </p:sp>
      <p:sp>
        <p:nvSpPr>
          <p:cNvPr id="76" name="Rectangle 75"/>
          <p:cNvSpPr/>
          <p:nvPr/>
        </p:nvSpPr>
        <p:spPr>
          <a:xfrm>
            <a:off x="3502152" y="2889504"/>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3502151" y="3098292"/>
            <a:ext cx="1399032" cy="240791"/>
          </a:xfrm>
          <a:prstGeom prst="rect">
            <a:avLst/>
          </a:prstGeom>
          <a:noFill/>
        </p:spPr>
        <p:txBody>
          <a:bodyPr wrap="square" lIns="0" rIns="0" tIns="0" bIns="0" anchor="ctr">
            <a:spAutoFit/>
          </a:bodyPr>
          <a:lstStyle/>
          <a:p>
            <a:pPr algn="ctr"/>
            <a:r>
              <a:rPr sz="1200" b="1" i="1">
                <a:solidFill>
                  <a:srgbClr val="333333"/>
                </a:solidFill>
              </a:rPr>
              <a:t>3.43</a:t>
            </a:r>
          </a:p>
        </p:txBody>
      </p:sp>
      <p:sp>
        <p:nvSpPr>
          <p:cNvPr id="78" name="Rectangle 77"/>
          <p:cNvSpPr/>
          <p:nvPr/>
        </p:nvSpPr>
        <p:spPr>
          <a:xfrm>
            <a:off x="4901183" y="2889504"/>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4901183" y="3098292"/>
            <a:ext cx="1399032" cy="240791"/>
          </a:xfrm>
          <a:prstGeom prst="rect">
            <a:avLst/>
          </a:prstGeom>
          <a:noFill/>
        </p:spPr>
        <p:txBody>
          <a:bodyPr wrap="square" lIns="0" rIns="0" tIns="0" bIns="0" anchor="ctr">
            <a:spAutoFit/>
          </a:bodyPr>
          <a:lstStyle/>
          <a:p>
            <a:pPr algn="ctr"/>
            <a:r>
              <a:rPr sz="1200" b="1" i="1">
                <a:solidFill>
                  <a:srgbClr val="333333"/>
                </a:solidFill>
              </a:rPr>
              <a:t>3.44</a:t>
            </a:r>
          </a:p>
        </p:txBody>
      </p:sp>
      <p:sp>
        <p:nvSpPr>
          <p:cNvPr id="80" name="Rectangle 79"/>
          <p:cNvSpPr/>
          <p:nvPr/>
        </p:nvSpPr>
        <p:spPr>
          <a:xfrm>
            <a:off x="6300216" y="2889504"/>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6300216" y="3098292"/>
            <a:ext cx="1399032" cy="240791"/>
          </a:xfrm>
          <a:prstGeom prst="rect">
            <a:avLst/>
          </a:prstGeom>
          <a:noFill/>
        </p:spPr>
        <p:txBody>
          <a:bodyPr wrap="square" lIns="0" rIns="0" tIns="0" bIns="0" anchor="ctr">
            <a:spAutoFit/>
          </a:bodyPr>
          <a:lstStyle/>
          <a:p>
            <a:pPr algn="ctr"/>
            <a:r>
              <a:rPr sz="1200" b="1" i="1">
                <a:solidFill>
                  <a:srgbClr val="333333"/>
                </a:solidFill>
              </a:rPr>
              <a:t>3.30</a:t>
            </a:r>
          </a:p>
        </p:txBody>
      </p:sp>
      <p:sp>
        <p:nvSpPr>
          <p:cNvPr id="82" name="Rectangle 81"/>
          <p:cNvSpPr/>
          <p:nvPr/>
        </p:nvSpPr>
        <p:spPr>
          <a:xfrm>
            <a:off x="7699248" y="2889504"/>
            <a:ext cx="1399032" cy="658368"/>
          </a:xfrm>
          <a:prstGeom prst="rect">
            <a:avLst/>
          </a:prstGeom>
          <a:solidFill>
            <a:srgbClr val="DCEDC8"/>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7699248" y="3098292"/>
            <a:ext cx="1399032" cy="240791"/>
          </a:xfrm>
          <a:prstGeom prst="rect">
            <a:avLst/>
          </a:prstGeom>
          <a:noFill/>
        </p:spPr>
        <p:txBody>
          <a:bodyPr wrap="square" lIns="0" rIns="0" tIns="0" bIns="0" anchor="ctr">
            <a:spAutoFit/>
          </a:bodyPr>
          <a:lstStyle/>
          <a:p>
            <a:pPr algn="ctr"/>
            <a:r>
              <a:rPr sz="1200" b="1" i="1">
                <a:solidFill>
                  <a:srgbClr val="333333"/>
                </a:solidFill>
              </a:rPr>
              <a:t>3.66</a:t>
            </a:r>
          </a:p>
        </p:txBody>
      </p:sp>
      <p:sp>
        <p:nvSpPr>
          <p:cNvPr id="84" name="Rectangle 83"/>
          <p:cNvSpPr/>
          <p:nvPr/>
        </p:nvSpPr>
        <p:spPr>
          <a:xfrm>
            <a:off x="9098280" y="2889504"/>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9098280" y="3098292"/>
            <a:ext cx="1399032" cy="240791"/>
          </a:xfrm>
          <a:prstGeom prst="rect">
            <a:avLst/>
          </a:prstGeom>
          <a:noFill/>
        </p:spPr>
        <p:txBody>
          <a:bodyPr wrap="square" lIns="0" rIns="0" tIns="0" bIns="0" anchor="ctr">
            <a:spAutoFit/>
          </a:bodyPr>
          <a:lstStyle/>
          <a:p>
            <a:pPr algn="ctr"/>
            <a:r>
              <a:rPr sz="1200" b="1" i="1">
                <a:solidFill>
                  <a:srgbClr val="333333"/>
                </a:solidFill>
              </a:rPr>
              <a:t>3.46</a:t>
            </a:r>
          </a:p>
        </p:txBody>
      </p:sp>
      <p:sp>
        <p:nvSpPr>
          <p:cNvPr id="86" name="Rectangle 85"/>
          <p:cNvSpPr/>
          <p:nvPr/>
        </p:nvSpPr>
        <p:spPr>
          <a:xfrm>
            <a:off x="10497312" y="2889504"/>
            <a:ext cx="1399032" cy="65836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10497312" y="3098292"/>
            <a:ext cx="1399032" cy="240791"/>
          </a:xfrm>
          <a:prstGeom prst="rect">
            <a:avLst/>
          </a:prstGeom>
          <a:noFill/>
        </p:spPr>
        <p:txBody>
          <a:bodyPr wrap="square" lIns="0" rIns="0" tIns="0" bIns="0" anchor="ctr">
            <a:spAutoFit/>
          </a:bodyPr>
          <a:lstStyle/>
          <a:p>
            <a:pPr algn="ctr"/>
            <a:r>
              <a:rPr sz="1200" b="1" i="1">
                <a:solidFill>
                  <a:srgbClr val="333333"/>
                </a:solidFill>
              </a:rPr>
              <a:t>3.37</a:t>
            </a:r>
          </a:p>
        </p:txBody>
      </p:sp>
      <p:sp>
        <p:nvSpPr>
          <p:cNvPr id="88" name="TextBox 87"/>
          <p:cNvSpPr txBox="1"/>
          <p:nvPr/>
        </p:nvSpPr>
        <p:spPr>
          <a:xfrm>
            <a:off x="502920" y="3639311"/>
            <a:ext cx="3657600" cy="240791"/>
          </a:xfrm>
          <a:prstGeom prst="rect">
            <a:avLst/>
          </a:prstGeom>
          <a:noFill/>
        </p:spPr>
        <p:txBody>
          <a:bodyPr wrap="square" lIns="0" rIns="0" tIns="0" bIns="0" anchor="ctr">
            <a:spAutoFit/>
          </a:bodyPr>
          <a:lstStyle/>
          <a:p>
            <a:pPr algn="l"/>
            <a:r>
              <a:rPr sz="1200" b="1" i="0">
                <a:solidFill>
                  <a:srgbClr val="1A1A1A"/>
                </a:solidFill>
              </a:rPr>
              <a:t>Brand Health Score Scale</a:t>
            </a:r>
          </a:p>
        </p:txBody>
      </p:sp>
      <p:sp>
        <p:nvSpPr>
          <p:cNvPr id="89" name="TextBox 88"/>
          <p:cNvSpPr txBox="1"/>
          <p:nvPr/>
        </p:nvSpPr>
        <p:spPr>
          <a:xfrm>
            <a:off x="502920" y="3968496"/>
            <a:ext cx="548640" cy="194310"/>
          </a:xfrm>
          <a:prstGeom prst="rect">
            <a:avLst/>
          </a:prstGeom>
          <a:noFill/>
        </p:spPr>
        <p:txBody>
          <a:bodyPr wrap="square" lIns="0" rIns="0" tIns="0" bIns="0" anchor="ctr">
            <a:spAutoFit/>
          </a:bodyPr>
          <a:lstStyle/>
          <a:p>
            <a:pPr algn="l"/>
            <a:r>
              <a:rPr sz="900" b="0" i="1">
                <a:solidFill>
                  <a:srgbClr val="999999"/>
                </a:solidFill>
              </a:rPr>
              <a:t>worse</a:t>
            </a:r>
          </a:p>
        </p:txBody>
      </p:sp>
      <p:sp>
        <p:nvSpPr>
          <p:cNvPr id="90" name="TextBox 89"/>
          <p:cNvSpPr txBox="1"/>
          <p:nvPr/>
        </p:nvSpPr>
        <p:spPr>
          <a:xfrm>
            <a:off x="11347704" y="3968496"/>
            <a:ext cx="548640" cy="194310"/>
          </a:xfrm>
          <a:prstGeom prst="rect">
            <a:avLst/>
          </a:prstGeom>
          <a:noFill/>
        </p:spPr>
        <p:txBody>
          <a:bodyPr wrap="square" lIns="0" rIns="0" tIns="0" bIns="0" anchor="ctr">
            <a:spAutoFit/>
          </a:bodyPr>
          <a:lstStyle/>
          <a:p>
            <a:pPr algn="r"/>
            <a:r>
              <a:rPr sz="900" b="0" i="1">
                <a:solidFill>
                  <a:srgbClr val="999999"/>
                </a:solidFill>
              </a:rPr>
              <a:t>better</a:t>
            </a:r>
          </a:p>
        </p:txBody>
      </p:sp>
      <p:cxnSp>
        <p:nvCxnSpPr>
          <p:cNvPr id="91" name="Connector 90"/>
          <p:cNvCxnSpPr/>
          <p:nvPr/>
        </p:nvCxnSpPr>
        <p:spPr>
          <a:xfrm>
            <a:off x="1005840" y="4041648"/>
            <a:ext cx="10387584" cy="0"/>
          </a:xfrm>
          <a:prstGeom prst="line">
            <a:avLst/>
          </a:prstGeom>
          <a:ln w="12700">
            <a:solidFill>
              <a:srgbClr val="999999"/>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02920" y="4206240"/>
            <a:ext cx="1807464" cy="566928"/>
          </a:xfrm>
          <a:prstGeom prst="rect">
            <a:avLst/>
          </a:prstGeom>
          <a:solidFill>
            <a:srgbClr val="FFCDD2"/>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603504" y="43342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Oval 93"/>
          <p:cNvSpPr/>
          <p:nvPr/>
        </p:nvSpPr>
        <p:spPr>
          <a:xfrm>
            <a:off x="687445" y="4430633"/>
            <a:ext cx="31089" cy="31089"/>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Oval 94"/>
          <p:cNvSpPr/>
          <p:nvPr/>
        </p:nvSpPr>
        <p:spPr>
          <a:xfrm>
            <a:off x="799368" y="4430633"/>
            <a:ext cx="31089" cy="31089"/>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6" name="Connector 95"/>
          <p:cNvCxnSpPr/>
          <p:nvPr/>
        </p:nvCxnSpPr>
        <p:spPr>
          <a:xfrm flipV="1">
            <a:off x="671901" y="4393326"/>
            <a:ext cx="55961" cy="2798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790041" y="4393326"/>
            <a:ext cx="55961" cy="27980"/>
          </a:xfrm>
          <a:prstGeom prst="line">
            <a:avLst/>
          </a:prstGeom>
          <a:ln w="17780">
            <a:solidFill>
              <a:srgbClr val="000000"/>
            </a:solidFill>
          </a:ln>
        </p:spPr>
        <p:style>
          <a:lnRef idx="2">
            <a:schemeClr val="accent1"/>
          </a:lnRef>
          <a:fillRef idx="0">
            <a:schemeClr val="accent1"/>
          </a:fillRef>
          <a:effectRef idx="1">
            <a:schemeClr val="accent1"/>
          </a:effectRef>
          <a:fontRef idx="minor">
            <a:schemeClr val="tx1"/>
          </a:fontRef>
        </p:style>
      </p:cxnSp>
      <p:sp>
        <p:nvSpPr>
          <p:cNvPr id="98" name="Freeform 97"/>
          <p:cNvSpPr/>
          <p:nvPr/>
        </p:nvSpPr>
        <p:spPr>
          <a:xfrm>
            <a:off x="685915" y="4527011"/>
            <a:ext cx="146073" cy="31707"/>
          </a:xfrm>
          <a:custGeom>
            <a:avLst/>
            <a:gdLst/>
            <a:ahLst/>
            <a:cxnLst/>
            <a:rect l="l" t="t" r="r" b="b"/>
            <a:pathLst>
              <a:path w="146073" h="31707">
                <a:moveTo>
                  <a:pt x="146073" y="31707"/>
                </a:moveTo>
                <a:lnTo>
                  <a:pt x="144626" y="29425"/>
                </a:lnTo>
                <a:lnTo>
                  <a:pt x="142993" y="27190"/>
                </a:lnTo>
                <a:lnTo>
                  <a:pt x="141179" y="25011"/>
                </a:lnTo>
                <a:lnTo>
                  <a:pt x="139189" y="22891"/>
                </a:lnTo>
                <a:lnTo>
                  <a:pt x="137027" y="20837"/>
                </a:lnTo>
                <a:lnTo>
                  <a:pt x="134699" y="18853"/>
                </a:lnTo>
                <a:lnTo>
                  <a:pt x="132212" y="16946"/>
                </a:lnTo>
                <a:lnTo>
                  <a:pt x="129571" y="15120"/>
                </a:lnTo>
                <a:lnTo>
                  <a:pt x="126784" y="13379"/>
                </a:lnTo>
                <a:lnTo>
                  <a:pt x="123857" y="11728"/>
                </a:lnTo>
                <a:lnTo>
                  <a:pt x="120799" y="10172"/>
                </a:lnTo>
                <a:lnTo>
                  <a:pt x="117617" y="8715"/>
                </a:lnTo>
                <a:lnTo>
                  <a:pt x="114320" y="7360"/>
                </a:lnTo>
                <a:lnTo>
                  <a:pt x="110915" y="6110"/>
                </a:lnTo>
                <a:lnTo>
                  <a:pt x="107413" y="4970"/>
                </a:lnTo>
                <a:lnTo>
                  <a:pt x="103821" y="3941"/>
                </a:lnTo>
                <a:lnTo>
                  <a:pt x="100150" y="3027"/>
                </a:lnTo>
                <a:lnTo>
                  <a:pt x="96409" y="2230"/>
                </a:lnTo>
                <a:lnTo>
                  <a:pt x="92606" y="1553"/>
                </a:lnTo>
                <a:lnTo>
                  <a:pt x="88754" y="996"/>
                </a:lnTo>
                <a:lnTo>
                  <a:pt x="84860" y="561"/>
                </a:lnTo>
                <a:lnTo>
                  <a:pt x="80936" y="250"/>
                </a:lnTo>
                <a:lnTo>
                  <a:pt x="76991" y="62"/>
                </a:lnTo>
                <a:lnTo>
                  <a:pt x="73037" y="0"/>
                </a:lnTo>
                <a:lnTo>
                  <a:pt x="69082" y="62"/>
                </a:lnTo>
                <a:lnTo>
                  <a:pt x="65137" y="250"/>
                </a:lnTo>
                <a:lnTo>
                  <a:pt x="61213" y="561"/>
                </a:lnTo>
                <a:lnTo>
                  <a:pt x="57319" y="996"/>
                </a:lnTo>
                <a:lnTo>
                  <a:pt x="53467" y="1553"/>
                </a:lnTo>
                <a:lnTo>
                  <a:pt x="49664" y="2230"/>
                </a:lnTo>
                <a:lnTo>
                  <a:pt x="45923" y="3027"/>
                </a:lnTo>
                <a:lnTo>
                  <a:pt x="42252" y="3941"/>
                </a:lnTo>
                <a:lnTo>
                  <a:pt x="38660" y="4970"/>
                </a:lnTo>
                <a:lnTo>
                  <a:pt x="35158" y="6110"/>
                </a:lnTo>
                <a:lnTo>
                  <a:pt x="31753" y="7360"/>
                </a:lnTo>
                <a:lnTo>
                  <a:pt x="28456" y="8715"/>
                </a:lnTo>
                <a:lnTo>
                  <a:pt x="25274" y="10172"/>
                </a:lnTo>
                <a:lnTo>
                  <a:pt x="22216" y="11728"/>
                </a:lnTo>
                <a:lnTo>
                  <a:pt x="19289" y="13379"/>
                </a:lnTo>
                <a:lnTo>
                  <a:pt x="16502" y="15120"/>
                </a:lnTo>
                <a:lnTo>
                  <a:pt x="13861" y="16946"/>
                </a:lnTo>
                <a:lnTo>
                  <a:pt x="11374" y="18853"/>
                </a:lnTo>
                <a:lnTo>
                  <a:pt x="9046" y="20837"/>
                </a:lnTo>
                <a:lnTo>
                  <a:pt x="6884" y="22891"/>
                </a:lnTo>
                <a:lnTo>
                  <a:pt x="4894" y="25011"/>
                </a:lnTo>
                <a:lnTo>
                  <a:pt x="3080" y="27190"/>
                </a:lnTo>
                <a:lnTo>
                  <a:pt x="1447" y="29425"/>
                </a:lnTo>
                <a:lnTo>
                  <a:pt x="0" y="31707"/>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978408" y="4271200"/>
            <a:ext cx="1350264" cy="217551"/>
          </a:xfrm>
          <a:prstGeom prst="rect">
            <a:avLst/>
          </a:prstGeom>
          <a:noFill/>
        </p:spPr>
        <p:txBody>
          <a:bodyPr wrap="square" lIns="0" rIns="0" tIns="0" bIns="0" anchor="ctr">
            <a:spAutoFit/>
          </a:bodyPr>
          <a:lstStyle/>
          <a:p>
            <a:pPr algn="l"/>
            <a:r>
              <a:rPr sz="1050" b="1" i="0">
                <a:solidFill>
                  <a:srgbClr val="333333"/>
                </a:solidFill>
              </a:rPr>
              <a:t>Poor</a:t>
            </a:r>
          </a:p>
        </p:txBody>
      </p:sp>
      <p:sp>
        <p:nvSpPr>
          <p:cNvPr id="100" name="TextBox 99"/>
          <p:cNvSpPr txBox="1"/>
          <p:nvPr/>
        </p:nvSpPr>
        <p:spPr>
          <a:xfrm>
            <a:off x="978408" y="4502276"/>
            <a:ext cx="1350264" cy="194310"/>
          </a:xfrm>
          <a:prstGeom prst="rect">
            <a:avLst/>
          </a:prstGeom>
          <a:noFill/>
        </p:spPr>
        <p:txBody>
          <a:bodyPr wrap="square" lIns="0" rIns="0" tIns="0" bIns="0" anchor="ctr">
            <a:spAutoFit/>
          </a:bodyPr>
          <a:lstStyle/>
          <a:p>
            <a:pPr algn="l"/>
            <a:r>
              <a:rPr sz="900" b="0" i="0">
                <a:solidFill>
                  <a:srgbClr val="666666"/>
                </a:solidFill>
              </a:rPr>
              <a:t>below 2.0</a:t>
            </a:r>
          </a:p>
        </p:txBody>
      </p:sp>
      <p:sp>
        <p:nvSpPr>
          <p:cNvPr id="101" name="Rectangle 100"/>
          <p:cNvSpPr/>
          <p:nvPr/>
        </p:nvSpPr>
        <p:spPr>
          <a:xfrm>
            <a:off x="2401824" y="4206240"/>
            <a:ext cx="1807464" cy="566928"/>
          </a:xfrm>
          <a:prstGeom prst="rect">
            <a:avLst/>
          </a:prstGeom>
          <a:solidFill>
            <a:srgbClr val="FFCC80"/>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Oval 101"/>
          <p:cNvSpPr/>
          <p:nvPr/>
        </p:nvSpPr>
        <p:spPr>
          <a:xfrm>
            <a:off x="2502408" y="4334255"/>
            <a:ext cx="310896" cy="310896"/>
          </a:xfrm>
          <a:prstGeom prst="ellipse">
            <a:avLst/>
          </a:prstGeom>
          <a:solidFill>
            <a:srgbClr val="EF6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Oval 102"/>
          <p:cNvSpPr/>
          <p:nvPr/>
        </p:nvSpPr>
        <p:spPr>
          <a:xfrm>
            <a:off x="2586349" y="4430633"/>
            <a:ext cx="31089" cy="31089"/>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Oval 103"/>
          <p:cNvSpPr/>
          <p:nvPr/>
        </p:nvSpPr>
        <p:spPr>
          <a:xfrm>
            <a:off x="2698272" y="4430633"/>
            <a:ext cx="31089" cy="31089"/>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Freeform 104"/>
          <p:cNvSpPr/>
          <p:nvPr/>
        </p:nvSpPr>
        <p:spPr>
          <a:xfrm>
            <a:off x="2584819" y="4527011"/>
            <a:ext cx="146073" cy="17439"/>
          </a:xfrm>
          <a:custGeom>
            <a:avLst/>
            <a:gdLst/>
            <a:ahLst/>
            <a:cxnLst/>
            <a:rect l="l" t="t" r="r" b="b"/>
            <a:pathLst>
              <a:path w="146073" h="17439">
                <a:moveTo>
                  <a:pt x="146073" y="17439"/>
                </a:moveTo>
                <a:lnTo>
                  <a:pt x="144626" y="16184"/>
                </a:lnTo>
                <a:lnTo>
                  <a:pt x="142993" y="14955"/>
                </a:lnTo>
                <a:lnTo>
                  <a:pt x="141179" y="13756"/>
                </a:lnTo>
                <a:lnTo>
                  <a:pt x="139189" y="12590"/>
                </a:lnTo>
                <a:lnTo>
                  <a:pt x="137027" y="11460"/>
                </a:lnTo>
                <a:lnTo>
                  <a:pt x="134699" y="10369"/>
                </a:lnTo>
                <a:lnTo>
                  <a:pt x="132212" y="9320"/>
                </a:lnTo>
                <a:lnTo>
                  <a:pt x="129571" y="8316"/>
                </a:lnTo>
                <a:lnTo>
                  <a:pt x="126784" y="7358"/>
                </a:lnTo>
                <a:lnTo>
                  <a:pt x="123857" y="6451"/>
                </a:lnTo>
                <a:lnTo>
                  <a:pt x="120799" y="5595"/>
                </a:lnTo>
                <a:lnTo>
                  <a:pt x="117617" y="4793"/>
                </a:lnTo>
                <a:lnTo>
                  <a:pt x="114320" y="4048"/>
                </a:lnTo>
                <a:lnTo>
                  <a:pt x="110915" y="3361"/>
                </a:lnTo>
                <a:lnTo>
                  <a:pt x="107413" y="2733"/>
                </a:lnTo>
                <a:lnTo>
                  <a:pt x="103821" y="2168"/>
                </a:lnTo>
                <a:lnTo>
                  <a:pt x="100150" y="1665"/>
                </a:lnTo>
                <a:lnTo>
                  <a:pt x="96409" y="1227"/>
                </a:lnTo>
                <a:lnTo>
                  <a:pt x="92606" y="854"/>
                </a:lnTo>
                <a:lnTo>
                  <a:pt x="88754" y="548"/>
                </a:lnTo>
                <a:lnTo>
                  <a:pt x="84860" y="308"/>
                </a:lnTo>
                <a:lnTo>
                  <a:pt x="80936" y="137"/>
                </a:lnTo>
                <a:lnTo>
                  <a:pt x="76991" y="34"/>
                </a:lnTo>
                <a:lnTo>
                  <a:pt x="73037" y="0"/>
                </a:lnTo>
                <a:lnTo>
                  <a:pt x="69082" y="34"/>
                </a:lnTo>
                <a:lnTo>
                  <a:pt x="65137" y="137"/>
                </a:lnTo>
                <a:lnTo>
                  <a:pt x="61213" y="308"/>
                </a:lnTo>
                <a:lnTo>
                  <a:pt x="57319" y="548"/>
                </a:lnTo>
                <a:lnTo>
                  <a:pt x="53467" y="854"/>
                </a:lnTo>
                <a:lnTo>
                  <a:pt x="49664" y="1227"/>
                </a:lnTo>
                <a:lnTo>
                  <a:pt x="45923" y="1665"/>
                </a:lnTo>
                <a:lnTo>
                  <a:pt x="42252" y="2168"/>
                </a:lnTo>
                <a:lnTo>
                  <a:pt x="38660" y="2733"/>
                </a:lnTo>
                <a:lnTo>
                  <a:pt x="35158" y="3361"/>
                </a:lnTo>
                <a:lnTo>
                  <a:pt x="31753" y="4048"/>
                </a:lnTo>
                <a:lnTo>
                  <a:pt x="28456" y="4793"/>
                </a:lnTo>
                <a:lnTo>
                  <a:pt x="25274" y="5595"/>
                </a:lnTo>
                <a:lnTo>
                  <a:pt x="22216" y="6451"/>
                </a:lnTo>
                <a:lnTo>
                  <a:pt x="19289" y="7358"/>
                </a:lnTo>
                <a:lnTo>
                  <a:pt x="16502" y="8316"/>
                </a:lnTo>
                <a:lnTo>
                  <a:pt x="13861" y="9320"/>
                </a:lnTo>
                <a:lnTo>
                  <a:pt x="11374" y="10369"/>
                </a:lnTo>
                <a:lnTo>
                  <a:pt x="9046" y="11460"/>
                </a:lnTo>
                <a:lnTo>
                  <a:pt x="6884" y="12590"/>
                </a:lnTo>
                <a:lnTo>
                  <a:pt x="4894" y="13756"/>
                </a:lnTo>
                <a:lnTo>
                  <a:pt x="3080" y="14955"/>
                </a:lnTo>
                <a:lnTo>
                  <a:pt x="1447" y="16184"/>
                </a:lnTo>
                <a:lnTo>
                  <a:pt x="0" y="17439"/>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2877312" y="4271200"/>
            <a:ext cx="1350264" cy="217551"/>
          </a:xfrm>
          <a:prstGeom prst="rect">
            <a:avLst/>
          </a:prstGeom>
          <a:noFill/>
        </p:spPr>
        <p:txBody>
          <a:bodyPr wrap="square" lIns="0" rIns="0" tIns="0" bIns="0" anchor="ctr">
            <a:spAutoFit/>
          </a:bodyPr>
          <a:lstStyle/>
          <a:p>
            <a:pPr algn="l"/>
            <a:r>
              <a:rPr sz="1050" b="1" i="0">
                <a:solidFill>
                  <a:srgbClr val="333333"/>
                </a:solidFill>
              </a:rPr>
              <a:t>Weak</a:t>
            </a:r>
          </a:p>
        </p:txBody>
      </p:sp>
      <p:sp>
        <p:nvSpPr>
          <p:cNvPr id="107" name="TextBox 106"/>
          <p:cNvSpPr txBox="1"/>
          <p:nvPr/>
        </p:nvSpPr>
        <p:spPr>
          <a:xfrm>
            <a:off x="2877312" y="4502276"/>
            <a:ext cx="1350264" cy="194310"/>
          </a:xfrm>
          <a:prstGeom prst="rect">
            <a:avLst/>
          </a:prstGeom>
          <a:noFill/>
        </p:spPr>
        <p:txBody>
          <a:bodyPr wrap="square" lIns="0" rIns="0" tIns="0" bIns="0" anchor="ctr">
            <a:spAutoFit/>
          </a:bodyPr>
          <a:lstStyle/>
          <a:p>
            <a:pPr algn="l"/>
            <a:r>
              <a:rPr sz="900" b="0" i="0">
                <a:solidFill>
                  <a:srgbClr val="666666"/>
                </a:solidFill>
              </a:rPr>
              <a:t>2.0 – 2.6</a:t>
            </a:r>
          </a:p>
        </p:txBody>
      </p:sp>
      <p:sp>
        <p:nvSpPr>
          <p:cNvPr id="108" name="Rectangle 107"/>
          <p:cNvSpPr/>
          <p:nvPr/>
        </p:nvSpPr>
        <p:spPr>
          <a:xfrm>
            <a:off x="4300728" y="4206240"/>
            <a:ext cx="1807464" cy="566928"/>
          </a:xfrm>
          <a:prstGeom prst="rect">
            <a:avLst/>
          </a:prstGeom>
          <a:solidFill>
            <a:srgbClr val="FFF9C4"/>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Oval 108"/>
          <p:cNvSpPr/>
          <p:nvPr/>
        </p:nvSpPr>
        <p:spPr>
          <a:xfrm>
            <a:off x="4401312" y="4334255"/>
            <a:ext cx="310896" cy="310896"/>
          </a:xfrm>
          <a:prstGeom prst="ellipse">
            <a:avLst/>
          </a:prstGeom>
          <a:solidFill>
            <a:srgbClr val="FBC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Oval 109"/>
          <p:cNvSpPr/>
          <p:nvPr/>
        </p:nvSpPr>
        <p:spPr>
          <a:xfrm>
            <a:off x="4485253" y="4430633"/>
            <a:ext cx="31089" cy="31089"/>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Oval 110"/>
          <p:cNvSpPr/>
          <p:nvPr/>
        </p:nvSpPr>
        <p:spPr>
          <a:xfrm>
            <a:off x="4597176" y="4430633"/>
            <a:ext cx="31089" cy="31089"/>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2" name="Connector 111"/>
          <p:cNvCxnSpPr/>
          <p:nvPr/>
        </p:nvCxnSpPr>
        <p:spPr>
          <a:xfrm>
            <a:off x="4479036" y="4542556"/>
            <a:ext cx="155448"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4776215" y="4271200"/>
            <a:ext cx="1350264" cy="217551"/>
          </a:xfrm>
          <a:prstGeom prst="rect">
            <a:avLst/>
          </a:prstGeom>
          <a:noFill/>
        </p:spPr>
        <p:txBody>
          <a:bodyPr wrap="square" lIns="0" rIns="0" tIns="0" bIns="0" anchor="ctr">
            <a:spAutoFit/>
          </a:bodyPr>
          <a:lstStyle/>
          <a:p>
            <a:pPr algn="l"/>
            <a:r>
              <a:rPr sz="1050" b="1" i="0">
                <a:solidFill>
                  <a:srgbClr val="333333"/>
                </a:solidFill>
              </a:rPr>
              <a:t>Neutral</a:t>
            </a:r>
          </a:p>
        </p:txBody>
      </p:sp>
      <p:sp>
        <p:nvSpPr>
          <p:cNvPr id="114" name="TextBox 113"/>
          <p:cNvSpPr txBox="1"/>
          <p:nvPr/>
        </p:nvSpPr>
        <p:spPr>
          <a:xfrm>
            <a:off x="4776215" y="4502276"/>
            <a:ext cx="1350264" cy="194310"/>
          </a:xfrm>
          <a:prstGeom prst="rect">
            <a:avLst/>
          </a:prstGeom>
          <a:noFill/>
        </p:spPr>
        <p:txBody>
          <a:bodyPr wrap="square" lIns="0" rIns="0" tIns="0" bIns="0" anchor="ctr">
            <a:spAutoFit/>
          </a:bodyPr>
          <a:lstStyle/>
          <a:p>
            <a:pPr algn="l"/>
            <a:r>
              <a:rPr sz="900" b="0" i="0">
                <a:solidFill>
                  <a:srgbClr val="666666"/>
                </a:solidFill>
              </a:rPr>
              <a:t>2.6 – 3.2</a:t>
            </a:r>
          </a:p>
        </p:txBody>
      </p:sp>
      <p:sp>
        <p:nvSpPr>
          <p:cNvPr id="115" name="Rectangle 114"/>
          <p:cNvSpPr/>
          <p:nvPr/>
        </p:nvSpPr>
        <p:spPr>
          <a:xfrm>
            <a:off x="6199632" y="4206240"/>
            <a:ext cx="1807464" cy="566928"/>
          </a:xfrm>
          <a:prstGeom prst="rect">
            <a:avLst/>
          </a:prstGeom>
          <a:solidFill>
            <a:srgbClr val="F0F4C3"/>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Oval 115"/>
          <p:cNvSpPr/>
          <p:nvPr/>
        </p:nvSpPr>
        <p:spPr>
          <a:xfrm>
            <a:off x="6300216" y="4334255"/>
            <a:ext cx="310896" cy="310896"/>
          </a:xfrm>
          <a:prstGeom prst="ellipse">
            <a:avLst/>
          </a:prstGeom>
          <a:solidFill>
            <a:srgbClr val="C0C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Oval 116"/>
          <p:cNvSpPr/>
          <p:nvPr/>
        </p:nvSpPr>
        <p:spPr>
          <a:xfrm>
            <a:off x="6384157" y="4430633"/>
            <a:ext cx="31089" cy="31089"/>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Oval 117"/>
          <p:cNvSpPr/>
          <p:nvPr/>
        </p:nvSpPr>
        <p:spPr>
          <a:xfrm>
            <a:off x="6496080" y="4430633"/>
            <a:ext cx="31089" cy="31089"/>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Freeform 118"/>
          <p:cNvSpPr/>
          <p:nvPr/>
        </p:nvSpPr>
        <p:spPr>
          <a:xfrm>
            <a:off x="6382627" y="4546890"/>
            <a:ext cx="146073" cy="14320"/>
          </a:xfrm>
          <a:custGeom>
            <a:avLst/>
            <a:gdLst/>
            <a:ahLst/>
            <a:cxnLst/>
            <a:rect l="l" t="t" r="r" b="b"/>
            <a:pathLst>
              <a:path w="146073" h="14320">
                <a:moveTo>
                  <a:pt x="0" y="0"/>
                </a:moveTo>
                <a:lnTo>
                  <a:pt x="1447" y="1031"/>
                </a:lnTo>
                <a:lnTo>
                  <a:pt x="3080" y="2040"/>
                </a:lnTo>
                <a:lnTo>
                  <a:pt x="4894" y="3024"/>
                </a:lnTo>
                <a:lnTo>
                  <a:pt x="6884" y="3982"/>
                </a:lnTo>
                <a:lnTo>
                  <a:pt x="9046" y="4909"/>
                </a:lnTo>
                <a:lnTo>
                  <a:pt x="11374" y="5805"/>
                </a:lnTo>
                <a:lnTo>
                  <a:pt x="13861" y="6667"/>
                </a:lnTo>
                <a:lnTo>
                  <a:pt x="16502" y="7491"/>
                </a:lnTo>
                <a:lnTo>
                  <a:pt x="19289" y="8277"/>
                </a:lnTo>
                <a:lnTo>
                  <a:pt x="22216" y="9023"/>
                </a:lnTo>
                <a:lnTo>
                  <a:pt x="25274" y="9726"/>
                </a:lnTo>
                <a:lnTo>
                  <a:pt x="28456" y="10384"/>
                </a:lnTo>
                <a:lnTo>
                  <a:pt x="31753" y="10996"/>
                </a:lnTo>
                <a:lnTo>
                  <a:pt x="35158" y="11560"/>
                </a:lnTo>
                <a:lnTo>
                  <a:pt x="38660" y="12075"/>
                </a:lnTo>
                <a:lnTo>
                  <a:pt x="42252" y="12540"/>
                </a:lnTo>
                <a:lnTo>
                  <a:pt x="45923" y="12952"/>
                </a:lnTo>
                <a:lnTo>
                  <a:pt x="49664" y="13312"/>
                </a:lnTo>
                <a:lnTo>
                  <a:pt x="53467" y="13618"/>
                </a:lnTo>
                <a:lnTo>
                  <a:pt x="57319" y="13870"/>
                </a:lnTo>
                <a:lnTo>
                  <a:pt x="61213" y="14066"/>
                </a:lnTo>
                <a:lnTo>
                  <a:pt x="65137" y="14207"/>
                </a:lnTo>
                <a:lnTo>
                  <a:pt x="69082" y="14291"/>
                </a:lnTo>
                <a:lnTo>
                  <a:pt x="73037" y="14320"/>
                </a:lnTo>
                <a:lnTo>
                  <a:pt x="76991" y="14291"/>
                </a:lnTo>
                <a:lnTo>
                  <a:pt x="80936" y="14207"/>
                </a:lnTo>
                <a:lnTo>
                  <a:pt x="84860" y="14066"/>
                </a:lnTo>
                <a:lnTo>
                  <a:pt x="88754" y="13870"/>
                </a:lnTo>
                <a:lnTo>
                  <a:pt x="92606" y="13618"/>
                </a:lnTo>
                <a:lnTo>
                  <a:pt x="96409" y="13312"/>
                </a:lnTo>
                <a:lnTo>
                  <a:pt x="100150" y="12952"/>
                </a:lnTo>
                <a:lnTo>
                  <a:pt x="103821" y="12540"/>
                </a:lnTo>
                <a:lnTo>
                  <a:pt x="107413" y="12075"/>
                </a:lnTo>
                <a:lnTo>
                  <a:pt x="110915" y="11560"/>
                </a:lnTo>
                <a:lnTo>
                  <a:pt x="114320" y="10996"/>
                </a:lnTo>
                <a:lnTo>
                  <a:pt x="117617" y="10384"/>
                </a:lnTo>
                <a:lnTo>
                  <a:pt x="120799" y="9726"/>
                </a:lnTo>
                <a:lnTo>
                  <a:pt x="123857" y="9023"/>
                </a:lnTo>
                <a:lnTo>
                  <a:pt x="126784" y="8277"/>
                </a:lnTo>
                <a:lnTo>
                  <a:pt x="129571" y="7491"/>
                </a:lnTo>
                <a:lnTo>
                  <a:pt x="132212" y="6667"/>
                </a:lnTo>
                <a:lnTo>
                  <a:pt x="134699" y="5805"/>
                </a:lnTo>
                <a:lnTo>
                  <a:pt x="137027" y="4909"/>
                </a:lnTo>
                <a:lnTo>
                  <a:pt x="139189" y="3982"/>
                </a:lnTo>
                <a:lnTo>
                  <a:pt x="141179" y="3024"/>
                </a:lnTo>
                <a:lnTo>
                  <a:pt x="142993" y="2040"/>
                </a:lnTo>
                <a:lnTo>
                  <a:pt x="144626" y="1031"/>
                </a:lnTo>
                <a:lnTo>
                  <a:pt x="146073" y="0"/>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6675120" y="4271200"/>
            <a:ext cx="1350264" cy="217551"/>
          </a:xfrm>
          <a:prstGeom prst="rect">
            <a:avLst/>
          </a:prstGeom>
          <a:noFill/>
        </p:spPr>
        <p:txBody>
          <a:bodyPr wrap="square" lIns="0" rIns="0" tIns="0" bIns="0" anchor="ctr">
            <a:spAutoFit/>
          </a:bodyPr>
          <a:lstStyle/>
          <a:p>
            <a:pPr algn="l"/>
            <a:r>
              <a:rPr sz="1050" b="1" i="0">
                <a:solidFill>
                  <a:srgbClr val="333333"/>
                </a:solidFill>
              </a:rPr>
              <a:t>Fair</a:t>
            </a:r>
          </a:p>
        </p:txBody>
      </p:sp>
      <p:sp>
        <p:nvSpPr>
          <p:cNvPr id="121" name="TextBox 120"/>
          <p:cNvSpPr txBox="1"/>
          <p:nvPr/>
        </p:nvSpPr>
        <p:spPr>
          <a:xfrm>
            <a:off x="6675120" y="4502276"/>
            <a:ext cx="1350264" cy="194310"/>
          </a:xfrm>
          <a:prstGeom prst="rect">
            <a:avLst/>
          </a:prstGeom>
          <a:noFill/>
        </p:spPr>
        <p:txBody>
          <a:bodyPr wrap="square" lIns="0" rIns="0" tIns="0" bIns="0" anchor="ctr">
            <a:spAutoFit/>
          </a:bodyPr>
          <a:lstStyle/>
          <a:p>
            <a:pPr algn="l"/>
            <a:r>
              <a:rPr sz="900" b="0" i="0">
                <a:solidFill>
                  <a:srgbClr val="666666"/>
                </a:solidFill>
              </a:rPr>
              <a:t>3.2 – 3.6</a:t>
            </a:r>
          </a:p>
        </p:txBody>
      </p:sp>
      <p:sp>
        <p:nvSpPr>
          <p:cNvPr id="122" name="Rectangle 121"/>
          <p:cNvSpPr/>
          <p:nvPr/>
        </p:nvSpPr>
        <p:spPr>
          <a:xfrm>
            <a:off x="8098536" y="4206240"/>
            <a:ext cx="1807464" cy="566928"/>
          </a:xfrm>
          <a:prstGeom prst="rect">
            <a:avLst/>
          </a:prstGeom>
          <a:solidFill>
            <a:srgbClr val="DCEDC8"/>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Oval 122"/>
          <p:cNvSpPr/>
          <p:nvPr/>
        </p:nvSpPr>
        <p:spPr>
          <a:xfrm>
            <a:off x="8199120" y="4334255"/>
            <a:ext cx="310896" cy="31089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Oval 123"/>
          <p:cNvSpPr/>
          <p:nvPr/>
        </p:nvSpPr>
        <p:spPr>
          <a:xfrm>
            <a:off x="8283061" y="4430633"/>
            <a:ext cx="31089" cy="31089"/>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Oval 124"/>
          <p:cNvSpPr/>
          <p:nvPr/>
        </p:nvSpPr>
        <p:spPr>
          <a:xfrm>
            <a:off x="8394984" y="4430633"/>
            <a:ext cx="31089" cy="31089"/>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Freeform 125"/>
          <p:cNvSpPr/>
          <p:nvPr/>
        </p:nvSpPr>
        <p:spPr>
          <a:xfrm>
            <a:off x="8281531" y="4539014"/>
            <a:ext cx="146073" cy="22196"/>
          </a:xfrm>
          <a:custGeom>
            <a:avLst/>
            <a:gdLst/>
            <a:ahLst/>
            <a:cxnLst/>
            <a:rect l="l" t="t" r="r" b="b"/>
            <a:pathLst>
              <a:path w="146073" h="22196">
                <a:moveTo>
                  <a:pt x="0" y="0"/>
                </a:moveTo>
                <a:lnTo>
                  <a:pt x="1447" y="1598"/>
                </a:lnTo>
                <a:lnTo>
                  <a:pt x="3080" y="3162"/>
                </a:lnTo>
                <a:lnTo>
                  <a:pt x="4894" y="4688"/>
                </a:lnTo>
                <a:lnTo>
                  <a:pt x="6884" y="6172"/>
                </a:lnTo>
                <a:lnTo>
                  <a:pt x="9046" y="7610"/>
                </a:lnTo>
                <a:lnTo>
                  <a:pt x="11374" y="8998"/>
                </a:lnTo>
                <a:lnTo>
                  <a:pt x="13861" y="10333"/>
                </a:lnTo>
                <a:lnTo>
                  <a:pt x="16502" y="11612"/>
                </a:lnTo>
                <a:lnTo>
                  <a:pt x="19289" y="12830"/>
                </a:lnTo>
                <a:lnTo>
                  <a:pt x="22216" y="13986"/>
                </a:lnTo>
                <a:lnTo>
                  <a:pt x="25274" y="15075"/>
                </a:lnTo>
                <a:lnTo>
                  <a:pt x="28456" y="16095"/>
                </a:lnTo>
                <a:lnTo>
                  <a:pt x="31753" y="17044"/>
                </a:lnTo>
                <a:lnTo>
                  <a:pt x="35158" y="17919"/>
                </a:lnTo>
                <a:lnTo>
                  <a:pt x="38660" y="18717"/>
                </a:lnTo>
                <a:lnTo>
                  <a:pt x="42252" y="19437"/>
                </a:lnTo>
                <a:lnTo>
                  <a:pt x="45923" y="20077"/>
                </a:lnTo>
                <a:lnTo>
                  <a:pt x="49664" y="20634"/>
                </a:lnTo>
                <a:lnTo>
                  <a:pt x="53467" y="21109"/>
                </a:lnTo>
                <a:lnTo>
                  <a:pt x="57319" y="21499"/>
                </a:lnTo>
                <a:lnTo>
                  <a:pt x="61213" y="21803"/>
                </a:lnTo>
                <a:lnTo>
                  <a:pt x="65137" y="22021"/>
                </a:lnTo>
                <a:lnTo>
                  <a:pt x="69082" y="22152"/>
                </a:lnTo>
                <a:lnTo>
                  <a:pt x="73037" y="22196"/>
                </a:lnTo>
                <a:lnTo>
                  <a:pt x="76991" y="22152"/>
                </a:lnTo>
                <a:lnTo>
                  <a:pt x="80936" y="22021"/>
                </a:lnTo>
                <a:lnTo>
                  <a:pt x="84860" y="21803"/>
                </a:lnTo>
                <a:lnTo>
                  <a:pt x="88754" y="21499"/>
                </a:lnTo>
                <a:lnTo>
                  <a:pt x="92606" y="21109"/>
                </a:lnTo>
                <a:lnTo>
                  <a:pt x="96409" y="20634"/>
                </a:lnTo>
                <a:lnTo>
                  <a:pt x="100150" y="20077"/>
                </a:lnTo>
                <a:lnTo>
                  <a:pt x="103821" y="19437"/>
                </a:lnTo>
                <a:lnTo>
                  <a:pt x="107413" y="18717"/>
                </a:lnTo>
                <a:lnTo>
                  <a:pt x="110915" y="17919"/>
                </a:lnTo>
                <a:lnTo>
                  <a:pt x="114320" y="17044"/>
                </a:lnTo>
                <a:lnTo>
                  <a:pt x="117617" y="16095"/>
                </a:lnTo>
                <a:lnTo>
                  <a:pt x="120799" y="15075"/>
                </a:lnTo>
                <a:lnTo>
                  <a:pt x="123857" y="13986"/>
                </a:lnTo>
                <a:lnTo>
                  <a:pt x="126784" y="12830"/>
                </a:lnTo>
                <a:lnTo>
                  <a:pt x="129571" y="11612"/>
                </a:lnTo>
                <a:lnTo>
                  <a:pt x="132212" y="10333"/>
                </a:lnTo>
                <a:lnTo>
                  <a:pt x="134699" y="8998"/>
                </a:lnTo>
                <a:lnTo>
                  <a:pt x="137027" y="7610"/>
                </a:lnTo>
                <a:lnTo>
                  <a:pt x="139189" y="6172"/>
                </a:lnTo>
                <a:lnTo>
                  <a:pt x="141179" y="4688"/>
                </a:lnTo>
                <a:lnTo>
                  <a:pt x="142993" y="3162"/>
                </a:lnTo>
                <a:lnTo>
                  <a:pt x="144626" y="1598"/>
                </a:lnTo>
                <a:lnTo>
                  <a:pt x="146073" y="0"/>
                </a:lnTo>
              </a:path>
            </a:pathLst>
          </a:custGeom>
          <a:noFill/>
          <a:ln w="2286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8574024" y="4271200"/>
            <a:ext cx="1350264" cy="217551"/>
          </a:xfrm>
          <a:prstGeom prst="rect">
            <a:avLst/>
          </a:prstGeom>
          <a:noFill/>
        </p:spPr>
        <p:txBody>
          <a:bodyPr wrap="square" lIns="0" rIns="0" tIns="0" bIns="0" anchor="ctr">
            <a:spAutoFit/>
          </a:bodyPr>
          <a:lstStyle/>
          <a:p>
            <a:pPr algn="l"/>
            <a:r>
              <a:rPr sz="1050" b="1" i="0">
                <a:solidFill>
                  <a:srgbClr val="333333"/>
                </a:solidFill>
              </a:rPr>
              <a:t>Good</a:t>
            </a:r>
          </a:p>
        </p:txBody>
      </p:sp>
      <p:sp>
        <p:nvSpPr>
          <p:cNvPr id="128" name="TextBox 127"/>
          <p:cNvSpPr txBox="1"/>
          <p:nvPr/>
        </p:nvSpPr>
        <p:spPr>
          <a:xfrm>
            <a:off x="8574024" y="4502276"/>
            <a:ext cx="1350264" cy="194310"/>
          </a:xfrm>
          <a:prstGeom prst="rect">
            <a:avLst/>
          </a:prstGeom>
          <a:noFill/>
        </p:spPr>
        <p:txBody>
          <a:bodyPr wrap="square" lIns="0" rIns="0" tIns="0" bIns="0" anchor="ctr">
            <a:spAutoFit/>
          </a:bodyPr>
          <a:lstStyle/>
          <a:p>
            <a:pPr algn="l"/>
            <a:r>
              <a:rPr sz="900" b="0" i="0">
                <a:solidFill>
                  <a:srgbClr val="666666"/>
                </a:solidFill>
              </a:rPr>
              <a:t>3.6 – 4.0</a:t>
            </a:r>
          </a:p>
        </p:txBody>
      </p:sp>
      <p:sp>
        <p:nvSpPr>
          <p:cNvPr id="129" name="Rectangle 128"/>
          <p:cNvSpPr/>
          <p:nvPr/>
        </p:nvSpPr>
        <p:spPr>
          <a:xfrm>
            <a:off x="9997440" y="4206240"/>
            <a:ext cx="1807464" cy="566928"/>
          </a:xfrm>
          <a:prstGeom prst="rect">
            <a:avLst/>
          </a:prstGeom>
          <a:solidFill>
            <a:srgbClr val="A5D6A7"/>
          </a:solidFill>
          <a:ln w="9525">
            <a:solidFill>
              <a:srgbClr val="BBBB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Oval 129"/>
          <p:cNvSpPr/>
          <p:nvPr/>
        </p:nvSpPr>
        <p:spPr>
          <a:xfrm>
            <a:off x="10098024" y="4334255"/>
            <a:ext cx="310896" cy="31089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Freeform 130"/>
          <p:cNvSpPr/>
          <p:nvPr/>
        </p:nvSpPr>
        <p:spPr>
          <a:xfrm>
            <a:off x="10168296" y="4419752"/>
            <a:ext cx="58429" cy="17388"/>
          </a:xfrm>
          <a:custGeom>
            <a:avLst/>
            <a:gdLst/>
            <a:ahLst/>
            <a:cxnLst/>
            <a:rect l="l" t="t" r="r" b="b"/>
            <a:pathLst>
              <a:path w="58429" h="17388">
                <a:moveTo>
                  <a:pt x="58429" y="17388"/>
                </a:moveTo>
                <a:lnTo>
                  <a:pt x="57850" y="16136"/>
                </a:lnTo>
                <a:lnTo>
                  <a:pt x="57197" y="14911"/>
                </a:lnTo>
                <a:lnTo>
                  <a:pt x="56471" y="13715"/>
                </a:lnTo>
                <a:lnTo>
                  <a:pt x="55675" y="12553"/>
                </a:lnTo>
                <a:lnTo>
                  <a:pt x="54810" y="11426"/>
                </a:lnTo>
                <a:lnTo>
                  <a:pt x="53879" y="10339"/>
                </a:lnTo>
                <a:lnTo>
                  <a:pt x="52884" y="9293"/>
                </a:lnTo>
                <a:lnTo>
                  <a:pt x="51828" y="8291"/>
                </a:lnTo>
                <a:lnTo>
                  <a:pt x="50713" y="7337"/>
                </a:lnTo>
                <a:lnTo>
                  <a:pt x="49542" y="6432"/>
                </a:lnTo>
                <a:lnTo>
                  <a:pt x="48319" y="5578"/>
                </a:lnTo>
                <a:lnTo>
                  <a:pt x="47046" y="4779"/>
                </a:lnTo>
                <a:lnTo>
                  <a:pt x="45728" y="4036"/>
                </a:lnTo>
                <a:lnTo>
                  <a:pt x="44366" y="3351"/>
                </a:lnTo>
                <a:lnTo>
                  <a:pt x="42965" y="2725"/>
                </a:lnTo>
                <a:lnTo>
                  <a:pt x="41528" y="2161"/>
                </a:lnTo>
                <a:lnTo>
                  <a:pt x="40060" y="1660"/>
                </a:lnTo>
                <a:lnTo>
                  <a:pt x="38563" y="1223"/>
                </a:lnTo>
                <a:lnTo>
                  <a:pt x="37042" y="851"/>
                </a:lnTo>
                <a:lnTo>
                  <a:pt x="35501" y="546"/>
                </a:lnTo>
                <a:lnTo>
                  <a:pt x="33944" y="307"/>
                </a:lnTo>
                <a:lnTo>
                  <a:pt x="32374" y="137"/>
                </a:lnTo>
                <a:lnTo>
                  <a:pt x="30796" y="34"/>
                </a:lnTo>
                <a:lnTo>
                  <a:pt x="29214" y="0"/>
                </a:lnTo>
                <a:lnTo>
                  <a:pt x="27632" y="34"/>
                </a:lnTo>
                <a:lnTo>
                  <a:pt x="26054" y="137"/>
                </a:lnTo>
                <a:lnTo>
                  <a:pt x="24485" y="307"/>
                </a:lnTo>
                <a:lnTo>
                  <a:pt x="22927" y="546"/>
                </a:lnTo>
                <a:lnTo>
                  <a:pt x="21386" y="851"/>
                </a:lnTo>
                <a:lnTo>
                  <a:pt x="19865" y="1223"/>
                </a:lnTo>
                <a:lnTo>
                  <a:pt x="18369" y="1660"/>
                </a:lnTo>
                <a:lnTo>
                  <a:pt x="16900" y="2161"/>
                </a:lnTo>
                <a:lnTo>
                  <a:pt x="15464" y="2725"/>
                </a:lnTo>
                <a:lnTo>
                  <a:pt x="14063" y="3351"/>
                </a:lnTo>
                <a:lnTo>
                  <a:pt x="12701" y="4036"/>
                </a:lnTo>
                <a:lnTo>
                  <a:pt x="11382" y="4779"/>
                </a:lnTo>
                <a:lnTo>
                  <a:pt x="10109" y="5578"/>
                </a:lnTo>
                <a:lnTo>
                  <a:pt x="8886" y="6432"/>
                </a:lnTo>
                <a:lnTo>
                  <a:pt x="7715" y="7337"/>
                </a:lnTo>
                <a:lnTo>
                  <a:pt x="6600" y="8291"/>
                </a:lnTo>
                <a:lnTo>
                  <a:pt x="5544" y="9293"/>
                </a:lnTo>
                <a:lnTo>
                  <a:pt x="4549" y="10339"/>
                </a:lnTo>
                <a:lnTo>
                  <a:pt x="3618" y="11426"/>
                </a:lnTo>
                <a:lnTo>
                  <a:pt x="2753" y="12553"/>
                </a:lnTo>
                <a:lnTo>
                  <a:pt x="1957" y="13715"/>
                </a:lnTo>
                <a:lnTo>
                  <a:pt x="1232" y="14911"/>
                </a:lnTo>
                <a:lnTo>
                  <a:pt x="578" y="16136"/>
                </a:lnTo>
                <a:lnTo>
                  <a:pt x="0" y="17388"/>
                </a:lnTo>
              </a:path>
            </a:pathLst>
          </a:custGeom>
          <a:no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Freeform 131"/>
          <p:cNvSpPr/>
          <p:nvPr/>
        </p:nvSpPr>
        <p:spPr>
          <a:xfrm>
            <a:off x="10280218" y="4419752"/>
            <a:ext cx="58429" cy="17388"/>
          </a:xfrm>
          <a:custGeom>
            <a:avLst/>
            <a:gdLst/>
            <a:ahLst/>
            <a:cxnLst/>
            <a:rect l="l" t="t" r="r" b="b"/>
            <a:pathLst>
              <a:path w="58429" h="17388">
                <a:moveTo>
                  <a:pt x="58429" y="17388"/>
                </a:moveTo>
                <a:lnTo>
                  <a:pt x="57851" y="16136"/>
                </a:lnTo>
                <a:lnTo>
                  <a:pt x="57197" y="14911"/>
                </a:lnTo>
                <a:lnTo>
                  <a:pt x="56472" y="13715"/>
                </a:lnTo>
                <a:lnTo>
                  <a:pt x="55676" y="12553"/>
                </a:lnTo>
                <a:lnTo>
                  <a:pt x="54811" y="11426"/>
                </a:lnTo>
                <a:lnTo>
                  <a:pt x="53880" y="10339"/>
                </a:lnTo>
                <a:lnTo>
                  <a:pt x="52885" y="9293"/>
                </a:lnTo>
                <a:lnTo>
                  <a:pt x="51829" y="8291"/>
                </a:lnTo>
                <a:lnTo>
                  <a:pt x="50714" y="7337"/>
                </a:lnTo>
                <a:lnTo>
                  <a:pt x="49543" y="6432"/>
                </a:lnTo>
                <a:lnTo>
                  <a:pt x="48320" y="5578"/>
                </a:lnTo>
                <a:lnTo>
                  <a:pt x="47047" y="4779"/>
                </a:lnTo>
                <a:lnTo>
                  <a:pt x="45728" y="4036"/>
                </a:lnTo>
                <a:lnTo>
                  <a:pt x="44366" y="3351"/>
                </a:lnTo>
                <a:lnTo>
                  <a:pt x="42965" y="2725"/>
                </a:lnTo>
                <a:lnTo>
                  <a:pt x="41529" y="2161"/>
                </a:lnTo>
                <a:lnTo>
                  <a:pt x="40060" y="1660"/>
                </a:lnTo>
                <a:lnTo>
                  <a:pt x="38564" y="1223"/>
                </a:lnTo>
                <a:lnTo>
                  <a:pt x="37043" y="851"/>
                </a:lnTo>
                <a:lnTo>
                  <a:pt x="35502" y="546"/>
                </a:lnTo>
                <a:lnTo>
                  <a:pt x="33944" y="307"/>
                </a:lnTo>
                <a:lnTo>
                  <a:pt x="32375" y="137"/>
                </a:lnTo>
                <a:lnTo>
                  <a:pt x="30797" y="34"/>
                </a:lnTo>
                <a:lnTo>
                  <a:pt x="29215" y="0"/>
                </a:lnTo>
                <a:lnTo>
                  <a:pt x="27633" y="34"/>
                </a:lnTo>
                <a:lnTo>
                  <a:pt x="26055" y="137"/>
                </a:lnTo>
                <a:lnTo>
                  <a:pt x="24485" y="307"/>
                </a:lnTo>
                <a:lnTo>
                  <a:pt x="22928" y="546"/>
                </a:lnTo>
                <a:lnTo>
                  <a:pt x="21387" y="851"/>
                </a:lnTo>
                <a:lnTo>
                  <a:pt x="19866" y="1223"/>
                </a:lnTo>
                <a:lnTo>
                  <a:pt x="18369" y="1660"/>
                </a:lnTo>
                <a:lnTo>
                  <a:pt x="16901" y="2161"/>
                </a:lnTo>
                <a:lnTo>
                  <a:pt x="15464" y="2725"/>
                </a:lnTo>
                <a:lnTo>
                  <a:pt x="14063" y="3351"/>
                </a:lnTo>
                <a:lnTo>
                  <a:pt x="12701" y="4036"/>
                </a:lnTo>
                <a:lnTo>
                  <a:pt x="11383" y="4779"/>
                </a:lnTo>
                <a:lnTo>
                  <a:pt x="10110" y="5578"/>
                </a:lnTo>
                <a:lnTo>
                  <a:pt x="8887" y="6432"/>
                </a:lnTo>
                <a:lnTo>
                  <a:pt x="7716" y="7337"/>
                </a:lnTo>
                <a:lnTo>
                  <a:pt x="6601" y="8291"/>
                </a:lnTo>
                <a:lnTo>
                  <a:pt x="5545" y="9293"/>
                </a:lnTo>
                <a:lnTo>
                  <a:pt x="4550" y="10339"/>
                </a:lnTo>
                <a:lnTo>
                  <a:pt x="3619" y="11426"/>
                </a:lnTo>
                <a:lnTo>
                  <a:pt x="2754" y="12553"/>
                </a:lnTo>
                <a:lnTo>
                  <a:pt x="1958" y="13715"/>
                </a:lnTo>
                <a:lnTo>
                  <a:pt x="1232" y="14911"/>
                </a:lnTo>
                <a:lnTo>
                  <a:pt x="579" y="16136"/>
                </a:lnTo>
                <a:lnTo>
                  <a:pt x="0" y="17388"/>
                </a:lnTo>
              </a:path>
            </a:pathLst>
          </a:custGeom>
          <a:no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Freeform 132"/>
          <p:cNvSpPr/>
          <p:nvPr/>
        </p:nvSpPr>
        <p:spPr>
          <a:xfrm>
            <a:off x="10162906" y="4495921"/>
            <a:ext cx="181131" cy="96378"/>
          </a:xfrm>
          <a:custGeom>
            <a:avLst/>
            <a:gdLst/>
            <a:ahLst/>
            <a:cxnLst/>
            <a:rect l="l" t="t" r="r" b="b"/>
            <a:pathLst>
              <a:path w="181131" h="96378">
                <a:moveTo>
                  <a:pt x="90566" y="0"/>
                </a:moveTo>
                <a:lnTo>
                  <a:pt x="0" y="32964"/>
                </a:lnTo>
                <a:lnTo>
                  <a:pt x="1795" y="37529"/>
                </a:lnTo>
                <a:lnTo>
                  <a:pt x="3819" y="41997"/>
                </a:lnTo>
                <a:lnTo>
                  <a:pt x="6069" y="46357"/>
                </a:lnTo>
                <a:lnTo>
                  <a:pt x="8537" y="50596"/>
                </a:lnTo>
                <a:lnTo>
                  <a:pt x="11218" y="54705"/>
                </a:lnTo>
                <a:lnTo>
                  <a:pt x="14104" y="58671"/>
                </a:lnTo>
                <a:lnTo>
                  <a:pt x="17188" y="62486"/>
                </a:lnTo>
                <a:lnTo>
                  <a:pt x="20463" y="66139"/>
                </a:lnTo>
                <a:lnTo>
                  <a:pt x="23919" y="69620"/>
                </a:lnTo>
                <a:lnTo>
                  <a:pt x="27548" y="72921"/>
                </a:lnTo>
                <a:lnTo>
                  <a:pt x="31340" y="76033"/>
                </a:lnTo>
                <a:lnTo>
                  <a:pt x="35285" y="78948"/>
                </a:lnTo>
                <a:lnTo>
                  <a:pt x="39374" y="81659"/>
                </a:lnTo>
                <a:lnTo>
                  <a:pt x="43596" y="84158"/>
                </a:lnTo>
                <a:lnTo>
                  <a:pt x="47939" y="86439"/>
                </a:lnTo>
                <a:lnTo>
                  <a:pt x="52392" y="88496"/>
                </a:lnTo>
                <a:lnTo>
                  <a:pt x="56945" y="90324"/>
                </a:lnTo>
                <a:lnTo>
                  <a:pt x="61584" y="91918"/>
                </a:lnTo>
                <a:lnTo>
                  <a:pt x="66299" y="93273"/>
                </a:lnTo>
                <a:lnTo>
                  <a:pt x="71076" y="94387"/>
                </a:lnTo>
                <a:lnTo>
                  <a:pt x="75904" y="95256"/>
                </a:lnTo>
                <a:lnTo>
                  <a:pt x="80770" y="95879"/>
                </a:lnTo>
                <a:lnTo>
                  <a:pt x="85661" y="96253"/>
                </a:lnTo>
                <a:lnTo>
                  <a:pt x="90566" y="96378"/>
                </a:lnTo>
                <a:lnTo>
                  <a:pt x="95470" y="96253"/>
                </a:lnTo>
                <a:lnTo>
                  <a:pt x="100361" y="95879"/>
                </a:lnTo>
                <a:lnTo>
                  <a:pt x="105227" y="95256"/>
                </a:lnTo>
                <a:lnTo>
                  <a:pt x="110055" y="94387"/>
                </a:lnTo>
                <a:lnTo>
                  <a:pt x="114832" y="93273"/>
                </a:lnTo>
                <a:lnTo>
                  <a:pt x="119547" y="91918"/>
                </a:lnTo>
                <a:lnTo>
                  <a:pt x="124186" y="90324"/>
                </a:lnTo>
                <a:lnTo>
                  <a:pt x="128739" y="88496"/>
                </a:lnTo>
                <a:lnTo>
                  <a:pt x="133192" y="86439"/>
                </a:lnTo>
                <a:lnTo>
                  <a:pt x="137535" y="84158"/>
                </a:lnTo>
                <a:lnTo>
                  <a:pt x="141757" y="81659"/>
                </a:lnTo>
                <a:lnTo>
                  <a:pt x="145846" y="78948"/>
                </a:lnTo>
                <a:lnTo>
                  <a:pt x="149791" y="76033"/>
                </a:lnTo>
                <a:lnTo>
                  <a:pt x="153583" y="72921"/>
                </a:lnTo>
                <a:lnTo>
                  <a:pt x="157212" y="69620"/>
                </a:lnTo>
                <a:lnTo>
                  <a:pt x="160668" y="66139"/>
                </a:lnTo>
                <a:lnTo>
                  <a:pt x="163943" y="62486"/>
                </a:lnTo>
                <a:lnTo>
                  <a:pt x="167027" y="58671"/>
                </a:lnTo>
                <a:lnTo>
                  <a:pt x="169913" y="54705"/>
                </a:lnTo>
                <a:lnTo>
                  <a:pt x="172594" y="50596"/>
                </a:lnTo>
                <a:lnTo>
                  <a:pt x="175062" y="46357"/>
                </a:lnTo>
                <a:lnTo>
                  <a:pt x="177312" y="41997"/>
                </a:lnTo>
                <a:lnTo>
                  <a:pt x="179336" y="37529"/>
                </a:lnTo>
                <a:lnTo>
                  <a:pt x="181131" y="32964"/>
                </a:lnTo>
                <a:close/>
              </a:path>
            </a:pathLst>
          </a:cu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10472928" y="4271200"/>
            <a:ext cx="1350264" cy="217551"/>
          </a:xfrm>
          <a:prstGeom prst="rect">
            <a:avLst/>
          </a:prstGeom>
          <a:noFill/>
        </p:spPr>
        <p:txBody>
          <a:bodyPr wrap="square" lIns="0" rIns="0" tIns="0" bIns="0" anchor="ctr">
            <a:spAutoFit/>
          </a:bodyPr>
          <a:lstStyle/>
          <a:p>
            <a:pPr algn="l"/>
            <a:r>
              <a:rPr sz="1050" b="1" i="0">
                <a:solidFill>
                  <a:srgbClr val="333333"/>
                </a:solidFill>
              </a:rPr>
              <a:t>Strong</a:t>
            </a:r>
          </a:p>
        </p:txBody>
      </p:sp>
      <p:sp>
        <p:nvSpPr>
          <p:cNvPr id="135" name="TextBox 134"/>
          <p:cNvSpPr txBox="1"/>
          <p:nvPr/>
        </p:nvSpPr>
        <p:spPr>
          <a:xfrm>
            <a:off x="10472928" y="4502276"/>
            <a:ext cx="1350264" cy="194310"/>
          </a:xfrm>
          <a:prstGeom prst="rect">
            <a:avLst/>
          </a:prstGeom>
          <a:noFill/>
        </p:spPr>
        <p:txBody>
          <a:bodyPr wrap="square" lIns="0" rIns="0" tIns="0" bIns="0" anchor="ctr">
            <a:spAutoFit/>
          </a:bodyPr>
          <a:lstStyle/>
          <a:p>
            <a:pPr algn="l"/>
            <a:r>
              <a:rPr sz="900" b="0" i="0">
                <a:solidFill>
                  <a:srgbClr val="666666"/>
                </a:solidFill>
              </a:rPr>
              <a:t>4.0 and 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7315200" cy="457708"/>
          </a:xfrm>
          <a:prstGeom prst="rect">
            <a:avLst/>
          </a:prstGeom>
          <a:noFill/>
        </p:spPr>
        <p:txBody>
          <a:bodyPr wrap="square" lIns="0" rIns="0" tIns="0" bIns="0" anchor="ctr">
            <a:spAutoFit/>
          </a:bodyPr>
          <a:lstStyle/>
          <a:p>
            <a:pPr algn="l"/>
            <a:r>
              <a:rPr sz="2600" b="1" i="0">
                <a:solidFill>
                  <a:srgbClr val="1A1A1A"/>
                </a:solidFill>
              </a:rPr>
              <a:t>Factor Circumplex</a:t>
            </a:r>
          </a:p>
        </p:txBody>
      </p:sp>
      <p:sp>
        <p:nvSpPr>
          <p:cNvPr id="3" name="Oval 2"/>
          <p:cNvSpPr/>
          <p:nvPr/>
        </p:nvSpPr>
        <p:spPr>
          <a:xfrm>
            <a:off x="1947672" y="1627632"/>
            <a:ext cx="4425696" cy="4425696"/>
          </a:xfrm>
          <a:prstGeom prst="ellipse">
            <a:avLst/>
          </a:prstGeom>
          <a:noFill/>
          <a:ln w="1651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 name="Connector 3"/>
          <p:cNvCxnSpPr/>
          <p:nvPr/>
        </p:nvCxnSpPr>
        <p:spPr>
          <a:xfrm>
            <a:off x="1947672" y="3840480"/>
            <a:ext cx="4425696" cy="0"/>
          </a:xfrm>
          <a:prstGeom prst="line">
            <a:avLst/>
          </a:prstGeom>
          <a:ln w="1143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160520" y="1627632"/>
            <a:ext cx="0" cy="4425696"/>
          </a:xfrm>
          <a:prstGeom prst="line">
            <a:avLst/>
          </a:prstGeom>
          <a:ln w="11430">
            <a:solidFill>
              <a:srgbClr val="33333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697479" y="1212037"/>
            <a:ext cx="2926080" cy="194310"/>
          </a:xfrm>
          <a:prstGeom prst="rect">
            <a:avLst/>
          </a:prstGeom>
          <a:noFill/>
        </p:spPr>
        <p:txBody>
          <a:bodyPr wrap="square" lIns="0" rIns="0" tIns="0" bIns="0" anchor="ctr">
            <a:spAutoFit/>
          </a:bodyPr>
          <a:lstStyle/>
          <a:p>
            <a:pPr algn="ctr"/>
            <a:r>
              <a:rPr sz="900" b="1" i="0">
                <a:solidFill>
                  <a:srgbClr val="333333"/>
                </a:solidFill>
              </a:rPr>
              <a:t>HIGH POSITIVE EFFECT</a:t>
            </a:r>
          </a:p>
        </p:txBody>
      </p:sp>
      <p:sp>
        <p:nvSpPr>
          <p:cNvPr id="7" name="TextBox 6"/>
          <p:cNvSpPr txBox="1"/>
          <p:nvPr/>
        </p:nvSpPr>
        <p:spPr>
          <a:xfrm>
            <a:off x="3063239" y="1349237"/>
            <a:ext cx="2194560" cy="178815"/>
          </a:xfrm>
          <a:prstGeom prst="rect">
            <a:avLst/>
          </a:prstGeom>
          <a:noFill/>
        </p:spPr>
        <p:txBody>
          <a:bodyPr wrap="square" lIns="0" rIns="0" tIns="0" bIns="0" anchor="ctr">
            <a:spAutoFit/>
          </a:bodyPr>
          <a:lstStyle/>
          <a:p>
            <a:pPr algn="ctr"/>
            <a:r>
              <a:rPr sz="800" b="0" i="1">
                <a:solidFill>
                  <a:srgbClr val="8A8A8A"/>
                </a:solidFill>
              </a:rPr>
              <a:t>(frequency of mention)</a:t>
            </a:r>
          </a:p>
        </p:txBody>
      </p:sp>
      <p:sp>
        <p:nvSpPr>
          <p:cNvPr id="8" name="TextBox 7"/>
          <p:cNvSpPr txBox="1"/>
          <p:nvPr/>
        </p:nvSpPr>
        <p:spPr>
          <a:xfrm>
            <a:off x="2697479" y="6274612"/>
            <a:ext cx="2926080" cy="194310"/>
          </a:xfrm>
          <a:prstGeom prst="rect">
            <a:avLst/>
          </a:prstGeom>
          <a:noFill/>
        </p:spPr>
        <p:txBody>
          <a:bodyPr wrap="square" lIns="0" rIns="0" tIns="0" bIns="0" anchor="ctr">
            <a:spAutoFit/>
          </a:bodyPr>
          <a:lstStyle/>
          <a:p>
            <a:pPr algn="ctr"/>
            <a:r>
              <a:rPr sz="900" b="1" i="0">
                <a:solidFill>
                  <a:srgbClr val="333333"/>
                </a:solidFill>
              </a:rPr>
              <a:t>HIGH NEGATIVE EFFECT</a:t>
            </a:r>
          </a:p>
        </p:txBody>
      </p:sp>
      <p:sp>
        <p:nvSpPr>
          <p:cNvPr id="9" name="TextBox 8"/>
          <p:cNvSpPr txBox="1"/>
          <p:nvPr/>
        </p:nvSpPr>
        <p:spPr>
          <a:xfrm>
            <a:off x="443301" y="3673602"/>
            <a:ext cx="1371600" cy="333756"/>
          </a:xfrm>
          <a:prstGeom prst="rect">
            <a:avLst/>
          </a:prstGeom>
          <a:noFill/>
        </p:spPr>
        <p:txBody>
          <a:bodyPr wrap="square" lIns="0" rIns="0" tIns="0" bIns="0" anchor="ctr">
            <a:spAutoFit/>
          </a:bodyPr>
          <a:lstStyle/>
          <a:p>
            <a:pPr algn="r"/>
            <a:r>
              <a:rPr sz="900" b="1" i="0">
                <a:solidFill>
                  <a:srgbClr val="333333"/>
                </a:solidFill>
              </a:rPr>
              <a:t>FUNDAMENTAL FACTOR</a:t>
            </a:r>
          </a:p>
          <a:p>
            <a:pPr algn="r"/>
            <a:r>
              <a:rPr sz="900" b="1" i="0">
                <a:solidFill>
                  <a:srgbClr val="333333"/>
                </a:solidFill>
              </a:rPr>
              <a:t>FOR CONSIDERATION</a:t>
            </a:r>
          </a:p>
        </p:txBody>
      </p:sp>
      <p:sp>
        <p:nvSpPr>
          <p:cNvPr id="10" name="TextBox 9"/>
          <p:cNvSpPr txBox="1"/>
          <p:nvPr/>
        </p:nvSpPr>
        <p:spPr>
          <a:xfrm>
            <a:off x="6506138" y="3743325"/>
            <a:ext cx="1463040" cy="194310"/>
          </a:xfrm>
          <a:prstGeom prst="rect">
            <a:avLst/>
          </a:prstGeom>
          <a:noFill/>
        </p:spPr>
        <p:txBody>
          <a:bodyPr wrap="square" lIns="0" rIns="0" tIns="0" bIns="0" anchor="ctr">
            <a:spAutoFit/>
          </a:bodyPr>
          <a:lstStyle/>
          <a:p>
            <a:pPr algn="l"/>
            <a:r>
              <a:rPr sz="900" b="1" i="0">
                <a:solidFill>
                  <a:srgbClr val="333333"/>
                </a:solidFill>
              </a:rPr>
              <a:t>ADD-ONS</a:t>
            </a:r>
          </a:p>
        </p:txBody>
      </p:sp>
      <p:sp>
        <p:nvSpPr>
          <p:cNvPr id="11" name="TextBox 10"/>
          <p:cNvSpPr txBox="1"/>
          <p:nvPr/>
        </p:nvSpPr>
        <p:spPr>
          <a:xfrm rot="18900000">
            <a:off x="1382881" y="1838240"/>
            <a:ext cx="1737360" cy="186563"/>
          </a:xfrm>
          <a:prstGeom prst="rect">
            <a:avLst/>
          </a:prstGeom>
          <a:noFill/>
        </p:spPr>
        <p:txBody>
          <a:bodyPr wrap="square" lIns="0" rIns="0" tIns="0" bIns="0" anchor="ctr">
            <a:spAutoFit/>
          </a:bodyPr>
          <a:lstStyle/>
          <a:p>
            <a:pPr algn="ctr"/>
            <a:r>
              <a:rPr sz="850" b="1" i="0">
                <a:solidFill>
                  <a:srgbClr val="8A8A8A"/>
                </a:solidFill>
              </a:rPr>
              <a:t>DETERMINING</a:t>
            </a:r>
          </a:p>
        </p:txBody>
      </p:sp>
      <p:sp>
        <p:nvSpPr>
          <p:cNvPr id="12" name="TextBox 11"/>
          <p:cNvSpPr txBox="1"/>
          <p:nvPr/>
        </p:nvSpPr>
        <p:spPr>
          <a:xfrm rot="2700000">
            <a:off x="5200798" y="1838240"/>
            <a:ext cx="1737360" cy="186563"/>
          </a:xfrm>
          <a:prstGeom prst="rect">
            <a:avLst/>
          </a:prstGeom>
          <a:noFill/>
        </p:spPr>
        <p:txBody>
          <a:bodyPr wrap="square" lIns="0" rIns="0" tIns="0" bIns="0" anchor="ctr">
            <a:spAutoFit/>
          </a:bodyPr>
          <a:lstStyle/>
          <a:p>
            <a:pPr algn="ctr"/>
            <a:r>
              <a:rPr sz="850" b="1" i="0">
                <a:solidFill>
                  <a:srgbClr val="8A8A8A"/>
                </a:solidFill>
              </a:rPr>
              <a:t>KEEP ENGAGING</a:t>
            </a:r>
          </a:p>
        </p:txBody>
      </p:sp>
      <p:sp>
        <p:nvSpPr>
          <p:cNvPr id="13" name="TextBox 12"/>
          <p:cNvSpPr txBox="1"/>
          <p:nvPr/>
        </p:nvSpPr>
        <p:spPr>
          <a:xfrm rot="2700000">
            <a:off x="1382881" y="5656156"/>
            <a:ext cx="1737360" cy="186563"/>
          </a:xfrm>
          <a:prstGeom prst="rect">
            <a:avLst/>
          </a:prstGeom>
          <a:noFill/>
        </p:spPr>
        <p:txBody>
          <a:bodyPr wrap="square" lIns="0" rIns="0" tIns="0" bIns="0" anchor="ctr">
            <a:spAutoFit/>
          </a:bodyPr>
          <a:lstStyle/>
          <a:p>
            <a:pPr algn="ctr"/>
            <a:r>
              <a:rPr sz="850" b="1" i="0">
                <a:solidFill>
                  <a:srgbClr val="8A8A8A"/>
                </a:solidFill>
              </a:rPr>
              <a:t>CHURN FACTOR</a:t>
            </a:r>
          </a:p>
        </p:txBody>
      </p:sp>
      <p:sp>
        <p:nvSpPr>
          <p:cNvPr id="14" name="TextBox 13"/>
          <p:cNvSpPr txBox="1"/>
          <p:nvPr/>
        </p:nvSpPr>
        <p:spPr>
          <a:xfrm rot="18900000">
            <a:off x="5200798" y="5656156"/>
            <a:ext cx="1737360" cy="186563"/>
          </a:xfrm>
          <a:prstGeom prst="rect">
            <a:avLst/>
          </a:prstGeom>
          <a:noFill/>
        </p:spPr>
        <p:txBody>
          <a:bodyPr wrap="square" lIns="0" rIns="0" tIns="0" bIns="0" anchor="ctr">
            <a:spAutoFit/>
          </a:bodyPr>
          <a:lstStyle/>
          <a:p>
            <a:pPr algn="ctr"/>
            <a:r>
              <a:rPr sz="850" b="1" i="0">
                <a:solidFill>
                  <a:srgbClr val="8A8A8A"/>
                </a:solidFill>
              </a:rPr>
              <a:t>FRICTION FOR UX</a:t>
            </a:r>
          </a:p>
        </p:txBody>
      </p:sp>
      <p:sp>
        <p:nvSpPr>
          <p:cNvPr id="15" name="M3 disc"/>
          <p:cNvSpPr/>
          <p:nvPr/>
        </p:nvSpPr>
        <p:spPr>
          <a:xfrm>
            <a:off x="3041465" y="2680329"/>
            <a:ext cx="423574" cy="423574"/>
          </a:xfrm>
          <a:prstGeom prst="ellipse">
            <a:avLst/>
          </a:prstGeom>
          <a:solidFill>
            <a:srgbClr val="EAF3FB"/>
          </a:solidFill>
          <a:ln w="1397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4 disc"/>
          <p:cNvSpPr/>
          <p:nvPr/>
        </p:nvSpPr>
        <p:spPr>
          <a:xfrm>
            <a:off x="3538308" y="2785182"/>
            <a:ext cx="403539" cy="403539"/>
          </a:xfrm>
          <a:prstGeom prst="ellipse">
            <a:avLst/>
          </a:prstGeom>
          <a:solidFill>
            <a:srgbClr val="EAF3FB"/>
          </a:solidFill>
          <a:ln w="1397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5 disc"/>
          <p:cNvSpPr/>
          <p:nvPr/>
        </p:nvSpPr>
        <p:spPr>
          <a:xfrm>
            <a:off x="3936191" y="2996553"/>
            <a:ext cx="360143" cy="360143"/>
          </a:xfrm>
          <a:prstGeom prst="ellipse">
            <a:avLst/>
          </a:prstGeom>
          <a:solidFill>
            <a:srgbClr val="EAF3FB"/>
          </a:solidFill>
          <a:ln w="1397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M1 disc"/>
          <p:cNvSpPr/>
          <p:nvPr/>
        </p:nvSpPr>
        <p:spPr>
          <a:xfrm>
            <a:off x="4731434" y="2264932"/>
            <a:ext cx="495677" cy="495677"/>
          </a:xfrm>
          <a:prstGeom prst="ellipse">
            <a:avLst/>
          </a:prstGeom>
          <a:solidFill>
            <a:srgbClr val="EAF3FB"/>
          </a:solidFill>
          <a:ln w="1397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2 disc"/>
          <p:cNvSpPr/>
          <p:nvPr/>
        </p:nvSpPr>
        <p:spPr>
          <a:xfrm>
            <a:off x="5235581" y="2471925"/>
            <a:ext cx="461037" cy="461037"/>
          </a:xfrm>
          <a:prstGeom prst="ellipse">
            <a:avLst/>
          </a:prstGeom>
          <a:solidFill>
            <a:srgbClr val="EAF3FB"/>
          </a:solidFill>
          <a:ln w="1397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4 disc"/>
          <p:cNvSpPr/>
          <p:nvPr/>
        </p:nvSpPr>
        <p:spPr>
          <a:xfrm>
            <a:off x="2099527" y="4324262"/>
            <a:ext cx="360143" cy="360143"/>
          </a:xfrm>
          <a:prstGeom prst="ellipse">
            <a:avLst/>
          </a:prstGeom>
          <a:solidFill>
            <a:srgbClr val="FDF0EC"/>
          </a:solidFill>
          <a:ln w="13970">
            <a:solidFill>
              <a:srgbClr val="B553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2 disc"/>
          <p:cNvSpPr/>
          <p:nvPr/>
        </p:nvSpPr>
        <p:spPr>
          <a:xfrm>
            <a:off x="2520398" y="4492237"/>
            <a:ext cx="403539" cy="403539"/>
          </a:xfrm>
          <a:prstGeom prst="ellipse">
            <a:avLst/>
          </a:prstGeom>
          <a:solidFill>
            <a:srgbClr val="FDF0EC"/>
          </a:solidFill>
          <a:ln w="13970">
            <a:solidFill>
              <a:srgbClr val="B553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5 disc"/>
          <p:cNvSpPr/>
          <p:nvPr/>
        </p:nvSpPr>
        <p:spPr>
          <a:xfrm>
            <a:off x="2885919" y="4241321"/>
            <a:ext cx="336352" cy="336352"/>
          </a:xfrm>
          <a:prstGeom prst="ellipse">
            <a:avLst/>
          </a:prstGeom>
          <a:solidFill>
            <a:srgbClr val="FDF0EC"/>
          </a:solidFill>
          <a:ln w="13970">
            <a:solidFill>
              <a:srgbClr val="B553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1 disc"/>
          <p:cNvSpPr/>
          <p:nvPr/>
        </p:nvSpPr>
        <p:spPr>
          <a:xfrm>
            <a:off x="3408085" y="4662328"/>
            <a:ext cx="442702" cy="442702"/>
          </a:xfrm>
          <a:prstGeom prst="ellipse">
            <a:avLst/>
          </a:prstGeom>
          <a:solidFill>
            <a:srgbClr val="FDF0EC"/>
          </a:solidFill>
          <a:ln w="13970">
            <a:solidFill>
              <a:srgbClr val="B553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B3 disc"/>
          <p:cNvSpPr/>
          <p:nvPr/>
        </p:nvSpPr>
        <p:spPr>
          <a:xfrm>
            <a:off x="5053586" y="4407941"/>
            <a:ext cx="382457" cy="382457"/>
          </a:xfrm>
          <a:prstGeom prst="ellipse">
            <a:avLst/>
          </a:prstGeom>
          <a:solidFill>
            <a:srgbClr val="FDF0EC"/>
          </a:solidFill>
          <a:ln w="13970">
            <a:solidFill>
              <a:srgbClr val="B553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Freeform 24"/>
          <p:cNvSpPr/>
          <p:nvPr/>
        </p:nvSpPr>
        <p:spPr>
          <a:xfrm>
            <a:off x="3158710" y="2823836"/>
            <a:ext cx="94542" cy="128682"/>
          </a:xfrm>
          <a:custGeom>
            <a:avLst/>
            <a:gdLst/>
            <a:ahLst/>
            <a:cxnLst/>
            <a:rect l="l" t="t" r="r" b="b"/>
            <a:pathLst>
              <a:path w="94542" h="128682">
                <a:moveTo>
                  <a:pt x="94542" y="0"/>
                </a:moveTo>
                <a:lnTo>
                  <a:pt x="0" y="23635"/>
                </a:lnTo>
                <a:lnTo>
                  <a:pt x="0" y="128682"/>
                </a:lnTo>
                <a:lnTo>
                  <a:pt x="94542" y="107672"/>
                </a:lnTo>
                <a:close/>
              </a:path>
            </a:pathLst>
          </a:cu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Freeform 25"/>
          <p:cNvSpPr/>
          <p:nvPr/>
        </p:nvSpPr>
        <p:spPr>
          <a:xfrm>
            <a:off x="3253252" y="2823836"/>
            <a:ext cx="94542" cy="128682"/>
          </a:xfrm>
          <a:custGeom>
            <a:avLst/>
            <a:gdLst/>
            <a:ahLst/>
            <a:cxnLst/>
            <a:rect l="l" t="t" r="r" b="b"/>
            <a:pathLst>
              <a:path w="94542" h="128682">
                <a:moveTo>
                  <a:pt x="0" y="0"/>
                </a:moveTo>
                <a:lnTo>
                  <a:pt x="94542" y="23635"/>
                </a:lnTo>
                <a:lnTo>
                  <a:pt x="94542" y="128682"/>
                </a:lnTo>
                <a:lnTo>
                  <a:pt x="0" y="107672"/>
                </a:lnTo>
                <a:close/>
              </a:path>
            </a:pathLst>
          </a:cu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7" name="Connector 26"/>
          <p:cNvCxnSpPr/>
          <p:nvPr/>
        </p:nvCxnSpPr>
        <p:spPr>
          <a:xfrm>
            <a:off x="3253252" y="2823836"/>
            <a:ext cx="0" cy="107672"/>
          </a:xfrm>
          <a:prstGeom prst="line">
            <a:avLst/>
          </a:prstGeom>
          <a:ln w="13970">
            <a:solidFill>
              <a:srgbClr val="20406B"/>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662518" y="2924404"/>
            <a:ext cx="155120" cy="125097"/>
          </a:xfrm>
          <a:prstGeom prst="rect">
            <a:avLst/>
          </a:pr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9" name="Connector 28"/>
          <p:cNvCxnSpPr/>
          <p:nvPr/>
        </p:nvCxnSpPr>
        <p:spPr>
          <a:xfrm>
            <a:off x="3662518" y="2969439"/>
            <a:ext cx="155121" cy="0"/>
          </a:xfrm>
          <a:prstGeom prst="line">
            <a:avLst/>
          </a:prstGeom>
          <a:ln w="12700">
            <a:solidFill>
              <a:srgbClr val="20406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40078" y="2924404"/>
            <a:ext cx="0" cy="45035"/>
          </a:xfrm>
          <a:prstGeom prst="line">
            <a:avLst/>
          </a:prstGeom>
          <a:ln w="12700">
            <a:solidFill>
              <a:srgbClr val="20406B"/>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4038111" y="3130851"/>
            <a:ext cx="89315" cy="51356"/>
          </a:xfrm>
          <a:prstGeom prst="rect">
            <a:avLst/>
          </a:prstGeom>
          <a:solidFill>
            <a:srgbClr val="FFFFFF"/>
          </a:solidFill>
          <a:ln w="1270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106215" y="3176625"/>
            <a:ext cx="78151" cy="44657"/>
          </a:xfrm>
          <a:prstGeom prst="rect">
            <a:avLst/>
          </a:prstGeom>
          <a:solidFill>
            <a:srgbClr val="FFFFFF"/>
          </a:solidFill>
          <a:ln w="1270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Freeform 32"/>
          <p:cNvSpPr/>
          <p:nvPr/>
        </p:nvSpPr>
        <p:spPr>
          <a:xfrm>
            <a:off x="4067139" y="3182207"/>
            <a:ext cx="29028" cy="23446"/>
          </a:xfrm>
          <a:custGeom>
            <a:avLst/>
            <a:gdLst/>
            <a:ahLst/>
            <a:cxnLst/>
            <a:rect l="l" t="t" r="r" b="b"/>
            <a:pathLst>
              <a:path w="29028" h="23446">
                <a:moveTo>
                  <a:pt x="0" y="0"/>
                </a:moveTo>
                <a:lnTo>
                  <a:pt x="15630" y="23446"/>
                </a:lnTo>
                <a:lnTo>
                  <a:pt x="29028" y="0"/>
                </a:lnTo>
                <a:close/>
              </a:path>
            </a:pathLst>
          </a:custGeom>
          <a:solidFill>
            <a:srgbClr val="204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Freeform 33"/>
          <p:cNvSpPr/>
          <p:nvPr/>
        </p:nvSpPr>
        <p:spPr>
          <a:xfrm>
            <a:off x="4877858" y="2411355"/>
            <a:ext cx="202831" cy="202831"/>
          </a:xfrm>
          <a:custGeom>
            <a:avLst/>
            <a:gdLst/>
            <a:ahLst/>
            <a:cxnLst/>
            <a:rect l="l" t="t" r="r" b="b"/>
            <a:pathLst>
              <a:path w="202831" h="202831">
                <a:moveTo>
                  <a:pt x="101415" y="0"/>
                </a:moveTo>
                <a:lnTo>
                  <a:pt x="75338" y="75339"/>
                </a:lnTo>
                <a:lnTo>
                  <a:pt x="0" y="101416"/>
                </a:lnTo>
                <a:lnTo>
                  <a:pt x="75338" y="127493"/>
                </a:lnTo>
                <a:lnTo>
                  <a:pt x="101415" y="202831"/>
                </a:lnTo>
                <a:lnTo>
                  <a:pt x="127492" y="127493"/>
                </a:lnTo>
                <a:lnTo>
                  <a:pt x="202831" y="101416"/>
                </a:lnTo>
                <a:lnTo>
                  <a:pt x="127492" y="75339"/>
                </a:lnTo>
                <a:close/>
              </a:path>
            </a:pathLst>
          </a:cu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5426082" y="2619549"/>
            <a:ext cx="80036" cy="80036"/>
          </a:xfrm>
          <a:prstGeom prst="ellipse">
            <a:avLst/>
          </a:pr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Freeform 35"/>
          <p:cNvSpPr/>
          <p:nvPr/>
        </p:nvSpPr>
        <p:spPr>
          <a:xfrm>
            <a:off x="5388204" y="2691010"/>
            <a:ext cx="155791" cy="47019"/>
          </a:xfrm>
          <a:custGeom>
            <a:avLst/>
            <a:gdLst/>
            <a:ahLst/>
            <a:cxnLst/>
            <a:rect l="l" t="t" r="r" b="b"/>
            <a:pathLst>
              <a:path w="155791" h="47019">
                <a:moveTo>
                  <a:pt x="155791" y="47019"/>
                </a:moveTo>
                <a:lnTo>
                  <a:pt x="154248" y="43634"/>
                </a:lnTo>
                <a:lnTo>
                  <a:pt x="152506" y="40321"/>
                </a:lnTo>
                <a:lnTo>
                  <a:pt x="150572" y="37089"/>
                </a:lnTo>
                <a:lnTo>
                  <a:pt x="148449" y="33945"/>
                </a:lnTo>
                <a:lnTo>
                  <a:pt x="146143" y="30899"/>
                </a:lnTo>
                <a:lnTo>
                  <a:pt x="143661" y="27958"/>
                </a:lnTo>
                <a:lnTo>
                  <a:pt x="141008" y="25129"/>
                </a:lnTo>
                <a:lnTo>
                  <a:pt x="138191" y="22421"/>
                </a:lnTo>
                <a:lnTo>
                  <a:pt x="135219" y="19840"/>
                </a:lnTo>
                <a:lnTo>
                  <a:pt x="132097" y="17392"/>
                </a:lnTo>
                <a:lnTo>
                  <a:pt x="128836" y="15085"/>
                </a:lnTo>
                <a:lnTo>
                  <a:pt x="125442" y="12923"/>
                </a:lnTo>
                <a:lnTo>
                  <a:pt x="121925" y="10913"/>
                </a:lnTo>
                <a:lnTo>
                  <a:pt x="118295" y="9060"/>
                </a:lnTo>
                <a:lnTo>
                  <a:pt x="114559" y="7369"/>
                </a:lnTo>
                <a:lnTo>
                  <a:pt x="110729" y="5844"/>
                </a:lnTo>
                <a:lnTo>
                  <a:pt x="106813" y="4489"/>
                </a:lnTo>
                <a:lnTo>
                  <a:pt x="102823" y="3307"/>
                </a:lnTo>
                <a:lnTo>
                  <a:pt x="98768" y="2302"/>
                </a:lnTo>
                <a:lnTo>
                  <a:pt x="94659" y="1476"/>
                </a:lnTo>
                <a:lnTo>
                  <a:pt x="90506" y="831"/>
                </a:lnTo>
                <a:lnTo>
                  <a:pt x="86321" y="370"/>
                </a:lnTo>
                <a:lnTo>
                  <a:pt x="82114" y="92"/>
                </a:lnTo>
                <a:lnTo>
                  <a:pt x="77896" y="0"/>
                </a:lnTo>
                <a:lnTo>
                  <a:pt x="73678" y="92"/>
                </a:lnTo>
                <a:lnTo>
                  <a:pt x="69471" y="370"/>
                </a:lnTo>
                <a:lnTo>
                  <a:pt x="65286" y="831"/>
                </a:lnTo>
                <a:lnTo>
                  <a:pt x="61133" y="1476"/>
                </a:lnTo>
                <a:lnTo>
                  <a:pt x="57024" y="2302"/>
                </a:lnTo>
                <a:lnTo>
                  <a:pt x="52969" y="3307"/>
                </a:lnTo>
                <a:lnTo>
                  <a:pt x="48978" y="4489"/>
                </a:lnTo>
                <a:lnTo>
                  <a:pt x="45063" y="5844"/>
                </a:lnTo>
                <a:lnTo>
                  <a:pt x="41232" y="7369"/>
                </a:lnTo>
                <a:lnTo>
                  <a:pt x="37497" y="9060"/>
                </a:lnTo>
                <a:lnTo>
                  <a:pt x="33866" y="10913"/>
                </a:lnTo>
                <a:lnTo>
                  <a:pt x="30349" y="12923"/>
                </a:lnTo>
                <a:lnTo>
                  <a:pt x="26956" y="15085"/>
                </a:lnTo>
                <a:lnTo>
                  <a:pt x="23694" y="17392"/>
                </a:lnTo>
                <a:lnTo>
                  <a:pt x="20573" y="19840"/>
                </a:lnTo>
                <a:lnTo>
                  <a:pt x="17600" y="22421"/>
                </a:lnTo>
                <a:lnTo>
                  <a:pt x="14784" y="25129"/>
                </a:lnTo>
                <a:lnTo>
                  <a:pt x="12131" y="27958"/>
                </a:lnTo>
                <a:lnTo>
                  <a:pt x="9649" y="30899"/>
                </a:lnTo>
                <a:lnTo>
                  <a:pt x="7343" y="33945"/>
                </a:lnTo>
                <a:lnTo>
                  <a:pt x="5220" y="37089"/>
                </a:lnTo>
                <a:lnTo>
                  <a:pt x="3285" y="40321"/>
                </a:lnTo>
                <a:lnTo>
                  <a:pt x="1544" y="43634"/>
                </a:lnTo>
                <a:lnTo>
                  <a:pt x="0" y="47019"/>
                </a:lnTo>
              </a:path>
            </a:pathLst>
          </a:cu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Freeform 36"/>
          <p:cNvSpPr/>
          <p:nvPr/>
        </p:nvSpPr>
        <p:spPr>
          <a:xfrm>
            <a:off x="2210379" y="4439580"/>
            <a:ext cx="75918" cy="129508"/>
          </a:xfrm>
          <a:custGeom>
            <a:avLst/>
            <a:gdLst/>
            <a:ahLst/>
            <a:cxnLst/>
            <a:rect l="l" t="t" r="r" b="b"/>
            <a:pathLst>
              <a:path w="75918" h="129508">
                <a:moveTo>
                  <a:pt x="0" y="31261"/>
                </a:moveTo>
                <a:lnTo>
                  <a:pt x="0" y="98247"/>
                </a:lnTo>
                <a:lnTo>
                  <a:pt x="75918" y="129508"/>
                </a:lnTo>
                <a:lnTo>
                  <a:pt x="75918" y="0"/>
                </a:lnTo>
                <a:close/>
              </a:path>
            </a:pathLst>
          </a:custGeom>
          <a:no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Freeform 37"/>
          <p:cNvSpPr/>
          <p:nvPr/>
        </p:nvSpPr>
        <p:spPr>
          <a:xfrm>
            <a:off x="2303779" y="4473089"/>
            <a:ext cx="11546" cy="62489"/>
          </a:xfrm>
          <a:custGeom>
            <a:avLst/>
            <a:gdLst/>
            <a:ahLst/>
            <a:cxnLst/>
            <a:rect l="l" t="t" r="r" b="b"/>
            <a:pathLst>
              <a:path w="11546" h="62489">
                <a:moveTo>
                  <a:pt x="0" y="62489"/>
                </a:moveTo>
                <a:lnTo>
                  <a:pt x="867" y="61638"/>
                </a:lnTo>
                <a:lnTo>
                  <a:pt x="1709" y="60733"/>
                </a:lnTo>
                <a:lnTo>
                  <a:pt x="2525" y="59776"/>
                </a:lnTo>
                <a:lnTo>
                  <a:pt x="3313" y="58767"/>
                </a:lnTo>
                <a:lnTo>
                  <a:pt x="4072" y="57710"/>
                </a:lnTo>
                <a:lnTo>
                  <a:pt x="4801" y="56606"/>
                </a:lnTo>
                <a:lnTo>
                  <a:pt x="5498" y="55456"/>
                </a:lnTo>
                <a:lnTo>
                  <a:pt x="6162" y="54264"/>
                </a:lnTo>
                <a:lnTo>
                  <a:pt x="6792" y="53030"/>
                </a:lnTo>
                <a:lnTo>
                  <a:pt x="7387" y="51758"/>
                </a:lnTo>
                <a:lnTo>
                  <a:pt x="7945" y="50449"/>
                </a:lnTo>
                <a:lnTo>
                  <a:pt x="8466" y="49107"/>
                </a:lnTo>
                <a:lnTo>
                  <a:pt x="8949" y="47732"/>
                </a:lnTo>
                <a:lnTo>
                  <a:pt x="9393" y="46328"/>
                </a:lnTo>
                <a:lnTo>
                  <a:pt x="9797" y="44897"/>
                </a:lnTo>
                <a:lnTo>
                  <a:pt x="10161" y="43442"/>
                </a:lnTo>
                <a:lnTo>
                  <a:pt x="10483" y="41965"/>
                </a:lnTo>
                <a:lnTo>
                  <a:pt x="10764" y="40470"/>
                </a:lnTo>
                <a:lnTo>
                  <a:pt x="11002" y="38957"/>
                </a:lnTo>
                <a:lnTo>
                  <a:pt x="11197" y="37431"/>
                </a:lnTo>
                <a:lnTo>
                  <a:pt x="11350" y="35894"/>
                </a:lnTo>
                <a:lnTo>
                  <a:pt x="11459" y="34349"/>
                </a:lnTo>
                <a:lnTo>
                  <a:pt x="11524" y="32798"/>
                </a:lnTo>
                <a:lnTo>
                  <a:pt x="11546" y="31245"/>
                </a:lnTo>
                <a:lnTo>
                  <a:pt x="11524" y="29691"/>
                </a:lnTo>
                <a:lnTo>
                  <a:pt x="11459" y="28141"/>
                </a:lnTo>
                <a:lnTo>
                  <a:pt x="11350" y="26595"/>
                </a:lnTo>
                <a:lnTo>
                  <a:pt x="11197" y="25058"/>
                </a:lnTo>
                <a:lnTo>
                  <a:pt x="11002" y="23532"/>
                </a:lnTo>
                <a:lnTo>
                  <a:pt x="10764" y="22020"/>
                </a:lnTo>
                <a:lnTo>
                  <a:pt x="10483" y="20524"/>
                </a:lnTo>
                <a:lnTo>
                  <a:pt x="10161" y="19048"/>
                </a:lnTo>
                <a:lnTo>
                  <a:pt x="9797" y="17593"/>
                </a:lnTo>
                <a:lnTo>
                  <a:pt x="9393" y="16162"/>
                </a:lnTo>
                <a:lnTo>
                  <a:pt x="8949" y="14758"/>
                </a:lnTo>
                <a:lnTo>
                  <a:pt x="8466" y="13383"/>
                </a:lnTo>
                <a:lnTo>
                  <a:pt x="7945" y="12040"/>
                </a:lnTo>
                <a:lnTo>
                  <a:pt x="7387" y="10732"/>
                </a:lnTo>
                <a:lnTo>
                  <a:pt x="6792" y="9459"/>
                </a:lnTo>
                <a:lnTo>
                  <a:pt x="6162" y="8226"/>
                </a:lnTo>
                <a:lnTo>
                  <a:pt x="5498" y="7033"/>
                </a:lnTo>
                <a:lnTo>
                  <a:pt x="4801" y="5884"/>
                </a:lnTo>
                <a:lnTo>
                  <a:pt x="4072" y="4780"/>
                </a:lnTo>
                <a:lnTo>
                  <a:pt x="3313" y="3722"/>
                </a:lnTo>
                <a:lnTo>
                  <a:pt x="2525" y="2714"/>
                </a:lnTo>
                <a:lnTo>
                  <a:pt x="1709" y="1757"/>
                </a:lnTo>
                <a:lnTo>
                  <a:pt x="867" y="852"/>
                </a:lnTo>
                <a:lnTo>
                  <a:pt x="0" y="0"/>
                </a:lnTo>
              </a:path>
            </a:pathLst>
          </a:custGeom>
          <a:noFill/>
          <a:ln w="1270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Freeform 38"/>
          <p:cNvSpPr/>
          <p:nvPr/>
        </p:nvSpPr>
        <p:spPr>
          <a:xfrm>
            <a:off x="2313837" y="4448946"/>
            <a:ext cx="20468" cy="110776"/>
          </a:xfrm>
          <a:custGeom>
            <a:avLst/>
            <a:gdLst/>
            <a:ahLst/>
            <a:cxnLst/>
            <a:rect l="l" t="t" r="r" b="b"/>
            <a:pathLst>
              <a:path w="20468" h="110776">
                <a:moveTo>
                  <a:pt x="0" y="110776"/>
                </a:moveTo>
                <a:lnTo>
                  <a:pt x="1536" y="109267"/>
                </a:lnTo>
                <a:lnTo>
                  <a:pt x="3029" y="107663"/>
                </a:lnTo>
                <a:lnTo>
                  <a:pt x="4475" y="105965"/>
                </a:lnTo>
                <a:lnTo>
                  <a:pt x="5872" y="104178"/>
                </a:lnTo>
                <a:lnTo>
                  <a:pt x="7218" y="102303"/>
                </a:lnTo>
                <a:lnTo>
                  <a:pt x="8510" y="100346"/>
                </a:lnTo>
                <a:lnTo>
                  <a:pt x="9746" y="98308"/>
                </a:lnTo>
                <a:lnTo>
                  <a:pt x="10923" y="96194"/>
                </a:lnTo>
                <a:lnTo>
                  <a:pt x="12040" y="94008"/>
                </a:lnTo>
                <a:lnTo>
                  <a:pt x="13094" y="91752"/>
                </a:lnTo>
                <a:lnTo>
                  <a:pt x="14084" y="89432"/>
                </a:lnTo>
                <a:lnTo>
                  <a:pt x="15008" y="87052"/>
                </a:lnTo>
                <a:lnTo>
                  <a:pt x="15865" y="84615"/>
                </a:lnTo>
                <a:lnTo>
                  <a:pt x="16652" y="82126"/>
                </a:lnTo>
                <a:lnTo>
                  <a:pt x="17368" y="79590"/>
                </a:lnTo>
                <a:lnTo>
                  <a:pt x="18012" y="77010"/>
                </a:lnTo>
                <a:lnTo>
                  <a:pt x="18583" y="74392"/>
                </a:lnTo>
                <a:lnTo>
                  <a:pt x="19081" y="71741"/>
                </a:lnTo>
                <a:lnTo>
                  <a:pt x="19503" y="69060"/>
                </a:lnTo>
                <a:lnTo>
                  <a:pt x="19849" y="66355"/>
                </a:lnTo>
                <a:lnTo>
                  <a:pt x="20119" y="63630"/>
                </a:lnTo>
                <a:lnTo>
                  <a:pt x="20313" y="60891"/>
                </a:lnTo>
                <a:lnTo>
                  <a:pt x="20429" y="58142"/>
                </a:lnTo>
                <a:lnTo>
                  <a:pt x="20468" y="55388"/>
                </a:lnTo>
                <a:lnTo>
                  <a:pt x="20429" y="52634"/>
                </a:lnTo>
                <a:lnTo>
                  <a:pt x="20313" y="49885"/>
                </a:lnTo>
                <a:lnTo>
                  <a:pt x="20119" y="47146"/>
                </a:lnTo>
                <a:lnTo>
                  <a:pt x="19849" y="44421"/>
                </a:lnTo>
                <a:lnTo>
                  <a:pt x="19503" y="41716"/>
                </a:lnTo>
                <a:lnTo>
                  <a:pt x="19081" y="39035"/>
                </a:lnTo>
                <a:lnTo>
                  <a:pt x="18583" y="36383"/>
                </a:lnTo>
                <a:lnTo>
                  <a:pt x="18012" y="33765"/>
                </a:lnTo>
                <a:lnTo>
                  <a:pt x="17368" y="31186"/>
                </a:lnTo>
                <a:lnTo>
                  <a:pt x="16652" y="28650"/>
                </a:lnTo>
                <a:lnTo>
                  <a:pt x="15865" y="26161"/>
                </a:lnTo>
                <a:lnTo>
                  <a:pt x="15008" y="23724"/>
                </a:lnTo>
                <a:lnTo>
                  <a:pt x="14084" y="21343"/>
                </a:lnTo>
                <a:lnTo>
                  <a:pt x="13094" y="19023"/>
                </a:lnTo>
                <a:lnTo>
                  <a:pt x="12040" y="16768"/>
                </a:lnTo>
                <a:lnTo>
                  <a:pt x="10923" y="14582"/>
                </a:lnTo>
                <a:lnTo>
                  <a:pt x="9746" y="12468"/>
                </a:lnTo>
                <a:lnTo>
                  <a:pt x="8510" y="10430"/>
                </a:lnTo>
                <a:lnTo>
                  <a:pt x="7218" y="8472"/>
                </a:lnTo>
                <a:lnTo>
                  <a:pt x="5872" y="6598"/>
                </a:lnTo>
                <a:lnTo>
                  <a:pt x="4475" y="4811"/>
                </a:lnTo>
                <a:lnTo>
                  <a:pt x="3029" y="3113"/>
                </a:lnTo>
                <a:lnTo>
                  <a:pt x="1536" y="1509"/>
                </a:lnTo>
                <a:lnTo>
                  <a:pt x="0" y="0"/>
                </a:lnTo>
              </a:path>
            </a:pathLst>
          </a:custGeom>
          <a:noFill/>
          <a:ln w="1270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657118" y="4628956"/>
            <a:ext cx="130101" cy="130101"/>
          </a:xfrm>
          <a:prstGeom prst="rect">
            <a:avLst/>
          </a:prstGeom>
          <a:no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2762199" y="4668987"/>
            <a:ext cx="50038" cy="50038"/>
          </a:xfrm>
          <a:prstGeom prst="ellipse">
            <a:avLst/>
          </a:prstGeom>
          <a:solidFill>
            <a:srgbClr val="FFFFFF"/>
          </a:solid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2697149" y="4603936"/>
            <a:ext cx="50038" cy="50038"/>
          </a:xfrm>
          <a:prstGeom prst="ellipse">
            <a:avLst/>
          </a:prstGeom>
          <a:solidFill>
            <a:srgbClr val="FFFFFF"/>
          </a:solid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Freeform 42"/>
          <p:cNvSpPr/>
          <p:nvPr/>
        </p:nvSpPr>
        <p:spPr>
          <a:xfrm>
            <a:off x="3004046" y="4351107"/>
            <a:ext cx="102184" cy="116781"/>
          </a:xfrm>
          <a:custGeom>
            <a:avLst/>
            <a:gdLst/>
            <a:ahLst/>
            <a:cxnLst/>
            <a:rect l="l" t="t" r="r" b="b"/>
            <a:pathLst>
              <a:path w="102184" h="116781">
                <a:moveTo>
                  <a:pt x="0" y="0"/>
                </a:moveTo>
                <a:lnTo>
                  <a:pt x="72989" y="0"/>
                </a:lnTo>
                <a:lnTo>
                  <a:pt x="102184" y="31281"/>
                </a:lnTo>
                <a:lnTo>
                  <a:pt x="102184" y="116781"/>
                </a:lnTo>
                <a:lnTo>
                  <a:pt x="0" y="116781"/>
                </a:lnTo>
                <a:close/>
              </a:path>
            </a:pathLst>
          </a:custGeom>
          <a:no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4" name="Connector 43"/>
          <p:cNvCxnSpPr/>
          <p:nvPr/>
        </p:nvCxnSpPr>
        <p:spPr>
          <a:xfrm>
            <a:off x="3024900" y="4403241"/>
            <a:ext cx="58391" cy="0"/>
          </a:xfrm>
          <a:prstGeom prst="line">
            <a:avLst/>
          </a:prstGeom>
          <a:ln w="11430">
            <a:solidFill>
              <a:srgbClr val="8A3A25"/>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024900" y="4426181"/>
            <a:ext cx="47964" cy="0"/>
          </a:xfrm>
          <a:prstGeom prst="line">
            <a:avLst/>
          </a:prstGeom>
          <a:ln w="11430">
            <a:solidFill>
              <a:srgbClr val="8A3A25"/>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024900" y="4449120"/>
            <a:ext cx="37537" cy="0"/>
          </a:xfrm>
          <a:prstGeom prst="line">
            <a:avLst/>
          </a:prstGeom>
          <a:ln w="11430">
            <a:solidFill>
              <a:srgbClr val="8A3A25"/>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3566307" y="4806826"/>
            <a:ext cx="126258" cy="76853"/>
          </a:xfrm>
          <a:custGeom>
            <a:avLst/>
            <a:gdLst/>
            <a:ahLst/>
            <a:cxnLst/>
            <a:rect l="l" t="t" r="r" b="b"/>
            <a:pathLst>
              <a:path w="126258" h="76853">
                <a:moveTo>
                  <a:pt x="0" y="0"/>
                </a:moveTo>
                <a:lnTo>
                  <a:pt x="126258" y="0"/>
                </a:lnTo>
                <a:lnTo>
                  <a:pt x="63129" y="76853"/>
                </a:lnTo>
                <a:close/>
              </a:path>
            </a:pathLst>
          </a:custGeom>
          <a:solidFill>
            <a:srgbClr val="8A3A25"/>
          </a:solidFill>
          <a:ln w="1270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Freeform 47"/>
          <p:cNvSpPr/>
          <p:nvPr/>
        </p:nvSpPr>
        <p:spPr>
          <a:xfrm>
            <a:off x="3566307" y="4883679"/>
            <a:ext cx="126258" cy="76853"/>
          </a:xfrm>
          <a:custGeom>
            <a:avLst/>
            <a:gdLst/>
            <a:ahLst/>
            <a:cxnLst/>
            <a:rect l="l" t="t" r="r" b="b"/>
            <a:pathLst>
              <a:path w="126258" h="76853">
                <a:moveTo>
                  <a:pt x="0" y="76853"/>
                </a:moveTo>
                <a:lnTo>
                  <a:pt x="126258" y="76853"/>
                </a:lnTo>
                <a:lnTo>
                  <a:pt x="63129" y="0"/>
                </a:lnTo>
                <a:close/>
              </a:path>
            </a:pathLst>
          </a:custGeom>
          <a:noFill/>
          <a:ln w="1270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9" name="Connector 48"/>
          <p:cNvCxnSpPr/>
          <p:nvPr/>
        </p:nvCxnSpPr>
        <p:spPr>
          <a:xfrm>
            <a:off x="3555328" y="4801337"/>
            <a:ext cx="148216" cy="0"/>
          </a:xfrm>
          <a:prstGeom prst="line">
            <a:avLst/>
          </a:prstGeom>
          <a:ln w="15240">
            <a:solidFill>
              <a:srgbClr val="8A3A25"/>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555328" y="4966022"/>
            <a:ext cx="148216" cy="0"/>
          </a:xfrm>
          <a:prstGeom prst="line">
            <a:avLst/>
          </a:prstGeom>
          <a:ln w="15240">
            <a:solidFill>
              <a:srgbClr val="8A3A2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171307" y="4528033"/>
            <a:ext cx="147016" cy="94849"/>
          </a:xfrm>
          <a:prstGeom prst="rect">
            <a:avLst/>
          </a:prstGeom>
          <a:no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2" name="Connector 51"/>
          <p:cNvCxnSpPr/>
          <p:nvPr/>
        </p:nvCxnSpPr>
        <p:spPr>
          <a:xfrm>
            <a:off x="5171307" y="4554117"/>
            <a:ext cx="147016" cy="0"/>
          </a:xfrm>
          <a:prstGeom prst="line">
            <a:avLst/>
          </a:prstGeom>
          <a:ln w="11430">
            <a:solidFill>
              <a:srgbClr val="8A3A25"/>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244815" y="4622883"/>
            <a:ext cx="0" cy="28455"/>
          </a:xfrm>
          <a:prstGeom prst="line">
            <a:avLst/>
          </a:prstGeom>
          <a:ln w="13970">
            <a:solidFill>
              <a:srgbClr val="8A3A25"/>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204504" y="4651338"/>
            <a:ext cx="80622" cy="0"/>
          </a:xfrm>
          <a:prstGeom prst="line">
            <a:avLst/>
          </a:prstGeom>
          <a:ln w="15240">
            <a:solidFill>
              <a:srgbClr val="8A3A25"/>
            </a:solidFill>
          </a:ln>
        </p:spPr>
        <p:style>
          <a:lnRef idx="2">
            <a:schemeClr val="accent1"/>
          </a:lnRef>
          <a:fillRef idx="0">
            <a:schemeClr val="accent1"/>
          </a:fillRef>
          <a:effectRef idx="1">
            <a:schemeClr val="accent1"/>
          </a:effectRef>
          <a:fontRef idx="minor">
            <a:schemeClr val="tx1"/>
          </a:fontRef>
        </p:style>
      </p:cxnSp>
      <p:sp>
        <p:nvSpPr>
          <p:cNvPr id="55" name="Freeform 54"/>
          <p:cNvSpPr/>
          <p:nvPr/>
        </p:nvSpPr>
        <p:spPr>
          <a:xfrm>
            <a:off x="3041465" y="2680329"/>
            <a:ext cx="423574" cy="211787"/>
          </a:xfrm>
          <a:custGeom>
            <a:avLst/>
            <a:gdLst/>
            <a:ahLst/>
            <a:cxnLst/>
            <a:rect l="l" t="t" r="r" b="b"/>
            <a:pathLst>
              <a:path w="423574" h="211787">
                <a:moveTo>
                  <a:pt x="423574" y="211787"/>
                </a:moveTo>
                <a:lnTo>
                  <a:pt x="423120" y="197936"/>
                </a:lnTo>
                <a:lnTo>
                  <a:pt x="421762" y="184143"/>
                </a:lnTo>
                <a:lnTo>
                  <a:pt x="419504" y="170469"/>
                </a:lnTo>
                <a:lnTo>
                  <a:pt x="416357" y="156973"/>
                </a:lnTo>
                <a:lnTo>
                  <a:pt x="412334" y="143710"/>
                </a:lnTo>
                <a:lnTo>
                  <a:pt x="407453" y="130740"/>
                </a:lnTo>
                <a:lnTo>
                  <a:pt x="401733" y="118116"/>
                </a:lnTo>
                <a:lnTo>
                  <a:pt x="395200" y="105894"/>
                </a:lnTo>
                <a:lnTo>
                  <a:pt x="387881" y="94125"/>
                </a:lnTo>
                <a:lnTo>
                  <a:pt x="379809" y="82859"/>
                </a:lnTo>
                <a:lnTo>
                  <a:pt x="371017" y="72146"/>
                </a:lnTo>
                <a:lnTo>
                  <a:pt x="361543" y="62031"/>
                </a:lnTo>
                <a:lnTo>
                  <a:pt x="351428" y="52557"/>
                </a:lnTo>
                <a:lnTo>
                  <a:pt x="340715" y="43765"/>
                </a:lnTo>
                <a:lnTo>
                  <a:pt x="329449" y="35693"/>
                </a:lnTo>
                <a:lnTo>
                  <a:pt x="317680" y="28374"/>
                </a:lnTo>
                <a:lnTo>
                  <a:pt x="305458" y="21841"/>
                </a:lnTo>
                <a:lnTo>
                  <a:pt x="292834" y="16121"/>
                </a:lnTo>
                <a:lnTo>
                  <a:pt x="279864" y="11240"/>
                </a:lnTo>
                <a:lnTo>
                  <a:pt x="266601" y="7217"/>
                </a:lnTo>
                <a:lnTo>
                  <a:pt x="253104" y="4069"/>
                </a:lnTo>
                <a:lnTo>
                  <a:pt x="239431" y="1812"/>
                </a:lnTo>
                <a:lnTo>
                  <a:pt x="225638" y="454"/>
                </a:lnTo>
                <a:lnTo>
                  <a:pt x="211787" y="0"/>
                </a:lnTo>
                <a:lnTo>
                  <a:pt x="197935" y="454"/>
                </a:lnTo>
                <a:lnTo>
                  <a:pt x="184143" y="1812"/>
                </a:lnTo>
                <a:lnTo>
                  <a:pt x="170469" y="4069"/>
                </a:lnTo>
                <a:lnTo>
                  <a:pt x="156972" y="7217"/>
                </a:lnTo>
                <a:lnTo>
                  <a:pt x="143710" y="11240"/>
                </a:lnTo>
                <a:lnTo>
                  <a:pt x="130739" y="16121"/>
                </a:lnTo>
                <a:lnTo>
                  <a:pt x="118116" y="21841"/>
                </a:lnTo>
                <a:lnTo>
                  <a:pt x="105893" y="28374"/>
                </a:lnTo>
                <a:lnTo>
                  <a:pt x="94124" y="35693"/>
                </a:lnTo>
                <a:lnTo>
                  <a:pt x="82859" y="43765"/>
                </a:lnTo>
                <a:lnTo>
                  <a:pt x="72146" y="52557"/>
                </a:lnTo>
                <a:lnTo>
                  <a:pt x="62031" y="62031"/>
                </a:lnTo>
                <a:lnTo>
                  <a:pt x="52557" y="72146"/>
                </a:lnTo>
                <a:lnTo>
                  <a:pt x="43765" y="82859"/>
                </a:lnTo>
                <a:lnTo>
                  <a:pt x="35692" y="94125"/>
                </a:lnTo>
                <a:lnTo>
                  <a:pt x="28374" y="105894"/>
                </a:lnTo>
                <a:lnTo>
                  <a:pt x="21841" y="118116"/>
                </a:lnTo>
                <a:lnTo>
                  <a:pt x="16121" y="130740"/>
                </a:lnTo>
                <a:lnTo>
                  <a:pt x="11239" y="143710"/>
                </a:lnTo>
                <a:lnTo>
                  <a:pt x="7216" y="156973"/>
                </a:lnTo>
                <a:lnTo>
                  <a:pt x="4069" y="170469"/>
                </a:lnTo>
                <a:lnTo>
                  <a:pt x="1812" y="184143"/>
                </a:lnTo>
                <a:lnTo>
                  <a:pt x="453" y="197936"/>
                </a:lnTo>
                <a:lnTo>
                  <a:pt x="0" y="211787"/>
                </a:lnTo>
                <a:lnTo>
                  <a:pt x="53108" y="211787"/>
                </a:lnTo>
                <a:lnTo>
                  <a:pt x="53448" y="201409"/>
                </a:lnTo>
                <a:lnTo>
                  <a:pt x="54466" y="191075"/>
                </a:lnTo>
                <a:lnTo>
                  <a:pt x="56157" y="180830"/>
                </a:lnTo>
                <a:lnTo>
                  <a:pt x="58515" y="170718"/>
                </a:lnTo>
                <a:lnTo>
                  <a:pt x="61529" y="160781"/>
                </a:lnTo>
                <a:lnTo>
                  <a:pt x="65187" y="151063"/>
                </a:lnTo>
                <a:lnTo>
                  <a:pt x="69472" y="141605"/>
                </a:lnTo>
                <a:lnTo>
                  <a:pt x="74367" y="132448"/>
                </a:lnTo>
                <a:lnTo>
                  <a:pt x="79850" y="123630"/>
                </a:lnTo>
                <a:lnTo>
                  <a:pt x="85899" y="115190"/>
                </a:lnTo>
                <a:lnTo>
                  <a:pt x="92486" y="107163"/>
                </a:lnTo>
                <a:lnTo>
                  <a:pt x="99584" y="99584"/>
                </a:lnTo>
                <a:lnTo>
                  <a:pt x="107163" y="92486"/>
                </a:lnTo>
                <a:lnTo>
                  <a:pt x="115189" y="85899"/>
                </a:lnTo>
                <a:lnTo>
                  <a:pt x="123630" y="79851"/>
                </a:lnTo>
                <a:lnTo>
                  <a:pt x="132447" y="74367"/>
                </a:lnTo>
                <a:lnTo>
                  <a:pt x="141605" y="69473"/>
                </a:lnTo>
                <a:lnTo>
                  <a:pt x="151063" y="65187"/>
                </a:lnTo>
                <a:lnTo>
                  <a:pt x="160781" y="61529"/>
                </a:lnTo>
                <a:lnTo>
                  <a:pt x="170718" y="58515"/>
                </a:lnTo>
                <a:lnTo>
                  <a:pt x="180830" y="56157"/>
                </a:lnTo>
                <a:lnTo>
                  <a:pt x="191075" y="54466"/>
                </a:lnTo>
                <a:lnTo>
                  <a:pt x="201409" y="53448"/>
                </a:lnTo>
                <a:lnTo>
                  <a:pt x="211787" y="53108"/>
                </a:lnTo>
                <a:lnTo>
                  <a:pt x="222165" y="53448"/>
                </a:lnTo>
                <a:lnTo>
                  <a:pt x="232499" y="54466"/>
                </a:lnTo>
                <a:lnTo>
                  <a:pt x="242743" y="56157"/>
                </a:lnTo>
                <a:lnTo>
                  <a:pt x="252856" y="58515"/>
                </a:lnTo>
                <a:lnTo>
                  <a:pt x="262792" y="61529"/>
                </a:lnTo>
                <a:lnTo>
                  <a:pt x="272511" y="65187"/>
                </a:lnTo>
                <a:lnTo>
                  <a:pt x="281969" y="69473"/>
                </a:lnTo>
                <a:lnTo>
                  <a:pt x="291126" y="74367"/>
                </a:lnTo>
                <a:lnTo>
                  <a:pt x="299944" y="79851"/>
                </a:lnTo>
                <a:lnTo>
                  <a:pt x="308384" y="85899"/>
                </a:lnTo>
                <a:lnTo>
                  <a:pt x="316411" y="92486"/>
                </a:lnTo>
                <a:lnTo>
                  <a:pt x="323990" y="99584"/>
                </a:lnTo>
                <a:lnTo>
                  <a:pt x="331088" y="107163"/>
                </a:lnTo>
                <a:lnTo>
                  <a:pt x="337675" y="115190"/>
                </a:lnTo>
                <a:lnTo>
                  <a:pt x="343723" y="123630"/>
                </a:lnTo>
                <a:lnTo>
                  <a:pt x="349207" y="132448"/>
                </a:lnTo>
                <a:lnTo>
                  <a:pt x="354101" y="141605"/>
                </a:lnTo>
                <a:lnTo>
                  <a:pt x="358387" y="151063"/>
                </a:lnTo>
                <a:lnTo>
                  <a:pt x="362044" y="160781"/>
                </a:lnTo>
                <a:lnTo>
                  <a:pt x="365059" y="170718"/>
                </a:lnTo>
                <a:lnTo>
                  <a:pt x="367417" y="180830"/>
                </a:lnTo>
                <a:lnTo>
                  <a:pt x="369108" y="191075"/>
                </a:lnTo>
                <a:lnTo>
                  <a:pt x="370126" y="201409"/>
                </a:lnTo>
                <a:lnTo>
                  <a:pt x="370465" y="211787"/>
                </a:lnTo>
                <a:close/>
              </a:path>
            </a:pathLst>
          </a:cu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Freeform 55"/>
          <p:cNvSpPr/>
          <p:nvPr/>
        </p:nvSpPr>
        <p:spPr>
          <a:xfrm>
            <a:off x="3041465" y="2892116"/>
            <a:ext cx="423574" cy="211787"/>
          </a:xfrm>
          <a:custGeom>
            <a:avLst/>
            <a:gdLst/>
            <a:ahLst/>
            <a:cxnLst/>
            <a:rect l="l" t="t" r="r" b="b"/>
            <a:pathLst>
              <a:path w="423574" h="211787">
                <a:moveTo>
                  <a:pt x="0" y="0"/>
                </a:moveTo>
                <a:lnTo>
                  <a:pt x="453" y="13852"/>
                </a:lnTo>
                <a:lnTo>
                  <a:pt x="1812" y="27644"/>
                </a:lnTo>
                <a:lnTo>
                  <a:pt x="4069" y="41318"/>
                </a:lnTo>
                <a:lnTo>
                  <a:pt x="7216" y="54815"/>
                </a:lnTo>
                <a:lnTo>
                  <a:pt x="11239" y="68077"/>
                </a:lnTo>
                <a:lnTo>
                  <a:pt x="16121" y="81047"/>
                </a:lnTo>
                <a:lnTo>
                  <a:pt x="21841" y="93671"/>
                </a:lnTo>
                <a:lnTo>
                  <a:pt x="28374" y="105894"/>
                </a:lnTo>
                <a:lnTo>
                  <a:pt x="35692" y="117663"/>
                </a:lnTo>
                <a:lnTo>
                  <a:pt x="43765" y="128928"/>
                </a:lnTo>
                <a:lnTo>
                  <a:pt x="52557" y="139641"/>
                </a:lnTo>
                <a:lnTo>
                  <a:pt x="62031" y="149756"/>
                </a:lnTo>
                <a:lnTo>
                  <a:pt x="72146" y="159230"/>
                </a:lnTo>
                <a:lnTo>
                  <a:pt x="82859" y="168022"/>
                </a:lnTo>
                <a:lnTo>
                  <a:pt x="94124" y="176095"/>
                </a:lnTo>
                <a:lnTo>
                  <a:pt x="105893" y="183413"/>
                </a:lnTo>
                <a:lnTo>
                  <a:pt x="118116" y="189946"/>
                </a:lnTo>
                <a:lnTo>
                  <a:pt x="130739" y="195666"/>
                </a:lnTo>
                <a:lnTo>
                  <a:pt x="143710" y="200548"/>
                </a:lnTo>
                <a:lnTo>
                  <a:pt x="156972" y="204571"/>
                </a:lnTo>
                <a:lnTo>
                  <a:pt x="170469" y="207718"/>
                </a:lnTo>
                <a:lnTo>
                  <a:pt x="184143" y="209975"/>
                </a:lnTo>
                <a:lnTo>
                  <a:pt x="197935" y="211334"/>
                </a:lnTo>
                <a:lnTo>
                  <a:pt x="211787" y="211787"/>
                </a:lnTo>
                <a:lnTo>
                  <a:pt x="225638" y="211334"/>
                </a:lnTo>
                <a:lnTo>
                  <a:pt x="239431" y="209975"/>
                </a:lnTo>
                <a:lnTo>
                  <a:pt x="253104" y="207718"/>
                </a:lnTo>
                <a:lnTo>
                  <a:pt x="266601" y="204571"/>
                </a:lnTo>
                <a:lnTo>
                  <a:pt x="279864" y="200548"/>
                </a:lnTo>
                <a:lnTo>
                  <a:pt x="292834" y="195666"/>
                </a:lnTo>
                <a:lnTo>
                  <a:pt x="305458" y="189946"/>
                </a:lnTo>
                <a:lnTo>
                  <a:pt x="317680" y="183413"/>
                </a:lnTo>
                <a:lnTo>
                  <a:pt x="329449" y="176095"/>
                </a:lnTo>
                <a:lnTo>
                  <a:pt x="340715" y="168022"/>
                </a:lnTo>
                <a:lnTo>
                  <a:pt x="351428" y="159230"/>
                </a:lnTo>
                <a:lnTo>
                  <a:pt x="361543" y="149756"/>
                </a:lnTo>
                <a:lnTo>
                  <a:pt x="371017" y="139641"/>
                </a:lnTo>
                <a:lnTo>
                  <a:pt x="379809" y="128928"/>
                </a:lnTo>
                <a:lnTo>
                  <a:pt x="387881" y="117663"/>
                </a:lnTo>
                <a:lnTo>
                  <a:pt x="395200" y="105894"/>
                </a:lnTo>
                <a:lnTo>
                  <a:pt x="401733" y="93671"/>
                </a:lnTo>
                <a:lnTo>
                  <a:pt x="407453" y="81047"/>
                </a:lnTo>
                <a:lnTo>
                  <a:pt x="412334" y="68077"/>
                </a:lnTo>
                <a:lnTo>
                  <a:pt x="416357" y="54815"/>
                </a:lnTo>
                <a:lnTo>
                  <a:pt x="419504" y="41318"/>
                </a:lnTo>
                <a:lnTo>
                  <a:pt x="421762" y="27644"/>
                </a:lnTo>
                <a:lnTo>
                  <a:pt x="423120" y="13852"/>
                </a:lnTo>
                <a:lnTo>
                  <a:pt x="423574" y="0"/>
                </a:lnTo>
                <a:lnTo>
                  <a:pt x="370465" y="0"/>
                </a:lnTo>
                <a:lnTo>
                  <a:pt x="370126" y="10378"/>
                </a:lnTo>
                <a:lnTo>
                  <a:pt x="369108" y="20712"/>
                </a:lnTo>
                <a:lnTo>
                  <a:pt x="367417" y="30957"/>
                </a:lnTo>
                <a:lnTo>
                  <a:pt x="365059" y="41069"/>
                </a:lnTo>
                <a:lnTo>
                  <a:pt x="362044" y="51006"/>
                </a:lnTo>
                <a:lnTo>
                  <a:pt x="358387" y="60724"/>
                </a:lnTo>
                <a:lnTo>
                  <a:pt x="354101" y="70182"/>
                </a:lnTo>
                <a:lnTo>
                  <a:pt x="349207" y="79339"/>
                </a:lnTo>
                <a:lnTo>
                  <a:pt x="343723" y="88157"/>
                </a:lnTo>
                <a:lnTo>
                  <a:pt x="337675" y="96598"/>
                </a:lnTo>
                <a:lnTo>
                  <a:pt x="331088" y="104624"/>
                </a:lnTo>
                <a:lnTo>
                  <a:pt x="323990" y="112203"/>
                </a:lnTo>
                <a:lnTo>
                  <a:pt x="316411" y="119301"/>
                </a:lnTo>
                <a:lnTo>
                  <a:pt x="308384" y="125888"/>
                </a:lnTo>
                <a:lnTo>
                  <a:pt x="299944" y="131937"/>
                </a:lnTo>
                <a:lnTo>
                  <a:pt x="291126" y="137420"/>
                </a:lnTo>
                <a:lnTo>
                  <a:pt x="281969" y="142315"/>
                </a:lnTo>
                <a:lnTo>
                  <a:pt x="272511" y="146600"/>
                </a:lnTo>
                <a:lnTo>
                  <a:pt x="262792" y="150258"/>
                </a:lnTo>
                <a:lnTo>
                  <a:pt x="252856" y="153272"/>
                </a:lnTo>
                <a:lnTo>
                  <a:pt x="242743" y="155630"/>
                </a:lnTo>
                <a:lnTo>
                  <a:pt x="232499" y="157321"/>
                </a:lnTo>
                <a:lnTo>
                  <a:pt x="222165" y="158339"/>
                </a:lnTo>
                <a:lnTo>
                  <a:pt x="211787" y="158679"/>
                </a:lnTo>
                <a:lnTo>
                  <a:pt x="201409" y="158339"/>
                </a:lnTo>
                <a:lnTo>
                  <a:pt x="191075" y="157321"/>
                </a:lnTo>
                <a:lnTo>
                  <a:pt x="180830" y="155630"/>
                </a:lnTo>
                <a:lnTo>
                  <a:pt x="170718" y="153272"/>
                </a:lnTo>
                <a:lnTo>
                  <a:pt x="160781" y="150258"/>
                </a:lnTo>
                <a:lnTo>
                  <a:pt x="151063" y="146600"/>
                </a:lnTo>
                <a:lnTo>
                  <a:pt x="141605" y="142315"/>
                </a:lnTo>
                <a:lnTo>
                  <a:pt x="132447" y="137420"/>
                </a:lnTo>
                <a:lnTo>
                  <a:pt x="123630" y="131937"/>
                </a:lnTo>
                <a:lnTo>
                  <a:pt x="115189" y="125888"/>
                </a:lnTo>
                <a:lnTo>
                  <a:pt x="107163" y="119301"/>
                </a:lnTo>
                <a:lnTo>
                  <a:pt x="99584" y="112203"/>
                </a:lnTo>
                <a:lnTo>
                  <a:pt x="92486" y="104624"/>
                </a:lnTo>
                <a:lnTo>
                  <a:pt x="85899" y="96598"/>
                </a:lnTo>
                <a:lnTo>
                  <a:pt x="79850" y="88157"/>
                </a:lnTo>
                <a:lnTo>
                  <a:pt x="74367" y="79339"/>
                </a:lnTo>
                <a:lnTo>
                  <a:pt x="69472" y="70182"/>
                </a:lnTo>
                <a:lnTo>
                  <a:pt x="65187" y="60724"/>
                </a:lnTo>
                <a:lnTo>
                  <a:pt x="61529" y="51006"/>
                </a:lnTo>
                <a:lnTo>
                  <a:pt x="58515" y="41069"/>
                </a:lnTo>
                <a:lnTo>
                  <a:pt x="56157" y="30957"/>
                </a:lnTo>
                <a:lnTo>
                  <a:pt x="54466" y="20712"/>
                </a:lnTo>
                <a:lnTo>
                  <a:pt x="53448" y="10378"/>
                </a:lnTo>
                <a:lnTo>
                  <a:pt x="53108" y="0"/>
                </a:lnTo>
                <a:close/>
              </a:path>
            </a:pathLst>
          </a:cu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Freeform 56"/>
          <p:cNvSpPr/>
          <p:nvPr/>
        </p:nvSpPr>
        <p:spPr>
          <a:xfrm>
            <a:off x="3538308" y="2785182"/>
            <a:ext cx="403540" cy="201770"/>
          </a:xfrm>
          <a:custGeom>
            <a:avLst/>
            <a:gdLst/>
            <a:ahLst/>
            <a:cxnLst/>
            <a:rect l="l" t="t" r="r" b="b"/>
            <a:pathLst>
              <a:path w="403540" h="201770">
                <a:moveTo>
                  <a:pt x="403540" y="201770"/>
                </a:moveTo>
                <a:lnTo>
                  <a:pt x="403108" y="188574"/>
                </a:lnTo>
                <a:lnTo>
                  <a:pt x="401814" y="175434"/>
                </a:lnTo>
                <a:lnTo>
                  <a:pt x="399663" y="162407"/>
                </a:lnTo>
                <a:lnTo>
                  <a:pt x="396665" y="149548"/>
                </a:lnTo>
                <a:lnTo>
                  <a:pt x="392832" y="136914"/>
                </a:lnTo>
                <a:lnTo>
                  <a:pt x="388182" y="124556"/>
                </a:lnTo>
                <a:lnTo>
                  <a:pt x="382732" y="112530"/>
                </a:lnTo>
                <a:lnTo>
                  <a:pt x="376508" y="100885"/>
                </a:lnTo>
                <a:lnTo>
                  <a:pt x="369536" y="89673"/>
                </a:lnTo>
                <a:lnTo>
                  <a:pt x="361845" y="78941"/>
                </a:lnTo>
                <a:lnTo>
                  <a:pt x="353469" y="68734"/>
                </a:lnTo>
                <a:lnTo>
                  <a:pt x="344443" y="59097"/>
                </a:lnTo>
                <a:lnTo>
                  <a:pt x="334807" y="50072"/>
                </a:lnTo>
                <a:lnTo>
                  <a:pt x="324600" y="41696"/>
                </a:lnTo>
                <a:lnTo>
                  <a:pt x="313868" y="34005"/>
                </a:lnTo>
                <a:lnTo>
                  <a:pt x="302655" y="27032"/>
                </a:lnTo>
                <a:lnTo>
                  <a:pt x="291011" y="20808"/>
                </a:lnTo>
                <a:lnTo>
                  <a:pt x="278984" y="15359"/>
                </a:lnTo>
                <a:lnTo>
                  <a:pt x="266627" y="10708"/>
                </a:lnTo>
                <a:lnTo>
                  <a:pt x="253992" y="6876"/>
                </a:lnTo>
                <a:lnTo>
                  <a:pt x="241134" y="3877"/>
                </a:lnTo>
                <a:lnTo>
                  <a:pt x="228107" y="1727"/>
                </a:lnTo>
                <a:lnTo>
                  <a:pt x="214967" y="432"/>
                </a:lnTo>
                <a:lnTo>
                  <a:pt x="201770" y="0"/>
                </a:lnTo>
                <a:lnTo>
                  <a:pt x="188574" y="432"/>
                </a:lnTo>
                <a:lnTo>
                  <a:pt x="175434" y="1727"/>
                </a:lnTo>
                <a:lnTo>
                  <a:pt x="162407" y="3877"/>
                </a:lnTo>
                <a:lnTo>
                  <a:pt x="149548" y="6876"/>
                </a:lnTo>
                <a:lnTo>
                  <a:pt x="136914" y="10708"/>
                </a:lnTo>
                <a:lnTo>
                  <a:pt x="124556" y="15359"/>
                </a:lnTo>
                <a:lnTo>
                  <a:pt x="112530" y="20808"/>
                </a:lnTo>
                <a:lnTo>
                  <a:pt x="100885" y="27032"/>
                </a:lnTo>
                <a:lnTo>
                  <a:pt x="89673" y="34005"/>
                </a:lnTo>
                <a:lnTo>
                  <a:pt x="78941" y="41696"/>
                </a:lnTo>
                <a:lnTo>
                  <a:pt x="68734" y="50072"/>
                </a:lnTo>
                <a:lnTo>
                  <a:pt x="59097" y="59097"/>
                </a:lnTo>
                <a:lnTo>
                  <a:pt x="50072" y="68734"/>
                </a:lnTo>
                <a:lnTo>
                  <a:pt x="41695" y="78941"/>
                </a:lnTo>
                <a:lnTo>
                  <a:pt x="34005" y="89673"/>
                </a:lnTo>
                <a:lnTo>
                  <a:pt x="27032" y="100885"/>
                </a:lnTo>
                <a:lnTo>
                  <a:pt x="20808" y="112530"/>
                </a:lnTo>
                <a:lnTo>
                  <a:pt x="15359" y="124556"/>
                </a:lnTo>
                <a:lnTo>
                  <a:pt x="10708" y="136914"/>
                </a:lnTo>
                <a:lnTo>
                  <a:pt x="6876" y="149548"/>
                </a:lnTo>
                <a:lnTo>
                  <a:pt x="3877" y="162407"/>
                </a:lnTo>
                <a:lnTo>
                  <a:pt x="1727" y="175434"/>
                </a:lnTo>
                <a:lnTo>
                  <a:pt x="432" y="188574"/>
                </a:lnTo>
                <a:lnTo>
                  <a:pt x="0" y="201770"/>
                </a:lnTo>
                <a:lnTo>
                  <a:pt x="53109" y="201770"/>
                </a:lnTo>
                <a:lnTo>
                  <a:pt x="53427" y="192047"/>
                </a:lnTo>
                <a:lnTo>
                  <a:pt x="54381" y="182366"/>
                </a:lnTo>
                <a:lnTo>
                  <a:pt x="55965" y="172768"/>
                </a:lnTo>
                <a:lnTo>
                  <a:pt x="58174" y="163294"/>
                </a:lnTo>
                <a:lnTo>
                  <a:pt x="60998" y="153985"/>
                </a:lnTo>
                <a:lnTo>
                  <a:pt x="64425" y="144880"/>
                </a:lnTo>
                <a:lnTo>
                  <a:pt x="68440" y="136019"/>
                </a:lnTo>
                <a:lnTo>
                  <a:pt x="73026" y="127440"/>
                </a:lnTo>
                <a:lnTo>
                  <a:pt x="78163" y="119178"/>
                </a:lnTo>
                <a:lnTo>
                  <a:pt x="83829" y="111271"/>
                </a:lnTo>
                <a:lnTo>
                  <a:pt x="90001" y="103751"/>
                </a:lnTo>
                <a:lnTo>
                  <a:pt x="96651" y="96651"/>
                </a:lnTo>
                <a:lnTo>
                  <a:pt x="103751" y="90001"/>
                </a:lnTo>
                <a:lnTo>
                  <a:pt x="111271" y="83829"/>
                </a:lnTo>
                <a:lnTo>
                  <a:pt x="119178" y="78163"/>
                </a:lnTo>
                <a:lnTo>
                  <a:pt x="127440" y="73026"/>
                </a:lnTo>
                <a:lnTo>
                  <a:pt x="136019" y="68440"/>
                </a:lnTo>
                <a:lnTo>
                  <a:pt x="144880" y="64425"/>
                </a:lnTo>
                <a:lnTo>
                  <a:pt x="153985" y="60998"/>
                </a:lnTo>
                <a:lnTo>
                  <a:pt x="163294" y="58174"/>
                </a:lnTo>
                <a:lnTo>
                  <a:pt x="172768" y="55965"/>
                </a:lnTo>
                <a:lnTo>
                  <a:pt x="182366" y="54381"/>
                </a:lnTo>
                <a:lnTo>
                  <a:pt x="192047" y="53427"/>
                </a:lnTo>
                <a:lnTo>
                  <a:pt x="201770" y="53109"/>
                </a:lnTo>
                <a:lnTo>
                  <a:pt x="211493" y="53427"/>
                </a:lnTo>
                <a:lnTo>
                  <a:pt x="221175" y="54381"/>
                </a:lnTo>
                <a:lnTo>
                  <a:pt x="230773" y="55965"/>
                </a:lnTo>
                <a:lnTo>
                  <a:pt x="240247" y="58174"/>
                </a:lnTo>
                <a:lnTo>
                  <a:pt x="249556" y="60998"/>
                </a:lnTo>
                <a:lnTo>
                  <a:pt x="258661" y="64425"/>
                </a:lnTo>
                <a:lnTo>
                  <a:pt x="267522" y="68440"/>
                </a:lnTo>
                <a:lnTo>
                  <a:pt x="276101" y="73026"/>
                </a:lnTo>
                <a:lnTo>
                  <a:pt x="284362" y="78163"/>
                </a:lnTo>
                <a:lnTo>
                  <a:pt x="292270" y="83829"/>
                </a:lnTo>
                <a:lnTo>
                  <a:pt x="299790" y="90001"/>
                </a:lnTo>
                <a:lnTo>
                  <a:pt x="306890" y="96651"/>
                </a:lnTo>
                <a:lnTo>
                  <a:pt x="313540" y="103751"/>
                </a:lnTo>
                <a:lnTo>
                  <a:pt x="319712" y="111271"/>
                </a:lnTo>
                <a:lnTo>
                  <a:pt x="325378" y="119178"/>
                </a:lnTo>
                <a:lnTo>
                  <a:pt x="330515" y="127440"/>
                </a:lnTo>
                <a:lnTo>
                  <a:pt x="335101" y="136019"/>
                </a:lnTo>
                <a:lnTo>
                  <a:pt x="339116" y="144880"/>
                </a:lnTo>
                <a:lnTo>
                  <a:pt x="342543" y="153985"/>
                </a:lnTo>
                <a:lnTo>
                  <a:pt x="345367" y="163294"/>
                </a:lnTo>
                <a:lnTo>
                  <a:pt x="347576" y="172768"/>
                </a:lnTo>
                <a:lnTo>
                  <a:pt x="349160" y="182366"/>
                </a:lnTo>
                <a:lnTo>
                  <a:pt x="350114" y="192047"/>
                </a:lnTo>
                <a:lnTo>
                  <a:pt x="350432" y="201770"/>
                </a:lnTo>
                <a:close/>
              </a:path>
            </a:pathLst>
          </a:cu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Freeform 57"/>
          <p:cNvSpPr/>
          <p:nvPr/>
        </p:nvSpPr>
        <p:spPr>
          <a:xfrm>
            <a:off x="3538308" y="2986952"/>
            <a:ext cx="403540" cy="201770"/>
          </a:xfrm>
          <a:custGeom>
            <a:avLst/>
            <a:gdLst/>
            <a:ahLst/>
            <a:cxnLst/>
            <a:rect l="l" t="t" r="r" b="b"/>
            <a:pathLst>
              <a:path w="403540" h="201770">
                <a:moveTo>
                  <a:pt x="0" y="0"/>
                </a:moveTo>
                <a:lnTo>
                  <a:pt x="432" y="13197"/>
                </a:lnTo>
                <a:lnTo>
                  <a:pt x="1727" y="26337"/>
                </a:lnTo>
                <a:lnTo>
                  <a:pt x="3877" y="39364"/>
                </a:lnTo>
                <a:lnTo>
                  <a:pt x="6876" y="52222"/>
                </a:lnTo>
                <a:lnTo>
                  <a:pt x="10708" y="64857"/>
                </a:lnTo>
                <a:lnTo>
                  <a:pt x="15359" y="77214"/>
                </a:lnTo>
                <a:lnTo>
                  <a:pt x="20808" y="89241"/>
                </a:lnTo>
                <a:lnTo>
                  <a:pt x="27032" y="100885"/>
                </a:lnTo>
                <a:lnTo>
                  <a:pt x="34005" y="112098"/>
                </a:lnTo>
                <a:lnTo>
                  <a:pt x="41695" y="122830"/>
                </a:lnTo>
                <a:lnTo>
                  <a:pt x="50072" y="133037"/>
                </a:lnTo>
                <a:lnTo>
                  <a:pt x="59097" y="142673"/>
                </a:lnTo>
                <a:lnTo>
                  <a:pt x="68734" y="151699"/>
                </a:lnTo>
                <a:lnTo>
                  <a:pt x="78941" y="160075"/>
                </a:lnTo>
                <a:lnTo>
                  <a:pt x="89673" y="167766"/>
                </a:lnTo>
                <a:lnTo>
                  <a:pt x="100885" y="174738"/>
                </a:lnTo>
                <a:lnTo>
                  <a:pt x="112530" y="180962"/>
                </a:lnTo>
                <a:lnTo>
                  <a:pt x="124556" y="186412"/>
                </a:lnTo>
                <a:lnTo>
                  <a:pt x="136914" y="191063"/>
                </a:lnTo>
                <a:lnTo>
                  <a:pt x="149548" y="194895"/>
                </a:lnTo>
                <a:lnTo>
                  <a:pt x="162407" y="197893"/>
                </a:lnTo>
                <a:lnTo>
                  <a:pt x="175434" y="200044"/>
                </a:lnTo>
                <a:lnTo>
                  <a:pt x="188574" y="201338"/>
                </a:lnTo>
                <a:lnTo>
                  <a:pt x="201770" y="201770"/>
                </a:lnTo>
                <a:lnTo>
                  <a:pt x="214967" y="201338"/>
                </a:lnTo>
                <a:lnTo>
                  <a:pt x="228107" y="200044"/>
                </a:lnTo>
                <a:lnTo>
                  <a:pt x="241134" y="197893"/>
                </a:lnTo>
                <a:lnTo>
                  <a:pt x="253992" y="194895"/>
                </a:lnTo>
                <a:lnTo>
                  <a:pt x="266627" y="191063"/>
                </a:lnTo>
                <a:lnTo>
                  <a:pt x="278984" y="186412"/>
                </a:lnTo>
                <a:lnTo>
                  <a:pt x="291011" y="180962"/>
                </a:lnTo>
                <a:lnTo>
                  <a:pt x="302655" y="174738"/>
                </a:lnTo>
                <a:lnTo>
                  <a:pt x="313868" y="167766"/>
                </a:lnTo>
                <a:lnTo>
                  <a:pt x="324600" y="160075"/>
                </a:lnTo>
                <a:lnTo>
                  <a:pt x="334807" y="151699"/>
                </a:lnTo>
                <a:lnTo>
                  <a:pt x="344443" y="142673"/>
                </a:lnTo>
                <a:lnTo>
                  <a:pt x="353469" y="133037"/>
                </a:lnTo>
                <a:lnTo>
                  <a:pt x="361845" y="122830"/>
                </a:lnTo>
                <a:lnTo>
                  <a:pt x="369536" y="112098"/>
                </a:lnTo>
                <a:lnTo>
                  <a:pt x="376508" y="100885"/>
                </a:lnTo>
                <a:lnTo>
                  <a:pt x="382732" y="89241"/>
                </a:lnTo>
                <a:lnTo>
                  <a:pt x="388182" y="77214"/>
                </a:lnTo>
                <a:lnTo>
                  <a:pt x="392832" y="64857"/>
                </a:lnTo>
                <a:lnTo>
                  <a:pt x="396665" y="52222"/>
                </a:lnTo>
                <a:lnTo>
                  <a:pt x="399663" y="39364"/>
                </a:lnTo>
                <a:lnTo>
                  <a:pt x="401814" y="26337"/>
                </a:lnTo>
                <a:lnTo>
                  <a:pt x="403108" y="13197"/>
                </a:lnTo>
                <a:lnTo>
                  <a:pt x="403540" y="0"/>
                </a:lnTo>
                <a:lnTo>
                  <a:pt x="350432" y="0"/>
                </a:lnTo>
                <a:lnTo>
                  <a:pt x="350114" y="9723"/>
                </a:lnTo>
                <a:lnTo>
                  <a:pt x="349160" y="19405"/>
                </a:lnTo>
                <a:lnTo>
                  <a:pt x="347576" y="29003"/>
                </a:lnTo>
                <a:lnTo>
                  <a:pt x="345367" y="38477"/>
                </a:lnTo>
                <a:lnTo>
                  <a:pt x="342543" y="47786"/>
                </a:lnTo>
                <a:lnTo>
                  <a:pt x="339116" y="56891"/>
                </a:lnTo>
                <a:lnTo>
                  <a:pt x="335101" y="65752"/>
                </a:lnTo>
                <a:lnTo>
                  <a:pt x="330515" y="74331"/>
                </a:lnTo>
                <a:lnTo>
                  <a:pt x="325378" y="82592"/>
                </a:lnTo>
                <a:lnTo>
                  <a:pt x="319712" y="90500"/>
                </a:lnTo>
                <a:lnTo>
                  <a:pt x="313540" y="98020"/>
                </a:lnTo>
                <a:lnTo>
                  <a:pt x="306890" y="105120"/>
                </a:lnTo>
                <a:lnTo>
                  <a:pt x="299790" y="111770"/>
                </a:lnTo>
                <a:lnTo>
                  <a:pt x="292270" y="117942"/>
                </a:lnTo>
                <a:lnTo>
                  <a:pt x="284362" y="123608"/>
                </a:lnTo>
                <a:lnTo>
                  <a:pt x="276101" y="128745"/>
                </a:lnTo>
                <a:lnTo>
                  <a:pt x="267522" y="133331"/>
                </a:lnTo>
                <a:lnTo>
                  <a:pt x="258661" y="137346"/>
                </a:lnTo>
                <a:lnTo>
                  <a:pt x="249556" y="140773"/>
                </a:lnTo>
                <a:lnTo>
                  <a:pt x="240247" y="143597"/>
                </a:lnTo>
                <a:lnTo>
                  <a:pt x="230773" y="145806"/>
                </a:lnTo>
                <a:lnTo>
                  <a:pt x="221175" y="147390"/>
                </a:lnTo>
                <a:lnTo>
                  <a:pt x="211493" y="148344"/>
                </a:lnTo>
                <a:lnTo>
                  <a:pt x="201770" y="148662"/>
                </a:lnTo>
                <a:lnTo>
                  <a:pt x="192047" y="148344"/>
                </a:lnTo>
                <a:lnTo>
                  <a:pt x="182366" y="147390"/>
                </a:lnTo>
                <a:lnTo>
                  <a:pt x="172768" y="145806"/>
                </a:lnTo>
                <a:lnTo>
                  <a:pt x="163294" y="143597"/>
                </a:lnTo>
                <a:lnTo>
                  <a:pt x="153985" y="140773"/>
                </a:lnTo>
                <a:lnTo>
                  <a:pt x="144880" y="137346"/>
                </a:lnTo>
                <a:lnTo>
                  <a:pt x="136019" y="133331"/>
                </a:lnTo>
                <a:lnTo>
                  <a:pt x="127440" y="128745"/>
                </a:lnTo>
                <a:lnTo>
                  <a:pt x="119178" y="123608"/>
                </a:lnTo>
                <a:lnTo>
                  <a:pt x="111271" y="117942"/>
                </a:lnTo>
                <a:lnTo>
                  <a:pt x="103751" y="111770"/>
                </a:lnTo>
                <a:lnTo>
                  <a:pt x="96651" y="105120"/>
                </a:lnTo>
                <a:lnTo>
                  <a:pt x="90001" y="98020"/>
                </a:lnTo>
                <a:lnTo>
                  <a:pt x="83829" y="90500"/>
                </a:lnTo>
                <a:lnTo>
                  <a:pt x="78163" y="82592"/>
                </a:lnTo>
                <a:lnTo>
                  <a:pt x="73026" y="74331"/>
                </a:lnTo>
                <a:lnTo>
                  <a:pt x="68440" y="65752"/>
                </a:lnTo>
                <a:lnTo>
                  <a:pt x="64425" y="56891"/>
                </a:lnTo>
                <a:lnTo>
                  <a:pt x="60998" y="47786"/>
                </a:lnTo>
                <a:lnTo>
                  <a:pt x="58174" y="38477"/>
                </a:lnTo>
                <a:lnTo>
                  <a:pt x="55965" y="29003"/>
                </a:lnTo>
                <a:lnTo>
                  <a:pt x="54381" y="19405"/>
                </a:lnTo>
                <a:lnTo>
                  <a:pt x="53427" y="9723"/>
                </a:lnTo>
                <a:lnTo>
                  <a:pt x="53109" y="0"/>
                </a:lnTo>
                <a:close/>
              </a:path>
            </a:pathLst>
          </a:cu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Freeform 58"/>
          <p:cNvSpPr/>
          <p:nvPr/>
        </p:nvSpPr>
        <p:spPr>
          <a:xfrm>
            <a:off x="3936191" y="2996553"/>
            <a:ext cx="360144" cy="180072"/>
          </a:xfrm>
          <a:custGeom>
            <a:avLst/>
            <a:gdLst/>
            <a:ahLst/>
            <a:cxnLst/>
            <a:rect l="l" t="t" r="r" b="b"/>
            <a:pathLst>
              <a:path w="360144" h="180072">
                <a:moveTo>
                  <a:pt x="360144" y="180072"/>
                </a:moveTo>
                <a:lnTo>
                  <a:pt x="359758" y="168295"/>
                </a:lnTo>
                <a:lnTo>
                  <a:pt x="358603" y="156568"/>
                </a:lnTo>
                <a:lnTo>
                  <a:pt x="356684" y="144942"/>
                </a:lnTo>
                <a:lnTo>
                  <a:pt x="354008" y="133466"/>
                </a:lnTo>
                <a:lnTo>
                  <a:pt x="350587" y="122190"/>
                </a:lnTo>
                <a:lnTo>
                  <a:pt x="346436" y="111162"/>
                </a:lnTo>
                <a:lnTo>
                  <a:pt x="341573" y="100428"/>
                </a:lnTo>
                <a:lnTo>
                  <a:pt x="336018" y="90036"/>
                </a:lnTo>
                <a:lnTo>
                  <a:pt x="329796" y="80029"/>
                </a:lnTo>
                <a:lnTo>
                  <a:pt x="322932" y="70451"/>
                </a:lnTo>
                <a:lnTo>
                  <a:pt x="315457" y="61342"/>
                </a:lnTo>
                <a:lnTo>
                  <a:pt x="307402" y="52742"/>
                </a:lnTo>
                <a:lnTo>
                  <a:pt x="298801" y="44687"/>
                </a:lnTo>
                <a:lnTo>
                  <a:pt x="289692" y="37211"/>
                </a:lnTo>
                <a:lnTo>
                  <a:pt x="280114" y="30348"/>
                </a:lnTo>
                <a:lnTo>
                  <a:pt x="270108" y="24125"/>
                </a:lnTo>
                <a:lnTo>
                  <a:pt x="259715" y="18570"/>
                </a:lnTo>
                <a:lnTo>
                  <a:pt x="248982" y="13707"/>
                </a:lnTo>
                <a:lnTo>
                  <a:pt x="237954" y="9557"/>
                </a:lnTo>
                <a:lnTo>
                  <a:pt x="226678" y="6136"/>
                </a:lnTo>
                <a:lnTo>
                  <a:pt x="215202" y="3460"/>
                </a:lnTo>
                <a:lnTo>
                  <a:pt x="203576" y="1541"/>
                </a:lnTo>
                <a:lnTo>
                  <a:pt x="191849" y="386"/>
                </a:lnTo>
                <a:lnTo>
                  <a:pt x="180072" y="0"/>
                </a:lnTo>
                <a:lnTo>
                  <a:pt x="168294" y="386"/>
                </a:lnTo>
                <a:lnTo>
                  <a:pt x="156567" y="1541"/>
                </a:lnTo>
                <a:lnTo>
                  <a:pt x="144941" y="3460"/>
                </a:lnTo>
                <a:lnTo>
                  <a:pt x="133465" y="6136"/>
                </a:lnTo>
                <a:lnTo>
                  <a:pt x="122189" y="9557"/>
                </a:lnTo>
                <a:lnTo>
                  <a:pt x="111161" y="13707"/>
                </a:lnTo>
                <a:lnTo>
                  <a:pt x="100428" y="18570"/>
                </a:lnTo>
                <a:lnTo>
                  <a:pt x="90036" y="24125"/>
                </a:lnTo>
                <a:lnTo>
                  <a:pt x="80029" y="30348"/>
                </a:lnTo>
                <a:lnTo>
                  <a:pt x="70451" y="37211"/>
                </a:lnTo>
                <a:lnTo>
                  <a:pt x="61342" y="44687"/>
                </a:lnTo>
                <a:lnTo>
                  <a:pt x="52741" y="52742"/>
                </a:lnTo>
                <a:lnTo>
                  <a:pt x="44686" y="61342"/>
                </a:lnTo>
                <a:lnTo>
                  <a:pt x="37211" y="70451"/>
                </a:lnTo>
                <a:lnTo>
                  <a:pt x="30347" y="80029"/>
                </a:lnTo>
                <a:lnTo>
                  <a:pt x="24125" y="90036"/>
                </a:lnTo>
                <a:lnTo>
                  <a:pt x="18570" y="100428"/>
                </a:lnTo>
                <a:lnTo>
                  <a:pt x="13707" y="111162"/>
                </a:lnTo>
                <a:lnTo>
                  <a:pt x="9556" y="122190"/>
                </a:lnTo>
                <a:lnTo>
                  <a:pt x="6135" y="133466"/>
                </a:lnTo>
                <a:lnTo>
                  <a:pt x="3460" y="144942"/>
                </a:lnTo>
                <a:lnTo>
                  <a:pt x="1540" y="156568"/>
                </a:lnTo>
                <a:lnTo>
                  <a:pt x="385" y="168295"/>
                </a:lnTo>
                <a:lnTo>
                  <a:pt x="0" y="180072"/>
                </a:lnTo>
                <a:lnTo>
                  <a:pt x="53108" y="180072"/>
                </a:lnTo>
                <a:lnTo>
                  <a:pt x="53380" y="171768"/>
                </a:lnTo>
                <a:lnTo>
                  <a:pt x="54194" y="163500"/>
                </a:lnTo>
                <a:lnTo>
                  <a:pt x="55547" y="155303"/>
                </a:lnTo>
                <a:lnTo>
                  <a:pt x="57434" y="147211"/>
                </a:lnTo>
                <a:lnTo>
                  <a:pt x="59846" y="139261"/>
                </a:lnTo>
                <a:lnTo>
                  <a:pt x="62772" y="131485"/>
                </a:lnTo>
                <a:lnTo>
                  <a:pt x="66201" y="123918"/>
                </a:lnTo>
                <a:lnTo>
                  <a:pt x="70118" y="116590"/>
                </a:lnTo>
                <a:lnTo>
                  <a:pt x="74505" y="109535"/>
                </a:lnTo>
                <a:lnTo>
                  <a:pt x="79345" y="102782"/>
                </a:lnTo>
                <a:lnTo>
                  <a:pt x="84615" y="96359"/>
                </a:lnTo>
                <a:lnTo>
                  <a:pt x="90295" y="90295"/>
                </a:lnTo>
                <a:lnTo>
                  <a:pt x="96359" y="84616"/>
                </a:lnTo>
                <a:lnTo>
                  <a:pt x="102781" y="79345"/>
                </a:lnTo>
                <a:lnTo>
                  <a:pt x="109534" y="74506"/>
                </a:lnTo>
                <a:lnTo>
                  <a:pt x="116590" y="70118"/>
                </a:lnTo>
                <a:lnTo>
                  <a:pt x="123917" y="66202"/>
                </a:lnTo>
                <a:lnTo>
                  <a:pt x="131485" y="62773"/>
                </a:lnTo>
                <a:lnTo>
                  <a:pt x="139260" y="59846"/>
                </a:lnTo>
                <a:lnTo>
                  <a:pt x="147211" y="57435"/>
                </a:lnTo>
                <a:lnTo>
                  <a:pt x="155302" y="55548"/>
                </a:lnTo>
                <a:lnTo>
                  <a:pt x="163499" y="54195"/>
                </a:lnTo>
                <a:lnTo>
                  <a:pt x="171768" y="53380"/>
                </a:lnTo>
                <a:lnTo>
                  <a:pt x="180072" y="53108"/>
                </a:lnTo>
                <a:lnTo>
                  <a:pt x="188375" y="53380"/>
                </a:lnTo>
                <a:lnTo>
                  <a:pt x="196644" y="54195"/>
                </a:lnTo>
                <a:lnTo>
                  <a:pt x="204841" y="55548"/>
                </a:lnTo>
                <a:lnTo>
                  <a:pt x="212932" y="57435"/>
                </a:lnTo>
                <a:lnTo>
                  <a:pt x="220883" y="59846"/>
                </a:lnTo>
                <a:lnTo>
                  <a:pt x="228658" y="62773"/>
                </a:lnTo>
                <a:lnTo>
                  <a:pt x="236226" y="66202"/>
                </a:lnTo>
                <a:lnTo>
                  <a:pt x="243553" y="70118"/>
                </a:lnTo>
                <a:lnTo>
                  <a:pt x="250609" y="74506"/>
                </a:lnTo>
                <a:lnTo>
                  <a:pt x="257362" y="79345"/>
                </a:lnTo>
                <a:lnTo>
                  <a:pt x="263784" y="84616"/>
                </a:lnTo>
                <a:lnTo>
                  <a:pt x="269848" y="90295"/>
                </a:lnTo>
                <a:lnTo>
                  <a:pt x="275528" y="96359"/>
                </a:lnTo>
                <a:lnTo>
                  <a:pt x="280799" y="102782"/>
                </a:lnTo>
                <a:lnTo>
                  <a:pt x="285638" y="109535"/>
                </a:lnTo>
                <a:lnTo>
                  <a:pt x="290025" y="116590"/>
                </a:lnTo>
                <a:lnTo>
                  <a:pt x="293942" y="123918"/>
                </a:lnTo>
                <a:lnTo>
                  <a:pt x="297371" y="131485"/>
                </a:lnTo>
                <a:lnTo>
                  <a:pt x="300297" y="139261"/>
                </a:lnTo>
                <a:lnTo>
                  <a:pt x="302709" y="147211"/>
                </a:lnTo>
                <a:lnTo>
                  <a:pt x="304596" y="155303"/>
                </a:lnTo>
                <a:lnTo>
                  <a:pt x="305949" y="163500"/>
                </a:lnTo>
                <a:lnTo>
                  <a:pt x="306763" y="171768"/>
                </a:lnTo>
                <a:lnTo>
                  <a:pt x="307035" y="180072"/>
                </a:lnTo>
                <a:close/>
              </a:path>
            </a:pathLst>
          </a:cu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Freeform 59"/>
          <p:cNvSpPr/>
          <p:nvPr/>
        </p:nvSpPr>
        <p:spPr>
          <a:xfrm>
            <a:off x="3936191" y="3176625"/>
            <a:ext cx="360144" cy="180072"/>
          </a:xfrm>
          <a:custGeom>
            <a:avLst/>
            <a:gdLst/>
            <a:ahLst/>
            <a:cxnLst/>
            <a:rect l="l" t="t" r="r" b="b"/>
            <a:pathLst>
              <a:path w="360144" h="180072">
                <a:moveTo>
                  <a:pt x="0" y="0"/>
                </a:moveTo>
                <a:lnTo>
                  <a:pt x="385" y="11777"/>
                </a:lnTo>
                <a:lnTo>
                  <a:pt x="1540" y="23504"/>
                </a:lnTo>
                <a:lnTo>
                  <a:pt x="3460" y="35130"/>
                </a:lnTo>
                <a:lnTo>
                  <a:pt x="6135" y="46606"/>
                </a:lnTo>
                <a:lnTo>
                  <a:pt x="9556" y="57882"/>
                </a:lnTo>
                <a:lnTo>
                  <a:pt x="13707" y="68911"/>
                </a:lnTo>
                <a:lnTo>
                  <a:pt x="18570" y="79644"/>
                </a:lnTo>
                <a:lnTo>
                  <a:pt x="24125" y="90036"/>
                </a:lnTo>
                <a:lnTo>
                  <a:pt x="30347" y="100043"/>
                </a:lnTo>
                <a:lnTo>
                  <a:pt x="37211" y="109621"/>
                </a:lnTo>
                <a:lnTo>
                  <a:pt x="44686" y="118730"/>
                </a:lnTo>
                <a:lnTo>
                  <a:pt x="52741" y="127330"/>
                </a:lnTo>
                <a:lnTo>
                  <a:pt x="61342" y="135385"/>
                </a:lnTo>
                <a:lnTo>
                  <a:pt x="70451" y="142861"/>
                </a:lnTo>
                <a:lnTo>
                  <a:pt x="80029" y="149724"/>
                </a:lnTo>
                <a:lnTo>
                  <a:pt x="90036" y="155947"/>
                </a:lnTo>
                <a:lnTo>
                  <a:pt x="100428" y="161502"/>
                </a:lnTo>
                <a:lnTo>
                  <a:pt x="111161" y="166365"/>
                </a:lnTo>
                <a:lnTo>
                  <a:pt x="122189" y="170516"/>
                </a:lnTo>
                <a:lnTo>
                  <a:pt x="133465" y="173936"/>
                </a:lnTo>
                <a:lnTo>
                  <a:pt x="144941" y="176612"/>
                </a:lnTo>
                <a:lnTo>
                  <a:pt x="156567" y="178532"/>
                </a:lnTo>
                <a:lnTo>
                  <a:pt x="168294" y="179687"/>
                </a:lnTo>
                <a:lnTo>
                  <a:pt x="180072" y="180072"/>
                </a:lnTo>
                <a:lnTo>
                  <a:pt x="191849" y="179687"/>
                </a:lnTo>
                <a:lnTo>
                  <a:pt x="203576" y="178532"/>
                </a:lnTo>
                <a:lnTo>
                  <a:pt x="215202" y="176612"/>
                </a:lnTo>
                <a:lnTo>
                  <a:pt x="226678" y="173936"/>
                </a:lnTo>
                <a:lnTo>
                  <a:pt x="237954" y="170516"/>
                </a:lnTo>
                <a:lnTo>
                  <a:pt x="248982" y="166365"/>
                </a:lnTo>
                <a:lnTo>
                  <a:pt x="259715" y="161502"/>
                </a:lnTo>
                <a:lnTo>
                  <a:pt x="270108" y="155947"/>
                </a:lnTo>
                <a:lnTo>
                  <a:pt x="280114" y="149724"/>
                </a:lnTo>
                <a:lnTo>
                  <a:pt x="289692" y="142861"/>
                </a:lnTo>
                <a:lnTo>
                  <a:pt x="298801" y="135385"/>
                </a:lnTo>
                <a:lnTo>
                  <a:pt x="307402" y="127330"/>
                </a:lnTo>
                <a:lnTo>
                  <a:pt x="315457" y="118730"/>
                </a:lnTo>
                <a:lnTo>
                  <a:pt x="322932" y="109621"/>
                </a:lnTo>
                <a:lnTo>
                  <a:pt x="329796" y="100043"/>
                </a:lnTo>
                <a:lnTo>
                  <a:pt x="336018" y="90036"/>
                </a:lnTo>
                <a:lnTo>
                  <a:pt x="341573" y="79644"/>
                </a:lnTo>
                <a:lnTo>
                  <a:pt x="346436" y="68911"/>
                </a:lnTo>
                <a:lnTo>
                  <a:pt x="350587" y="57882"/>
                </a:lnTo>
                <a:lnTo>
                  <a:pt x="354008" y="46606"/>
                </a:lnTo>
                <a:lnTo>
                  <a:pt x="356684" y="35130"/>
                </a:lnTo>
                <a:lnTo>
                  <a:pt x="358603" y="23504"/>
                </a:lnTo>
                <a:lnTo>
                  <a:pt x="359758" y="11777"/>
                </a:lnTo>
                <a:lnTo>
                  <a:pt x="360144" y="0"/>
                </a:lnTo>
                <a:lnTo>
                  <a:pt x="307035" y="0"/>
                </a:lnTo>
                <a:lnTo>
                  <a:pt x="306763" y="8304"/>
                </a:lnTo>
                <a:lnTo>
                  <a:pt x="305949" y="16572"/>
                </a:lnTo>
                <a:lnTo>
                  <a:pt x="304596" y="24769"/>
                </a:lnTo>
                <a:lnTo>
                  <a:pt x="302709" y="32861"/>
                </a:lnTo>
                <a:lnTo>
                  <a:pt x="300297" y="40811"/>
                </a:lnTo>
                <a:lnTo>
                  <a:pt x="297371" y="48587"/>
                </a:lnTo>
                <a:lnTo>
                  <a:pt x="293942" y="56155"/>
                </a:lnTo>
                <a:lnTo>
                  <a:pt x="290025" y="63482"/>
                </a:lnTo>
                <a:lnTo>
                  <a:pt x="285638" y="70537"/>
                </a:lnTo>
                <a:lnTo>
                  <a:pt x="280799" y="77291"/>
                </a:lnTo>
                <a:lnTo>
                  <a:pt x="275528" y="83713"/>
                </a:lnTo>
                <a:lnTo>
                  <a:pt x="269848" y="89777"/>
                </a:lnTo>
                <a:lnTo>
                  <a:pt x="263784" y="95456"/>
                </a:lnTo>
                <a:lnTo>
                  <a:pt x="257362" y="100727"/>
                </a:lnTo>
                <a:lnTo>
                  <a:pt x="250609" y="105567"/>
                </a:lnTo>
                <a:lnTo>
                  <a:pt x="243553" y="109954"/>
                </a:lnTo>
                <a:lnTo>
                  <a:pt x="236226" y="113870"/>
                </a:lnTo>
                <a:lnTo>
                  <a:pt x="228658" y="117299"/>
                </a:lnTo>
                <a:lnTo>
                  <a:pt x="220883" y="120226"/>
                </a:lnTo>
                <a:lnTo>
                  <a:pt x="212932" y="122638"/>
                </a:lnTo>
                <a:lnTo>
                  <a:pt x="204841" y="124524"/>
                </a:lnTo>
                <a:lnTo>
                  <a:pt x="196644" y="125878"/>
                </a:lnTo>
                <a:lnTo>
                  <a:pt x="188375" y="126692"/>
                </a:lnTo>
                <a:lnTo>
                  <a:pt x="180072" y="126964"/>
                </a:lnTo>
                <a:lnTo>
                  <a:pt x="171768" y="126692"/>
                </a:lnTo>
                <a:lnTo>
                  <a:pt x="163499" y="125878"/>
                </a:lnTo>
                <a:lnTo>
                  <a:pt x="155302" y="124524"/>
                </a:lnTo>
                <a:lnTo>
                  <a:pt x="147211" y="122638"/>
                </a:lnTo>
                <a:lnTo>
                  <a:pt x="139260" y="120226"/>
                </a:lnTo>
                <a:lnTo>
                  <a:pt x="131485" y="117299"/>
                </a:lnTo>
                <a:lnTo>
                  <a:pt x="123917" y="113870"/>
                </a:lnTo>
                <a:lnTo>
                  <a:pt x="116590" y="109954"/>
                </a:lnTo>
                <a:lnTo>
                  <a:pt x="109534" y="105567"/>
                </a:lnTo>
                <a:lnTo>
                  <a:pt x="102781" y="100727"/>
                </a:lnTo>
                <a:lnTo>
                  <a:pt x="96359" y="95456"/>
                </a:lnTo>
                <a:lnTo>
                  <a:pt x="90295" y="89777"/>
                </a:lnTo>
                <a:lnTo>
                  <a:pt x="84615" y="83713"/>
                </a:lnTo>
                <a:lnTo>
                  <a:pt x="79345" y="77291"/>
                </a:lnTo>
                <a:lnTo>
                  <a:pt x="74505" y="70537"/>
                </a:lnTo>
                <a:lnTo>
                  <a:pt x="70118" y="63482"/>
                </a:lnTo>
                <a:lnTo>
                  <a:pt x="66201" y="56155"/>
                </a:lnTo>
                <a:lnTo>
                  <a:pt x="62772" y="48587"/>
                </a:lnTo>
                <a:lnTo>
                  <a:pt x="59846" y="40811"/>
                </a:lnTo>
                <a:lnTo>
                  <a:pt x="57434" y="32861"/>
                </a:lnTo>
                <a:lnTo>
                  <a:pt x="55547" y="24769"/>
                </a:lnTo>
                <a:lnTo>
                  <a:pt x="54194" y="16572"/>
                </a:lnTo>
                <a:lnTo>
                  <a:pt x="53380" y="8304"/>
                </a:lnTo>
                <a:lnTo>
                  <a:pt x="53108" y="0"/>
                </a:lnTo>
                <a:close/>
              </a:path>
            </a:pathLst>
          </a:cu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Freeform 60"/>
          <p:cNvSpPr/>
          <p:nvPr/>
        </p:nvSpPr>
        <p:spPr>
          <a:xfrm>
            <a:off x="4731434" y="2264932"/>
            <a:ext cx="495678" cy="247839"/>
          </a:xfrm>
          <a:custGeom>
            <a:avLst/>
            <a:gdLst/>
            <a:ahLst/>
            <a:cxnLst/>
            <a:rect l="l" t="t" r="r" b="b"/>
            <a:pathLst>
              <a:path w="495678" h="247839">
                <a:moveTo>
                  <a:pt x="495678" y="247839"/>
                </a:moveTo>
                <a:lnTo>
                  <a:pt x="495148" y="231629"/>
                </a:lnTo>
                <a:lnTo>
                  <a:pt x="493558" y="215489"/>
                </a:lnTo>
                <a:lnTo>
                  <a:pt x="490916" y="199488"/>
                </a:lnTo>
                <a:lnTo>
                  <a:pt x="487233" y="183693"/>
                </a:lnTo>
                <a:lnTo>
                  <a:pt x="482525" y="168173"/>
                </a:lnTo>
                <a:lnTo>
                  <a:pt x="476813" y="152995"/>
                </a:lnTo>
                <a:lnTo>
                  <a:pt x="470119" y="138222"/>
                </a:lnTo>
                <a:lnTo>
                  <a:pt x="462474" y="123919"/>
                </a:lnTo>
                <a:lnTo>
                  <a:pt x="453910" y="110147"/>
                </a:lnTo>
                <a:lnTo>
                  <a:pt x="444463" y="96964"/>
                </a:lnTo>
                <a:lnTo>
                  <a:pt x="434174" y="84427"/>
                </a:lnTo>
                <a:lnTo>
                  <a:pt x="423088" y="72590"/>
                </a:lnTo>
                <a:lnTo>
                  <a:pt x="411251" y="61503"/>
                </a:lnTo>
                <a:lnTo>
                  <a:pt x="398714" y="51215"/>
                </a:lnTo>
                <a:lnTo>
                  <a:pt x="385531" y="41768"/>
                </a:lnTo>
                <a:lnTo>
                  <a:pt x="371759" y="33204"/>
                </a:lnTo>
                <a:lnTo>
                  <a:pt x="357456" y="25559"/>
                </a:lnTo>
                <a:lnTo>
                  <a:pt x="342683" y="18865"/>
                </a:lnTo>
                <a:lnTo>
                  <a:pt x="327504" y="13153"/>
                </a:lnTo>
                <a:lnTo>
                  <a:pt x="311985" y="8445"/>
                </a:lnTo>
                <a:lnTo>
                  <a:pt x="296190" y="4762"/>
                </a:lnTo>
                <a:lnTo>
                  <a:pt x="280189" y="2120"/>
                </a:lnTo>
                <a:lnTo>
                  <a:pt x="264049" y="530"/>
                </a:lnTo>
                <a:lnTo>
                  <a:pt x="247839" y="0"/>
                </a:lnTo>
                <a:lnTo>
                  <a:pt x="231630" y="530"/>
                </a:lnTo>
                <a:lnTo>
                  <a:pt x="215490" y="2120"/>
                </a:lnTo>
                <a:lnTo>
                  <a:pt x="199488" y="4762"/>
                </a:lnTo>
                <a:lnTo>
                  <a:pt x="183694" y="8445"/>
                </a:lnTo>
                <a:lnTo>
                  <a:pt x="168174" y="13153"/>
                </a:lnTo>
                <a:lnTo>
                  <a:pt x="152995" y="18865"/>
                </a:lnTo>
                <a:lnTo>
                  <a:pt x="138223" y="25559"/>
                </a:lnTo>
                <a:lnTo>
                  <a:pt x="123920" y="33204"/>
                </a:lnTo>
                <a:lnTo>
                  <a:pt x="110147" y="41768"/>
                </a:lnTo>
                <a:lnTo>
                  <a:pt x="96964" y="51215"/>
                </a:lnTo>
                <a:lnTo>
                  <a:pt x="84428" y="61503"/>
                </a:lnTo>
                <a:lnTo>
                  <a:pt x="72591" y="72590"/>
                </a:lnTo>
                <a:lnTo>
                  <a:pt x="61504" y="84427"/>
                </a:lnTo>
                <a:lnTo>
                  <a:pt x="51215" y="96964"/>
                </a:lnTo>
                <a:lnTo>
                  <a:pt x="41769" y="110147"/>
                </a:lnTo>
                <a:lnTo>
                  <a:pt x="33204" y="123919"/>
                </a:lnTo>
                <a:lnTo>
                  <a:pt x="25559" y="138222"/>
                </a:lnTo>
                <a:lnTo>
                  <a:pt x="18866" y="152995"/>
                </a:lnTo>
                <a:lnTo>
                  <a:pt x="13153" y="168173"/>
                </a:lnTo>
                <a:lnTo>
                  <a:pt x="8445" y="183693"/>
                </a:lnTo>
                <a:lnTo>
                  <a:pt x="4762" y="199488"/>
                </a:lnTo>
                <a:lnTo>
                  <a:pt x="2121" y="215489"/>
                </a:lnTo>
                <a:lnTo>
                  <a:pt x="531" y="231629"/>
                </a:lnTo>
                <a:lnTo>
                  <a:pt x="0" y="247839"/>
                </a:lnTo>
                <a:lnTo>
                  <a:pt x="53109" y="247839"/>
                </a:lnTo>
                <a:lnTo>
                  <a:pt x="53526" y="235103"/>
                </a:lnTo>
                <a:lnTo>
                  <a:pt x="54775" y="222421"/>
                </a:lnTo>
                <a:lnTo>
                  <a:pt x="56850" y="209849"/>
                </a:lnTo>
                <a:lnTo>
                  <a:pt x="59744" y="197439"/>
                </a:lnTo>
                <a:lnTo>
                  <a:pt x="63443" y="185245"/>
                </a:lnTo>
                <a:lnTo>
                  <a:pt x="67932" y="173319"/>
                </a:lnTo>
                <a:lnTo>
                  <a:pt x="73191" y="161712"/>
                </a:lnTo>
                <a:lnTo>
                  <a:pt x="79198" y="150473"/>
                </a:lnTo>
                <a:lnTo>
                  <a:pt x="85927" y="139652"/>
                </a:lnTo>
                <a:lnTo>
                  <a:pt x="93349" y="129294"/>
                </a:lnTo>
                <a:lnTo>
                  <a:pt x="101433" y="119444"/>
                </a:lnTo>
                <a:lnTo>
                  <a:pt x="110144" y="110143"/>
                </a:lnTo>
                <a:lnTo>
                  <a:pt x="119444" y="101432"/>
                </a:lnTo>
                <a:lnTo>
                  <a:pt x="129295" y="93349"/>
                </a:lnTo>
                <a:lnTo>
                  <a:pt x="139653" y="85926"/>
                </a:lnTo>
                <a:lnTo>
                  <a:pt x="150474" y="79197"/>
                </a:lnTo>
                <a:lnTo>
                  <a:pt x="161712" y="73190"/>
                </a:lnTo>
                <a:lnTo>
                  <a:pt x="173319" y="67931"/>
                </a:lnTo>
                <a:lnTo>
                  <a:pt x="185245" y="63442"/>
                </a:lnTo>
                <a:lnTo>
                  <a:pt x="197439" y="59743"/>
                </a:lnTo>
                <a:lnTo>
                  <a:pt x="209849" y="56850"/>
                </a:lnTo>
                <a:lnTo>
                  <a:pt x="222422" y="54774"/>
                </a:lnTo>
                <a:lnTo>
                  <a:pt x="235103" y="53525"/>
                </a:lnTo>
                <a:lnTo>
                  <a:pt x="247839" y="53108"/>
                </a:lnTo>
                <a:lnTo>
                  <a:pt x="260575" y="53525"/>
                </a:lnTo>
                <a:lnTo>
                  <a:pt x="273257" y="54774"/>
                </a:lnTo>
                <a:lnTo>
                  <a:pt x="285829" y="56850"/>
                </a:lnTo>
                <a:lnTo>
                  <a:pt x="298239" y="59743"/>
                </a:lnTo>
                <a:lnTo>
                  <a:pt x="310433" y="63442"/>
                </a:lnTo>
                <a:lnTo>
                  <a:pt x="322359" y="67931"/>
                </a:lnTo>
                <a:lnTo>
                  <a:pt x="333966" y="73190"/>
                </a:lnTo>
                <a:lnTo>
                  <a:pt x="345205" y="79197"/>
                </a:lnTo>
                <a:lnTo>
                  <a:pt x="356026" y="85926"/>
                </a:lnTo>
                <a:lnTo>
                  <a:pt x="366384" y="93349"/>
                </a:lnTo>
                <a:lnTo>
                  <a:pt x="376234" y="101432"/>
                </a:lnTo>
                <a:lnTo>
                  <a:pt x="385535" y="110143"/>
                </a:lnTo>
                <a:lnTo>
                  <a:pt x="394245" y="119444"/>
                </a:lnTo>
                <a:lnTo>
                  <a:pt x="402329" y="129294"/>
                </a:lnTo>
                <a:lnTo>
                  <a:pt x="409752" y="139652"/>
                </a:lnTo>
                <a:lnTo>
                  <a:pt x="416481" y="150473"/>
                </a:lnTo>
                <a:lnTo>
                  <a:pt x="422488" y="161712"/>
                </a:lnTo>
                <a:lnTo>
                  <a:pt x="427747" y="173319"/>
                </a:lnTo>
                <a:lnTo>
                  <a:pt x="432236" y="185245"/>
                </a:lnTo>
                <a:lnTo>
                  <a:pt x="435935" y="197439"/>
                </a:lnTo>
                <a:lnTo>
                  <a:pt x="438828" y="209849"/>
                </a:lnTo>
                <a:lnTo>
                  <a:pt x="440904" y="222421"/>
                </a:lnTo>
                <a:lnTo>
                  <a:pt x="442153" y="235103"/>
                </a:lnTo>
                <a:lnTo>
                  <a:pt x="442570" y="247839"/>
                </a:lnTo>
                <a:close/>
              </a:path>
            </a:pathLst>
          </a:cu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Freeform 61"/>
          <p:cNvSpPr/>
          <p:nvPr/>
        </p:nvSpPr>
        <p:spPr>
          <a:xfrm>
            <a:off x="4731434" y="2512771"/>
            <a:ext cx="495678" cy="247839"/>
          </a:xfrm>
          <a:custGeom>
            <a:avLst/>
            <a:gdLst/>
            <a:ahLst/>
            <a:cxnLst/>
            <a:rect l="l" t="t" r="r" b="b"/>
            <a:pathLst>
              <a:path w="495678" h="247839">
                <a:moveTo>
                  <a:pt x="0" y="0"/>
                </a:moveTo>
                <a:lnTo>
                  <a:pt x="531" y="16209"/>
                </a:lnTo>
                <a:lnTo>
                  <a:pt x="2121" y="32349"/>
                </a:lnTo>
                <a:lnTo>
                  <a:pt x="4762" y="48351"/>
                </a:lnTo>
                <a:lnTo>
                  <a:pt x="8445" y="64145"/>
                </a:lnTo>
                <a:lnTo>
                  <a:pt x="13153" y="79665"/>
                </a:lnTo>
                <a:lnTo>
                  <a:pt x="18866" y="94844"/>
                </a:lnTo>
                <a:lnTo>
                  <a:pt x="25559" y="109616"/>
                </a:lnTo>
                <a:lnTo>
                  <a:pt x="33204" y="123919"/>
                </a:lnTo>
                <a:lnTo>
                  <a:pt x="41769" y="137692"/>
                </a:lnTo>
                <a:lnTo>
                  <a:pt x="51215" y="150875"/>
                </a:lnTo>
                <a:lnTo>
                  <a:pt x="61504" y="163411"/>
                </a:lnTo>
                <a:lnTo>
                  <a:pt x="72591" y="175248"/>
                </a:lnTo>
                <a:lnTo>
                  <a:pt x="84428" y="186335"/>
                </a:lnTo>
                <a:lnTo>
                  <a:pt x="96964" y="196624"/>
                </a:lnTo>
                <a:lnTo>
                  <a:pt x="110147" y="206070"/>
                </a:lnTo>
                <a:lnTo>
                  <a:pt x="123920" y="214635"/>
                </a:lnTo>
                <a:lnTo>
                  <a:pt x="138223" y="222280"/>
                </a:lnTo>
                <a:lnTo>
                  <a:pt x="152995" y="228973"/>
                </a:lnTo>
                <a:lnTo>
                  <a:pt x="168174" y="234686"/>
                </a:lnTo>
                <a:lnTo>
                  <a:pt x="183694" y="239394"/>
                </a:lnTo>
                <a:lnTo>
                  <a:pt x="199488" y="243077"/>
                </a:lnTo>
                <a:lnTo>
                  <a:pt x="215490" y="245718"/>
                </a:lnTo>
                <a:lnTo>
                  <a:pt x="231630" y="247308"/>
                </a:lnTo>
                <a:lnTo>
                  <a:pt x="247839" y="247839"/>
                </a:lnTo>
                <a:lnTo>
                  <a:pt x="264049" y="247308"/>
                </a:lnTo>
                <a:lnTo>
                  <a:pt x="280189" y="245718"/>
                </a:lnTo>
                <a:lnTo>
                  <a:pt x="296190" y="243077"/>
                </a:lnTo>
                <a:lnTo>
                  <a:pt x="311985" y="239394"/>
                </a:lnTo>
                <a:lnTo>
                  <a:pt x="327504" y="234686"/>
                </a:lnTo>
                <a:lnTo>
                  <a:pt x="342683" y="228973"/>
                </a:lnTo>
                <a:lnTo>
                  <a:pt x="357456" y="222280"/>
                </a:lnTo>
                <a:lnTo>
                  <a:pt x="371759" y="214635"/>
                </a:lnTo>
                <a:lnTo>
                  <a:pt x="385531" y="206070"/>
                </a:lnTo>
                <a:lnTo>
                  <a:pt x="398714" y="196624"/>
                </a:lnTo>
                <a:lnTo>
                  <a:pt x="411251" y="186335"/>
                </a:lnTo>
                <a:lnTo>
                  <a:pt x="423088" y="175248"/>
                </a:lnTo>
                <a:lnTo>
                  <a:pt x="434174" y="163411"/>
                </a:lnTo>
                <a:lnTo>
                  <a:pt x="444463" y="150875"/>
                </a:lnTo>
                <a:lnTo>
                  <a:pt x="453910" y="137692"/>
                </a:lnTo>
                <a:lnTo>
                  <a:pt x="462474" y="123919"/>
                </a:lnTo>
                <a:lnTo>
                  <a:pt x="470119" y="109616"/>
                </a:lnTo>
                <a:lnTo>
                  <a:pt x="476813" y="94844"/>
                </a:lnTo>
                <a:lnTo>
                  <a:pt x="482525" y="79665"/>
                </a:lnTo>
                <a:lnTo>
                  <a:pt x="487233" y="64145"/>
                </a:lnTo>
                <a:lnTo>
                  <a:pt x="490916" y="48351"/>
                </a:lnTo>
                <a:lnTo>
                  <a:pt x="493558" y="32349"/>
                </a:lnTo>
                <a:lnTo>
                  <a:pt x="495148" y="16209"/>
                </a:lnTo>
                <a:lnTo>
                  <a:pt x="495678" y="0"/>
                </a:lnTo>
                <a:lnTo>
                  <a:pt x="442570" y="0"/>
                </a:lnTo>
                <a:lnTo>
                  <a:pt x="442153" y="12736"/>
                </a:lnTo>
                <a:lnTo>
                  <a:pt x="440904" y="25417"/>
                </a:lnTo>
                <a:lnTo>
                  <a:pt x="438828" y="37990"/>
                </a:lnTo>
                <a:lnTo>
                  <a:pt x="435935" y="50400"/>
                </a:lnTo>
                <a:lnTo>
                  <a:pt x="432236" y="62594"/>
                </a:lnTo>
                <a:lnTo>
                  <a:pt x="427747" y="74520"/>
                </a:lnTo>
                <a:lnTo>
                  <a:pt x="422488" y="86127"/>
                </a:lnTo>
                <a:lnTo>
                  <a:pt x="416481" y="97365"/>
                </a:lnTo>
                <a:lnTo>
                  <a:pt x="409752" y="108186"/>
                </a:lnTo>
                <a:lnTo>
                  <a:pt x="402329" y="118544"/>
                </a:lnTo>
                <a:lnTo>
                  <a:pt x="394245" y="128395"/>
                </a:lnTo>
                <a:lnTo>
                  <a:pt x="385535" y="137695"/>
                </a:lnTo>
                <a:lnTo>
                  <a:pt x="376234" y="146406"/>
                </a:lnTo>
                <a:lnTo>
                  <a:pt x="366384" y="154490"/>
                </a:lnTo>
                <a:lnTo>
                  <a:pt x="356026" y="161912"/>
                </a:lnTo>
                <a:lnTo>
                  <a:pt x="345205" y="168641"/>
                </a:lnTo>
                <a:lnTo>
                  <a:pt x="333966" y="174648"/>
                </a:lnTo>
                <a:lnTo>
                  <a:pt x="322359" y="179907"/>
                </a:lnTo>
                <a:lnTo>
                  <a:pt x="310433" y="184396"/>
                </a:lnTo>
                <a:lnTo>
                  <a:pt x="298239" y="188095"/>
                </a:lnTo>
                <a:lnTo>
                  <a:pt x="285829" y="190989"/>
                </a:lnTo>
                <a:lnTo>
                  <a:pt x="273257" y="193064"/>
                </a:lnTo>
                <a:lnTo>
                  <a:pt x="260575" y="194313"/>
                </a:lnTo>
                <a:lnTo>
                  <a:pt x="247839" y="194730"/>
                </a:lnTo>
                <a:lnTo>
                  <a:pt x="235103" y="194313"/>
                </a:lnTo>
                <a:lnTo>
                  <a:pt x="222422" y="193064"/>
                </a:lnTo>
                <a:lnTo>
                  <a:pt x="209849" y="190989"/>
                </a:lnTo>
                <a:lnTo>
                  <a:pt x="197439" y="188095"/>
                </a:lnTo>
                <a:lnTo>
                  <a:pt x="185245" y="184396"/>
                </a:lnTo>
                <a:lnTo>
                  <a:pt x="173319" y="179907"/>
                </a:lnTo>
                <a:lnTo>
                  <a:pt x="161712" y="174648"/>
                </a:lnTo>
                <a:lnTo>
                  <a:pt x="150474" y="168641"/>
                </a:lnTo>
                <a:lnTo>
                  <a:pt x="139653" y="161912"/>
                </a:lnTo>
                <a:lnTo>
                  <a:pt x="129295" y="154490"/>
                </a:lnTo>
                <a:lnTo>
                  <a:pt x="119444" y="146406"/>
                </a:lnTo>
                <a:lnTo>
                  <a:pt x="110144" y="137695"/>
                </a:lnTo>
                <a:lnTo>
                  <a:pt x="101433" y="128395"/>
                </a:lnTo>
                <a:lnTo>
                  <a:pt x="93349" y="118544"/>
                </a:lnTo>
                <a:lnTo>
                  <a:pt x="85927" y="108186"/>
                </a:lnTo>
                <a:lnTo>
                  <a:pt x="79198" y="97365"/>
                </a:lnTo>
                <a:lnTo>
                  <a:pt x="73191" y="86127"/>
                </a:lnTo>
                <a:lnTo>
                  <a:pt x="67932" y="74520"/>
                </a:lnTo>
                <a:lnTo>
                  <a:pt x="63443" y="62594"/>
                </a:lnTo>
                <a:lnTo>
                  <a:pt x="59744" y="50400"/>
                </a:lnTo>
                <a:lnTo>
                  <a:pt x="56850" y="37990"/>
                </a:lnTo>
                <a:lnTo>
                  <a:pt x="54775" y="25417"/>
                </a:lnTo>
                <a:lnTo>
                  <a:pt x="53526" y="12736"/>
                </a:lnTo>
                <a:lnTo>
                  <a:pt x="53109" y="0"/>
                </a:lnTo>
                <a:close/>
              </a:path>
            </a:pathLst>
          </a:cu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Freeform 62"/>
          <p:cNvSpPr/>
          <p:nvPr/>
        </p:nvSpPr>
        <p:spPr>
          <a:xfrm>
            <a:off x="5235581" y="2471925"/>
            <a:ext cx="461038" cy="230518"/>
          </a:xfrm>
          <a:custGeom>
            <a:avLst/>
            <a:gdLst/>
            <a:ahLst/>
            <a:cxnLst/>
            <a:rect l="l" t="t" r="r" b="b"/>
            <a:pathLst>
              <a:path w="461038" h="230518">
                <a:moveTo>
                  <a:pt x="461038" y="230518"/>
                </a:moveTo>
                <a:lnTo>
                  <a:pt x="460544" y="215442"/>
                </a:lnTo>
                <a:lnTo>
                  <a:pt x="459066" y="200430"/>
                </a:lnTo>
                <a:lnTo>
                  <a:pt x="456608" y="185546"/>
                </a:lnTo>
                <a:lnTo>
                  <a:pt x="453183" y="170856"/>
                </a:lnTo>
                <a:lnTo>
                  <a:pt x="448804" y="156421"/>
                </a:lnTo>
                <a:lnTo>
                  <a:pt x="443490" y="142303"/>
                </a:lnTo>
                <a:lnTo>
                  <a:pt x="437265" y="128562"/>
                </a:lnTo>
                <a:lnTo>
                  <a:pt x="430154" y="115259"/>
                </a:lnTo>
                <a:lnTo>
                  <a:pt x="422188" y="102449"/>
                </a:lnTo>
                <a:lnTo>
                  <a:pt x="413402" y="90187"/>
                </a:lnTo>
                <a:lnTo>
                  <a:pt x="403832" y="78527"/>
                </a:lnTo>
                <a:lnTo>
                  <a:pt x="393520" y="67517"/>
                </a:lnTo>
                <a:lnTo>
                  <a:pt x="382510" y="57205"/>
                </a:lnTo>
                <a:lnTo>
                  <a:pt x="370850" y="47635"/>
                </a:lnTo>
                <a:lnTo>
                  <a:pt x="358588" y="38849"/>
                </a:lnTo>
                <a:lnTo>
                  <a:pt x="345778" y="30883"/>
                </a:lnTo>
                <a:lnTo>
                  <a:pt x="332475" y="23772"/>
                </a:lnTo>
                <a:lnTo>
                  <a:pt x="318735" y="17547"/>
                </a:lnTo>
                <a:lnTo>
                  <a:pt x="304617" y="12233"/>
                </a:lnTo>
                <a:lnTo>
                  <a:pt x="290181" y="7854"/>
                </a:lnTo>
                <a:lnTo>
                  <a:pt x="275491" y="4429"/>
                </a:lnTo>
                <a:lnTo>
                  <a:pt x="260608" y="1972"/>
                </a:lnTo>
                <a:lnTo>
                  <a:pt x="245595" y="493"/>
                </a:lnTo>
                <a:lnTo>
                  <a:pt x="230519" y="0"/>
                </a:lnTo>
                <a:lnTo>
                  <a:pt x="215442" y="493"/>
                </a:lnTo>
                <a:lnTo>
                  <a:pt x="200430" y="1972"/>
                </a:lnTo>
                <a:lnTo>
                  <a:pt x="185547" y="4429"/>
                </a:lnTo>
                <a:lnTo>
                  <a:pt x="170856" y="7854"/>
                </a:lnTo>
                <a:lnTo>
                  <a:pt x="156421" y="12233"/>
                </a:lnTo>
                <a:lnTo>
                  <a:pt x="142303" y="17547"/>
                </a:lnTo>
                <a:lnTo>
                  <a:pt x="128563" y="23772"/>
                </a:lnTo>
                <a:lnTo>
                  <a:pt x="115259" y="30883"/>
                </a:lnTo>
                <a:lnTo>
                  <a:pt x="102449" y="38849"/>
                </a:lnTo>
                <a:lnTo>
                  <a:pt x="90188" y="47635"/>
                </a:lnTo>
                <a:lnTo>
                  <a:pt x="78527" y="57205"/>
                </a:lnTo>
                <a:lnTo>
                  <a:pt x="67517" y="67517"/>
                </a:lnTo>
                <a:lnTo>
                  <a:pt x="57206" y="78527"/>
                </a:lnTo>
                <a:lnTo>
                  <a:pt x="47636" y="90187"/>
                </a:lnTo>
                <a:lnTo>
                  <a:pt x="38849" y="102449"/>
                </a:lnTo>
                <a:lnTo>
                  <a:pt x="30884" y="115259"/>
                </a:lnTo>
                <a:lnTo>
                  <a:pt x="23773" y="128562"/>
                </a:lnTo>
                <a:lnTo>
                  <a:pt x="17547" y="142303"/>
                </a:lnTo>
                <a:lnTo>
                  <a:pt x="12234" y="156421"/>
                </a:lnTo>
                <a:lnTo>
                  <a:pt x="7855" y="170856"/>
                </a:lnTo>
                <a:lnTo>
                  <a:pt x="4429" y="185546"/>
                </a:lnTo>
                <a:lnTo>
                  <a:pt x="1972" y="200430"/>
                </a:lnTo>
                <a:lnTo>
                  <a:pt x="494" y="215442"/>
                </a:lnTo>
                <a:lnTo>
                  <a:pt x="0" y="230518"/>
                </a:lnTo>
                <a:lnTo>
                  <a:pt x="53108" y="230518"/>
                </a:lnTo>
                <a:lnTo>
                  <a:pt x="53488" y="218915"/>
                </a:lnTo>
                <a:lnTo>
                  <a:pt x="54626" y="207362"/>
                </a:lnTo>
                <a:lnTo>
                  <a:pt x="56517" y="195907"/>
                </a:lnTo>
                <a:lnTo>
                  <a:pt x="59153" y="184601"/>
                </a:lnTo>
                <a:lnTo>
                  <a:pt x="62523" y="173492"/>
                </a:lnTo>
                <a:lnTo>
                  <a:pt x="66613" y="162626"/>
                </a:lnTo>
                <a:lnTo>
                  <a:pt x="71404" y="152052"/>
                </a:lnTo>
                <a:lnTo>
                  <a:pt x="76877" y="141813"/>
                </a:lnTo>
                <a:lnTo>
                  <a:pt x="83007" y="131954"/>
                </a:lnTo>
                <a:lnTo>
                  <a:pt x="89770" y="122518"/>
                </a:lnTo>
                <a:lnTo>
                  <a:pt x="97135" y="113544"/>
                </a:lnTo>
                <a:lnTo>
                  <a:pt x="105071" y="105070"/>
                </a:lnTo>
                <a:lnTo>
                  <a:pt x="113544" y="97134"/>
                </a:lnTo>
                <a:lnTo>
                  <a:pt x="122518" y="89769"/>
                </a:lnTo>
                <a:lnTo>
                  <a:pt x="131955" y="83007"/>
                </a:lnTo>
                <a:lnTo>
                  <a:pt x="141814" y="76876"/>
                </a:lnTo>
                <a:lnTo>
                  <a:pt x="152052" y="71404"/>
                </a:lnTo>
                <a:lnTo>
                  <a:pt x="162627" y="66612"/>
                </a:lnTo>
                <a:lnTo>
                  <a:pt x="173492" y="62523"/>
                </a:lnTo>
                <a:lnTo>
                  <a:pt x="184602" y="59153"/>
                </a:lnTo>
                <a:lnTo>
                  <a:pt x="195908" y="56517"/>
                </a:lnTo>
                <a:lnTo>
                  <a:pt x="207362" y="54626"/>
                </a:lnTo>
                <a:lnTo>
                  <a:pt x="218916" y="53488"/>
                </a:lnTo>
                <a:lnTo>
                  <a:pt x="230519" y="53108"/>
                </a:lnTo>
                <a:lnTo>
                  <a:pt x="242122" y="53488"/>
                </a:lnTo>
                <a:lnTo>
                  <a:pt x="253676" y="54626"/>
                </a:lnTo>
                <a:lnTo>
                  <a:pt x="265130" y="56517"/>
                </a:lnTo>
                <a:lnTo>
                  <a:pt x="276436" y="59153"/>
                </a:lnTo>
                <a:lnTo>
                  <a:pt x="287546" y="62523"/>
                </a:lnTo>
                <a:lnTo>
                  <a:pt x="298411" y="66612"/>
                </a:lnTo>
                <a:lnTo>
                  <a:pt x="308985" y="71404"/>
                </a:lnTo>
                <a:lnTo>
                  <a:pt x="319224" y="76876"/>
                </a:lnTo>
                <a:lnTo>
                  <a:pt x="329083" y="83007"/>
                </a:lnTo>
                <a:lnTo>
                  <a:pt x="338519" y="89769"/>
                </a:lnTo>
                <a:lnTo>
                  <a:pt x="347494" y="97134"/>
                </a:lnTo>
                <a:lnTo>
                  <a:pt x="355967" y="105070"/>
                </a:lnTo>
                <a:lnTo>
                  <a:pt x="363903" y="113544"/>
                </a:lnTo>
                <a:lnTo>
                  <a:pt x="371268" y="122518"/>
                </a:lnTo>
                <a:lnTo>
                  <a:pt x="378030" y="131954"/>
                </a:lnTo>
                <a:lnTo>
                  <a:pt x="384161" y="141813"/>
                </a:lnTo>
                <a:lnTo>
                  <a:pt x="389633" y="152052"/>
                </a:lnTo>
                <a:lnTo>
                  <a:pt x="394425" y="162626"/>
                </a:lnTo>
                <a:lnTo>
                  <a:pt x="398514" y="173492"/>
                </a:lnTo>
                <a:lnTo>
                  <a:pt x="401884" y="184601"/>
                </a:lnTo>
                <a:lnTo>
                  <a:pt x="404520" y="195907"/>
                </a:lnTo>
                <a:lnTo>
                  <a:pt x="406412" y="207362"/>
                </a:lnTo>
                <a:lnTo>
                  <a:pt x="407549" y="218915"/>
                </a:lnTo>
                <a:lnTo>
                  <a:pt x="407929" y="230518"/>
                </a:lnTo>
                <a:close/>
              </a:path>
            </a:pathLst>
          </a:cu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Freeform 63"/>
          <p:cNvSpPr/>
          <p:nvPr/>
        </p:nvSpPr>
        <p:spPr>
          <a:xfrm>
            <a:off x="5235581" y="2702443"/>
            <a:ext cx="461038" cy="230519"/>
          </a:xfrm>
          <a:custGeom>
            <a:avLst/>
            <a:gdLst/>
            <a:ahLst/>
            <a:cxnLst/>
            <a:rect l="l" t="t" r="r" b="b"/>
            <a:pathLst>
              <a:path w="461038" h="230519">
                <a:moveTo>
                  <a:pt x="0" y="0"/>
                </a:moveTo>
                <a:lnTo>
                  <a:pt x="494" y="15077"/>
                </a:lnTo>
                <a:lnTo>
                  <a:pt x="1972" y="30089"/>
                </a:lnTo>
                <a:lnTo>
                  <a:pt x="4429" y="44972"/>
                </a:lnTo>
                <a:lnTo>
                  <a:pt x="7855" y="59663"/>
                </a:lnTo>
                <a:lnTo>
                  <a:pt x="12234" y="74098"/>
                </a:lnTo>
                <a:lnTo>
                  <a:pt x="17547" y="88216"/>
                </a:lnTo>
                <a:lnTo>
                  <a:pt x="23773" y="101956"/>
                </a:lnTo>
                <a:lnTo>
                  <a:pt x="30884" y="115260"/>
                </a:lnTo>
                <a:lnTo>
                  <a:pt x="38849" y="128070"/>
                </a:lnTo>
                <a:lnTo>
                  <a:pt x="47636" y="140331"/>
                </a:lnTo>
                <a:lnTo>
                  <a:pt x="57206" y="151992"/>
                </a:lnTo>
                <a:lnTo>
                  <a:pt x="67517" y="163002"/>
                </a:lnTo>
                <a:lnTo>
                  <a:pt x="78527" y="173314"/>
                </a:lnTo>
                <a:lnTo>
                  <a:pt x="90188" y="182883"/>
                </a:lnTo>
                <a:lnTo>
                  <a:pt x="102449" y="191670"/>
                </a:lnTo>
                <a:lnTo>
                  <a:pt x="115259" y="199636"/>
                </a:lnTo>
                <a:lnTo>
                  <a:pt x="128563" y="206746"/>
                </a:lnTo>
                <a:lnTo>
                  <a:pt x="142303" y="212972"/>
                </a:lnTo>
                <a:lnTo>
                  <a:pt x="156421" y="218286"/>
                </a:lnTo>
                <a:lnTo>
                  <a:pt x="170856" y="222665"/>
                </a:lnTo>
                <a:lnTo>
                  <a:pt x="185547" y="226090"/>
                </a:lnTo>
                <a:lnTo>
                  <a:pt x="200430" y="228547"/>
                </a:lnTo>
                <a:lnTo>
                  <a:pt x="215442" y="230026"/>
                </a:lnTo>
                <a:lnTo>
                  <a:pt x="230519" y="230519"/>
                </a:lnTo>
                <a:lnTo>
                  <a:pt x="245595" y="230026"/>
                </a:lnTo>
                <a:lnTo>
                  <a:pt x="260608" y="228547"/>
                </a:lnTo>
                <a:lnTo>
                  <a:pt x="275491" y="226090"/>
                </a:lnTo>
                <a:lnTo>
                  <a:pt x="290181" y="222665"/>
                </a:lnTo>
                <a:lnTo>
                  <a:pt x="304617" y="218286"/>
                </a:lnTo>
                <a:lnTo>
                  <a:pt x="318735" y="212972"/>
                </a:lnTo>
                <a:lnTo>
                  <a:pt x="332475" y="206746"/>
                </a:lnTo>
                <a:lnTo>
                  <a:pt x="345778" y="199636"/>
                </a:lnTo>
                <a:lnTo>
                  <a:pt x="358588" y="191670"/>
                </a:lnTo>
                <a:lnTo>
                  <a:pt x="370850" y="182883"/>
                </a:lnTo>
                <a:lnTo>
                  <a:pt x="382510" y="173314"/>
                </a:lnTo>
                <a:lnTo>
                  <a:pt x="393520" y="163002"/>
                </a:lnTo>
                <a:lnTo>
                  <a:pt x="403832" y="151992"/>
                </a:lnTo>
                <a:lnTo>
                  <a:pt x="413402" y="140331"/>
                </a:lnTo>
                <a:lnTo>
                  <a:pt x="422188" y="128070"/>
                </a:lnTo>
                <a:lnTo>
                  <a:pt x="430154" y="115260"/>
                </a:lnTo>
                <a:lnTo>
                  <a:pt x="437265" y="101956"/>
                </a:lnTo>
                <a:lnTo>
                  <a:pt x="443490" y="88216"/>
                </a:lnTo>
                <a:lnTo>
                  <a:pt x="448804" y="74098"/>
                </a:lnTo>
                <a:lnTo>
                  <a:pt x="453183" y="59663"/>
                </a:lnTo>
                <a:lnTo>
                  <a:pt x="456608" y="44972"/>
                </a:lnTo>
                <a:lnTo>
                  <a:pt x="459066" y="30089"/>
                </a:lnTo>
                <a:lnTo>
                  <a:pt x="460544" y="15077"/>
                </a:lnTo>
                <a:lnTo>
                  <a:pt x="461038" y="0"/>
                </a:lnTo>
                <a:lnTo>
                  <a:pt x="407929" y="0"/>
                </a:lnTo>
                <a:lnTo>
                  <a:pt x="407549" y="11604"/>
                </a:lnTo>
                <a:lnTo>
                  <a:pt x="406412" y="23157"/>
                </a:lnTo>
                <a:lnTo>
                  <a:pt x="404520" y="34611"/>
                </a:lnTo>
                <a:lnTo>
                  <a:pt x="401884" y="45918"/>
                </a:lnTo>
                <a:lnTo>
                  <a:pt x="398514" y="57027"/>
                </a:lnTo>
                <a:lnTo>
                  <a:pt x="394425" y="67892"/>
                </a:lnTo>
                <a:lnTo>
                  <a:pt x="389633" y="78467"/>
                </a:lnTo>
                <a:lnTo>
                  <a:pt x="384161" y="88706"/>
                </a:lnTo>
                <a:lnTo>
                  <a:pt x="378030" y="98564"/>
                </a:lnTo>
                <a:lnTo>
                  <a:pt x="371268" y="108001"/>
                </a:lnTo>
                <a:lnTo>
                  <a:pt x="363903" y="116975"/>
                </a:lnTo>
                <a:lnTo>
                  <a:pt x="355967" y="125449"/>
                </a:lnTo>
                <a:lnTo>
                  <a:pt x="347494" y="133385"/>
                </a:lnTo>
                <a:lnTo>
                  <a:pt x="338519" y="140750"/>
                </a:lnTo>
                <a:lnTo>
                  <a:pt x="329083" y="147512"/>
                </a:lnTo>
                <a:lnTo>
                  <a:pt x="319224" y="153642"/>
                </a:lnTo>
                <a:lnTo>
                  <a:pt x="308985" y="159115"/>
                </a:lnTo>
                <a:lnTo>
                  <a:pt x="298411" y="163906"/>
                </a:lnTo>
                <a:lnTo>
                  <a:pt x="287546" y="167996"/>
                </a:lnTo>
                <a:lnTo>
                  <a:pt x="276436" y="171366"/>
                </a:lnTo>
                <a:lnTo>
                  <a:pt x="265130" y="174002"/>
                </a:lnTo>
                <a:lnTo>
                  <a:pt x="253676" y="175893"/>
                </a:lnTo>
                <a:lnTo>
                  <a:pt x="242122" y="177031"/>
                </a:lnTo>
                <a:lnTo>
                  <a:pt x="230519" y="177411"/>
                </a:lnTo>
                <a:lnTo>
                  <a:pt x="218916" y="177031"/>
                </a:lnTo>
                <a:lnTo>
                  <a:pt x="207362" y="175893"/>
                </a:lnTo>
                <a:lnTo>
                  <a:pt x="195908" y="174002"/>
                </a:lnTo>
                <a:lnTo>
                  <a:pt x="184602" y="171366"/>
                </a:lnTo>
                <a:lnTo>
                  <a:pt x="173492" y="167996"/>
                </a:lnTo>
                <a:lnTo>
                  <a:pt x="162627" y="163906"/>
                </a:lnTo>
                <a:lnTo>
                  <a:pt x="152052" y="159115"/>
                </a:lnTo>
                <a:lnTo>
                  <a:pt x="141814" y="153642"/>
                </a:lnTo>
                <a:lnTo>
                  <a:pt x="131955" y="147512"/>
                </a:lnTo>
                <a:lnTo>
                  <a:pt x="122518" y="140750"/>
                </a:lnTo>
                <a:lnTo>
                  <a:pt x="113544" y="133385"/>
                </a:lnTo>
                <a:lnTo>
                  <a:pt x="105071" y="125449"/>
                </a:lnTo>
                <a:lnTo>
                  <a:pt x="97135" y="116975"/>
                </a:lnTo>
                <a:lnTo>
                  <a:pt x="89770" y="108001"/>
                </a:lnTo>
                <a:lnTo>
                  <a:pt x="83007" y="98564"/>
                </a:lnTo>
                <a:lnTo>
                  <a:pt x="76877" y="88706"/>
                </a:lnTo>
                <a:lnTo>
                  <a:pt x="71404" y="78467"/>
                </a:lnTo>
                <a:lnTo>
                  <a:pt x="66613" y="67892"/>
                </a:lnTo>
                <a:lnTo>
                  <a:pt x="62523" y="57027"/>
                </a:lnTo>
                <a:lnTo>
                  <a:pt x="59153" y="45918"/>
                </a:lnTo>
                <a:lnTo>
                  <a:pt x="56517" y="34611"/>
                </a:lnTo>
                <a:lnTo>
                  <a:pt x="54626" y="23157"/>
                </a:lnTo>
                <a:lnTo>
                  <a:pt x="53488" y="11604"/>
                </a:lnTo>
                <a:lnTo>
                  <a:pt x="53108" y="0"/>
                </a:lnTo>
                <a:close/>
              </a:path>
            </a:pathLst>
          </a:cu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Freeform 64"/>
          <p:cNvSpPr/>
          <p:nvPr/>
        </p:nvSpPr>
        <p:spPr>
          <a:xfrm>
            <a:off x="2099527" y="4324262"/>
            <a:ext cx="360144" cy="180072"/>
          </a:xfrm>
          <a:custGeom>
            <a:avLst/>
            <a:gdLst/>
            <a:ahLst/>
            <a:cxnLst/>
            <a:rect l="l" t="t" r="r" b="b"/>
            <a:pathLst>
              <a:path w="360144" h="180072">
                <a:moveTo>
                  <a:pt x="360144" y="180072"/>
                </a:moveTo>
                <a:lnTo>
                  <a:pt x="359758" y="168295"/>
                </a:lnTo>
                <a:lnTo>
                  <a:pt x="358603" y="156568"/>
                </a:lnTo>
                <a:lnTo>
                  <a:pt x="356684" y="144942"/>
                </a:lnTo>
                <a:lnTo>
                  <a:pt x="354008" y="133466"/>
                </a:lnTo>
                <a:lnTo>
                  <a:pt x="350587" y="122190"/>
                </a:lnTo>
                <a:lnTo>
                  <a:pt x="346437" y="111161"/>
                </a:lnTo>
                <a:lnTo>
                  <a:pt x="341573" y="100428"/>
                </a:lnTo>
                <a:lnTo>
                  <a:pt x="336019" y="90036"/>
                </a:lnTo>
                <a:lnTo>
                  <a:pt x="329796" y="80029"/>
                </a:lnTo>
                <a:lnTo>
                  <a:pt x="322932" y="70451"/>
                </a:lnTo>
                <a:lnTo>
                  <a:pt x="315457" y="61342"/>
                </a:lnTo>
                <a:lnTo>
                  <a:pt x="307402" y="52742"/>
                </a:lnTo>
                <a:lnTo>
                  <a:pt x="298801" y="44687"/>
                </a:lnTo>
                <a:lnTo>
                  <a:pt x="289693" y="37211"/>
                </a:lnTo>
                <a:lnTo>
                  <a:pt x="280114" y="30348"/>
                </a:lnTo>
                <a:lnTo>
                  <a:pt x="270108" y="24125"/>
                </a:lnTo>
                <a:lnTo>
                  <a:pt x="259716" y="18570"/>
                </a:lnTo>
                <a:lnTo>
                  <a:pt x="248982" y="13707"/>
                </a:lnTo>
                <a:lnTo>
                  <a:pt x="237954" y="9556"/>
                </a:lnTo>
                <a:lnTo>
                  <a:pt x="226678" y="6136"/>
                </a:lnTo>
                <a:lnTo>
                  <a:pt x="215202" y="3460"/>
                </a:lnTo>
                <a:lnTo>
                  <a:pt x="203576" y="1540"/>
                </a:lnTo>
                <a:lnTo>
                  <a:pt x="191849" y="385"/>
                </a:lnTo>
                <a:lnTo>
                  <a:pt x="180072" y="0"/>
                </a:lnTo>
                <a:lnTo>
                  <a:pt x="168294" y="385"/>
                </a:lnTo>
                <a:lnTo>
                  <a:pt x="156568" y="1540"/>
                </a:lnTo>
                <a:lnTo>
                  <a:pt x="144941" y="3460"/>
                </a:lnTo>
                <a:lnTo>
                  <a:pt x="133466" y="6136"/>
                </a:lnTo>
                <a:lnTo>
                  <a:pt x="122189" y="9556"/>
                </a:lnTo>
                <a:lnTo>
                  <a:pt x="111161" y="13707"/>
                </a:lnTo>
                <a:lnTo>
                  <a:pt x="100428" y="18570"/>
                </a:lnTo>
                <a:lnTo>
                  <a:pt x="90036" y="24125"/>
                </a:lnTo>
                <a:lnTo>
                  <a:pt x="80029" y="30348"/>
                </a:lnTo>
                <a:lnTo>
                  <a:pt x="70451" y="37211"/>
                </a:lnTo>
                <a:lnTo>
                  <a:pt x="61342" y="44687"/>
                </a:lnTo>
                <a:lnTo>
                  <a:pt x="52742" y="52742"/>
                </a:lnTo>
                <a:lnTo>
                  <a:pt x="44686" y="61342"/>
                </a:lnTo>
                <a:lnTo>
                  <a:pt x="37211" y="70451"/>
                </a:lnTo>
                <a:lnTo>
                  <a:pt x="30347" y="80029"/>
                </a:lnTo>
                <a:lnTo>
                  <a:pt x="24125" y="90036"/>
                </a:lnTo>
                <a:lnTo>
                  <a:pt x="18570" y="100428"/>
                </a:lnTo>
                <a:lnTo>
                  <a:pt x="13707" y="111161"/>
                </a:lnTo>
                <a:lnTo>
                  <a:pt x="9556" y="122190"/>
                </a:lnTo>
                <a:lnTo>
                  <a:pt x="6136" y="133466"/>
                </a:lnTo>
                <a:lnTo>
                  <a:pt x="3460" y="144942"/>
                </a:lnTo>
                <a:lnTo>
                  <a:pt x="1540" y="156568"/>
                </a:lnTo>
                <a:lnTo>
                  <a:pt x="385" y="168295"/>
                </a:lnTo>
                <a:lnTo>
                  <a:pt x="0" y="180072"/>
                </a:lnTo>
                <a:lnTo>
                  <a:pt x="53108" y="180072"/>
                </a:lnTo>
                <a:lnTo>
                  <a:pt x="53380" y="171768"/>
                </a:lnTo>
                <a:lnTo>
                  <a:pt x="54194" y="163500"/>
                </a:lnTo>
                <a:lnTo>
                  <a:pt x="55548" y="155303"/>
                </a:lnTo>
                <a:lnTo>
                  <a:pt x="57434" y="147211"/>
                </a:lnTo>
                <a:lnTo>
                  <a:pt x="59846" y="139261"/>
                </a:lnTo>
                <a:lnTo>
                  <a:pt x="62773" y="131485"/>
                </a:lnTo>
                <a:lnTo>
                  <a:pt x="66201" y="123917"/>
                </a:lnTo>
                <a:lnTo>
                  <a:pt x="70118" y="116590"/>
                </a:lnTo>
                <a:lnTo>
                  <a:pt x="74505" y="109535"/>
                </a:lnTo>
                <a:lnTo>
                  <a:pt x="79345" y="102781"/>
                </a:lnTo>
                <a:lnTo>
                  <a:pt x="84615" y="96359"/>
                </a:lnTo>
                <a:lnTo>
                  <a:pt x="90295" y="90295"/>
                </a:lnTo>
                <a:lnTo>
                  <a:pt x="96359" y="84616"/>
                </a:lnTo>
                <a:lnTo>
                  <a:pt x="102781" y="79345"/>
                </a:lnTo>
                <a:lnTo>
                  <a:pt x="109534" y="74505"/>
                </a:lnTo>
                <a:lnTo>
                  <a:pt x="116590" y="70118"/>
                </a:lnTo>
                <a:lnTo>
                  <a:pt x="123917" y="66202"/>
                </a:lnTo>
                <a:lnTo>
                  <a:pt x="131485" y="62773"/>
                </a:lnTo>
                <a:lnTo>
                  <a:pt x="139261" y="59846"/>
                </a:lnTo>
                <a:lnTo>
                  <a:pt x="147211" y="57434"/>
                </a:lnTo>
                <a:lnTo>
                  <a:pt x="155302" y="55548"/>
                </a:lnTo>
                <a:lnTo>
                  <a:pt x="163500" y="54194"/>
                </a:lnTo>
                <a:lnTo>
                  <a:pt x="171768" y="53380"/>
                </a:lnTo>
                <a:lnTo>
                  <a:pt x="180072" y="53108"/>
                </a:lnTo>
                <a:lnTo>
                  <a:pt x="188376" y="53380"/>
                </a:lnTo>
                <a:lnTo>
                  <a:pt x="196644" y="54194"/>
                </a:lnTo>
                <a:lnTo>
                  <a:pt x="204841" y="55548"/>
                </a:lnTo>
                <a:lnTo>
                  <a:pt x="212932" y="57434"/>
                </a:lnTo>
                <a:lnTo>
                  <a:pt x="220883" y="59846"/>
                </a:lnTo>
                <a:lnTo>
                  <a:pt x="228659" y="62773"/>
                </a:lnTo>
                <a:lnTo>
                  <a:pt x="236226" y="66202"/>
                </a:lnTo>
                <a:lnTo>
                  <a:pt x="243554" y="70118"/>
                </a:lnTo>
                <a:lnTo>
                  <a:pt x="250609" y="74505"/>
                </a:lnTo>
                <a:lnTo>
                  <a:pt x="257362" y="79345"/>
                </a:lnTo>
                <a:lnTo>
                  <a:pt x="263785" y="84616"/>
                </a:lnTo>
                <a:lnTo>
                  <a:pt x="269849" y="90295"/>
                </a:lnTo>
                <a:lnTo>
                  <a:pt x="275528" y="96359"/>
                </a:lnTo>
                <a:lnTo>
                  <a:pt x="280799" y="102781"/>
                </a:lnTo>
                <a:lnTo>
                  <a:pt x="285638" y="109535"/>
                </a:lnTo>
                <a:lnTo>
                  <a:pt x="290025" y="116590"/>
                </a:lnTo>
                <a:lnTo>
                  <a:pt x="293942" y="123917"/>
                </a:lnTo>
                <a:lnTo>
                  <a:pt x="297371" y="131485"/>
                </a:lnTo>
                <a:lnTo>
                  <a:pt x="300297" y="139261"/>
                </a:lnTo>
                <a:lnTo>
                  <a:pt x="302709" y="147211"/>
                </a:lnTo>
                <a:lnTo>
                  <a:pt x="304596" y="155303"/>
                </a:lnTo>
                <a:lnTo>
                  <a:pt x="305949" y="163500"/>
                </a:lnTo>
                <a:lnTo>
                  <a:pt x="306764" y="171768"/>
                </a:lnTo>
                <a:lnTo>
                  <a:pt x="307035" y="180072"/>
                </a:lnTo>
                <a:close/>
              </a:path>
            </a:pathLst>
          </a:cu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Freeform 65"/>
          <p:cNvSpPr/>
          <p:nvPr/>
        </p:nvSpPr>
        <p:spPr>
          <a:xfrm>
            <a:off x="2099527" y="4504334"/>
            <a:ext cx="360144" cy="180072"/>
          </a:xfrm>
          <a:custGeom>
            <a:avLst/>
            <a:gdLst/>
            <a:ahLst/>
            <a:cxnLst/>
            <a:rect l="l" t="t" r="r" b="b"/>
            <a:pathLst>
              <a:path w="360144" h="180072">
                <a:moveTo>
                  <a:pt x="0" y="0"/>
                </a:moveTo>
                <a:lnTo>
                  <a:pt x="385" y="11777"/>
                </a:lnTo>
                <a:lnTo>
                  <a:pt x="1540" y="23504"/>
                </a:lnTo>
                <a:lnTo>
                  <a:pt x="3460" y="35130"/>
                </a:lnTo>
                <a:lnTo>
                  <a:pt x="6136" y="46606"/>
                </a:lnTo>
                <a:lnTo>
                  <a:pt x="9556" y="57882"/>
                </a:lnTo>
                <a:lnTo>
                  <a:pt x="13707" y="68910"/>
                </a:lnTo>
                <a:lnTo>
                  <a:pt x="18570" y="79644"/>
                </a:lnTo>
                <a:lnTo>
                  <a:pt x="24125" y="90036"/>
                </a:lnTo>
                <a:lnTo>
                  <a:pt x="30347" y="100043"/>
                </a:lnTo>
                <a:lnTo>
                  <a:pt x="37211" y="109621"/>
                </a:lnTo>
                <a:lnTo>
                  <a:pt x="44686" y="118730"/>
                </a:lnTo>
                <a:lnTo>
                  <a:pt x="52742" y="127330"/>
                </a:lnTo>
                <a:lnTo>
                  <a:pt x="61342" y="135385"/>
                </a:lnTo>
                <a:lnTo>
                  <a:pt x="70451" y="142861"/>
                </a:lnTo>
                <a:lnTo>
                  <a:pt x="80029" y="149724"/>
                </a:lnTo>
                <a:lnTo>
                  <a:pt x="90036" y="155947"/>
                </a:lnTo>
                <a:lnTo>
                  <a:pt x="100428" y="161502"/>
                </a:lnTo>
                <a:lnTo>
                  <a:pt x="111161" y="166365"/>
                </a:lnTo>
                <a:lnTo>
                  <a:pt x="122189" y="170515"/>
                </a:lnTo>
                <a:lnTo>
                  <a:pt x="133466" y="173936"/>
                </a:lnTo>
                <a:lnTo>
                  <a:pt x="144941" y="176612"/>
                </a:lnTo>
                <a:lnTo>
                  <a:pt x="156568" y="178531"/>
                </a:lnTo>
                <a:lnTo>
                  <a:pt x="168294" y="179686"/>
                </a:lnTo>
                <a:lnTo>
                  <a:pt x="180072" y="180072"/>
                </a:lnTo>
                <a:lnTo>
                  <a:pt x="191849" y="179686"/>
                </a:lnTo>
                <a:lnTo>
                  <a:pt x="203576" y="178531"/>
                </a:lnTo>
                <a:lnTo>
                  <a:pt x="215202" y="176612"/>
                </a:lnTo>
                <a:lnTo>
                  <a:pt x="226678" y="173936"/>
                </a:lnTo>
                <a:lnTo>
                  <a:pt x="237954" y="170515"/>
                </a:lnTo>
                <a:lnTo>
                  <a:pt x="248982" y="166365"/>
                </a:lnTo>
                <a:lnTo>
                  <a:pt x="259716" y="161502"/>
                </a:lnTo>
                <a:lnTo>
                  <a:pt x="270108" y="155947"/>
                </a:lnTo>
                <a:lnTo>
                  <a:pt x="280114" y="149724"/>
                </a:lnTo>
                <a:lnTo>
                  <a:pt x="289693" y="142861"/>
                </a:lnTo>
                <a:lnTo>
                  <a:pt x="298801" y="135385"/>
                </a:lnTo>
                <a:lnTo>
                  <a:pt x="307402" y="127330"/>
                </a:lnTo>
                <a:lnTo>
                  <a:pt x="315457" y="118730"/>
                </a:lnTo>
                <a:lnTo>
                  <a:pt x="322932" y="109621"/>
                </a:lnTo>
                <a:lnTo>
                  <a:pt x="329796" y="100043"/>
                </a:lnTo>
                <a:lnTo>
                  <a:pt x="336019" y="90036"/>
                </a:lnTo>
                <a:lnTo>
                  <a:pt x="341573" y="79644"/>
                </a:lnTo>
                <a:lnTo>
                  <a:pt x="346437" y="68910"/>
                </a:lnTo>
                <a:lnTo>
                  <a:pt x="350587" y="57882"/>
                </a:lnTo>
                <a:lnTo>
                  <a:pt x="354008" y="46606"/>
                </a:lnTo>
                <a:lnTo>
                  <a:pt x="356684" y="35130"/>
                </a:lnTo>
                <a:lnTo>
                  <a:pt x="358603" y="23504"/>
                </a:lnTo>
                <a:lnTo>
                  <a:pt x="359758" y="11777"/>
                </a:lnTo>
                <a:lnTo>
                  <a:pt x="360144" y="0"/>
                </a:lnTo>
                <a:lnTo>
                  <a:pt x="307035" y="0"/>
                </a:lnTo>
                <a:lnTo>
                  <a:pt x="306764" y="8304"/>
                </a:lnTo>
                <a:lnTo>
                  <a:pt x="305949" y="16572"/>
                </a:lnTo>
                <a:lnTo>
                  <a:pt x="304596" y="24769"/>
                </a:lnTo>
                <a:lnTo>
                  <a:pt x="302709" y="32861"/>
                </a:lnTo>
                <a:lnTo>
                  <a:pt x="300297" y="40811"/>
                </a:lnTo>
                <a:lnTo>
                  <a:pt x="297371" y="48587"/>
                </a:lnTo>
                <a:lnTo>
                  <a:pt x="293942" y="56154"/>
                </a:lnTo>
                <a:lnTo>
                  <a:pt x="290025" y="63482"/>
                </a:lnTo>
                <a:lnTo>
                  <a:pt x="285638" y="70537"/>
                </a:lnTo>
                <a:lnTo>
                  <a:pt x="280799" y="77290"/>
                </a:lnTo>
                <a:lnTo>
                  <a:pt x="275528" y="83713"/>
                </a:lnTo>
                <a:lnTo>
                  <a:pt x="269849" y="89777"/>
                </a:lnTo>
                <a:lnTo>
                  <a:pt x="263785" y="95456"/>
                </a:lnTo>
                <a:lnTo>
                  <a:pt x="257362" y="100727"/>
                </a:lnTo>
                <a:lnTo>
                  <a:pt x="250609" y="105566"/>
                </a:lnTo>
                <a:lnTo>
                  <a:pt x="243554" y="109954"/>
                </a:lnTo>
                <a:lnTo>
                  <a:pt x="236226" y="113870"/>
                </a:lnTo>
                <a:lnTo>
                  <a:pt x="228659" y="117299"/>
                </a:lnTo>
                <a:lnTo>
                  <a:pt x="220883" y="120226"/>
                </a:lnTo>
                <a:lnTo>
                  <a:pt x="212932" y="122637"/>
                </a:lnTo>
                <a:lnTo>
                  <a:pt x="204841" y="124524"/>
                </a:lnTo>
                <a:lnTo>
                  <a:pt x="196644" y="125877"/>
                </a:lnTo>
                <a:lnTo>
                  <a:pt x="188376" y="126692"/>
                </a:lnTo>
                <a:lnTo>
                  <a:pt x="180072" y="126964"/>
                </a:lnTo>
                <a:lnTo>
                  <a:pt x="171768" y="126692"/>
                </a:lnTo>
                <a:lnTo>
                  <a:pt x="163500" y="125877"/>
                </a:lnTo>
                <a:lnTo>
                  <a:pt x="155302" y="124524"/>
                </a:lnTo>
                <a:lnTo>
                  <a:pt x="147211" y="122637"/>
                </a:lnTo>
                <a:lnTo>
                  <a:pt x="139261" y="120226"/>
                </a:lnTo>
                <a:lnTo>
                  <a:pt x="131485" y="117299"/>
                </a:lnTo>
                <a:lnTo>
                  <a:pt x="123917" y="113870"/>
                </a:lnTo>
                <a:lnTo>
                  <a:pt x="116590" y="109954"/>
                </a:lnTo>
                <a:lnTo>
                  <a:pt x="109534" y="105566"/>
                </a:lnTo>
                <a:lnTo>
                  <a:pt x="102781" y="100727"/>
                </a:lnTo>
                <a:lnTo>
                  <a:pt x="96359" y="95456"/>
                </a:lnTo>
                <a:lnTo>
                  <a:pt x="90295" y="89777"/>
                </a:lnTo>
                <a:lnTo>
                  <a:pt x="84615" y="83713"/>
                </a:lnTo>
                <a:lnTo>
                  <a:pt x="79345" y="77290"/>
                </a:lnTo>
                <a:lnTo>
                  <a:pt x="74505" y="70537"/>
                </a:lnTo>
                <a:lnTo>
                  <a:pt x="70118" y="63482"/>
                </a:lnTo>
                <a:lnTo>
                  <a:pt x="66201" y="56154"/>
                </a:lnTo>
                <a:lnTo>
                  <a:pt x="62773" y="48587"/>
                </a:lnTo>
                <a:lnTo>
                  <a:pt x="59846" y="40811"/>
                </a:lnTo>
                <a:lnTo>
                  <a:pt x="57434" y="32861"/>
                </a:lnTo>
                <a:lnTo>
                  <a:pt x="55548" y="24769"/>
                </a:lnTo>
                <a:lnTo>
                  <a:pt x="54194" y="16572"/>
                </a:lnTo>
                <a:lnTo>
                  <a:pt x="53380" y="8304"/>
                </a:lnTo>
                <a:lnTo>
                  <a:pt x="53108" y="0"/>
                </a:lnTo>
                <a:close/>
              </a:path>
            </a:pathLst>
          </a:cu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Freeform 66"/>
          <p:cNvSpPr/>
          <p:nvPr/>
        </p:nvSpPr>
        <p:spPr>
          <a:xfrm>
            <a:off x="2520398" y="4492237"/>
            <a:ext cx="403540" cy="201770"/>
          </a:xfrm>
          <a:custGeom>
            <a:avLst/>
            <a:gdLst/>
            <a:ahLst/>
            <a:cxnLst/>
            <a:rect l="l" t="t" r="r" b="b"/>
            <a:pathLst>
              <a:path w="403540" h="201770">
                <a:moveTo>
                  <a:pt x="403540" y="201770"/>
                </a:moveTo>
                <a:lnTo>
                  <a:pt x="403108" y="188573"/>
                </a:lnTo>
                <a:lnTo>
                  <a:pt x="401814" y="175433"/>
                </a:lnTo>
                <a:lnTo>
                  <a:pt x="399663" y="162406"/>
                </a:lnTo>
                <a:lnTo>
                  <a:pt x="396665" y="149548"/>
                </a:lnTo>
                <a:lnTo>
                  <a:pt x="392832" y="136913"/>
                </a:lnTo>
                <a:lnTo>
                  <a:pt x="388181" y="124556"/>
                </a:lnTo>
                <a:lnTo>
                  <a:pt x="382732" y="112529"/>
                </a:lnTo>
                <a:lnTo>
                  <a:pt x="376508" y="100885"/>
                </a:lnTo>
                <a:lnTo>
                  <a:pt x="369536" y="89672"/>
                </a:lnTo>
                <a:lnTo>
                  <a:pt x="361845" y="78940"/>
                </a:lnTo>
                <a:lnTo>
                  <a:pt x="353469" y="68733"/>
                </a:lnTo>
                <a:lnTo>
                  <a:pt x="344443" y="59097"/>
                </a:lnTo>
                <a:lnTo>
                  <a:pt x="334807" y="50071"/>
                </a:lnTo>
                <a:lnTo>
                  <a:pt x="324600" y="41695"/>
                </a:lnTo>
                <a:lnTo>
                  <a:pt x="313868" y="34004"/>
                </a:lnTo>
                <a:lnTo>
                  <a:pt x="302655" y="27032"/>
                </a:lnTo>
                <a:lnTo>
                  <a:pt x="291011" y="20808"/>
                </a:lnTo>
                <a:lnTo>
                  <a:pt x="278984" y="15358"/>
                </a:lnTo>
                <a:lnTo>
                  <a:pt x="266627" y="10707"/>
                </a:lnTo>
                <a:lnTo>
                  <a:pt x="253992" y="6875"/>
                </a:lnTo>
                <a:lnTo>
                  <a:pt x="241134" y="3877"/>
                </a:lnTo>
                <a:lnTo>
                  <a:pt x="228107" y="1726"/>
                </a:lnTo>
                <a:lnTo>
                  <a:pt x="214967" y="432"/>
                </a:lnTo>
                <a:lnTo>
                  <a:pt x="201770" y="0"/>
                </a:lnTo>
                <a:lnTo>
                  <a:pt x="188574" y="432"/>
                </a:lnTo>
                <a:lnTo>
                  <a:pt x="175434" y="1726"/>
                </a:lnTo>
                <a:lnTo>
                  <a:pt x="162407" y="3877"/>
                </a:lnTo>
                <a:lnTo>
                  <a:pt x="149548" y="6875"/>
                </a:lnTo>
                <a:lnTo>
                  <a:pt x="136913" y="10707"/>
                </a:lnTo>
                <a:lnTo>
                  <a:pt x="124556" y="15358"/>
                </a:lnTo>
                <a:lnTo>
                  <a:pt x="112530" y="20808"/>
                </a:lnTo>
                <a:lnTo>
                  <a:pt x="100885" y="27032"/>
                </a:lnTo>
                <a:lnTo>
                  <a:pt x="89673" y="34004"/>
                </a:lnTo>
                <a:lnTo>
                  <a:pt x="78941" y="41695"/>
                </a:lnTo>
                <a:lnTo>
                  <a:pt x="68734" y="50071"/>
                </a:lnTo>
                <a:lnTo>
                  <a:pt x="59097" y="59097"/>
                </a:lnTo>
                <a:lnTo>
                  <a:pt x="50072" y="68733"/>
                </a:lnTo>
                <a:lnTo>
                  <a:pt x="41695" y="78940"/>
                </a:lnTo>
                <a:lnTo>
                  <a:pt x="34005" y="89672"/>
                </a:lnTo>
                <a:lnTo>
                  <a:pt x="27032" y="100885"/>
                </a:lnTo>
                <a:lnTo>
                  <a:pt x="20808" y="112529"/>
                </a:lnTo>
                <a:lnTo>
                  <a:pt x="15359" y="124556"/>
                </a:lnTo>
                <a:lnTo>
                  <a:pt x="10708" y="136913"/>
                </a:lnTo>
                <a:lnTo>
                  <a:pt x="6875" y="149548"/>
                </a:lnTo>
                <a:lnTo>
                  <a:pt x="3877" y="162406"/>
                </a:lnTo>
                <a:lnTo>
                  <a:pt x="1726" y="175433"/>
                </a:lnTo>
                <a:lnTo>
                  <a:pt x="432" y="188573"/>
                </a:lnTo>
                <a:lnTo>
                  <a:pt x="0" y="201770"/>
                </a:lnTo>
                <a:lnTo>
                  <a:pt x="53109" y="201770"/>
                </a:lnTo>
                <a:lnTo>
                  <a:pt x="53427" y="192047"/>
                </a:lnTo>
                <a:lnTo>
                  <a:pt x="54380" y="182365"/>
                </a:lnTo>
                <a:lnTo>
                  <a:pt x="55965" y="172767"/>
                </a:lnTo>
                <a:lnTo>
                  <a:pt x="58174" y="163293"/>
                </a:lnTo>
                <a:lnTo>
                  <a:pt x="60998" y="153984"/>
                </a:lnTo>
                <a:lnTo>
                  <a:pt x="64425" y="144879"/>
                </a:lnTo>
                <a:lnTo>
                  <a:pt x="68440" y="136018"/>
                </a:lnTo>
                <a:lnTo>
                  <a:pt x="73026" y="127439"/>
                </a:lnTo>
                <a:lnTo>
                  <a:pt x="78163" y="119178"/>
                </a:lnTo>
                <a:lnTo>
                  <a:pt x="83829" y="111270"/>
                </a:lnTo>
                <a:lnTo>
                  <a:pt x="90001" y="103750"/>
                </a:lnTo>
                <a:lnTo>
                  <a:pt x="96651" y="96650"/>
                </a:lnTo>
                <a:lnTo>
                  <a:pt x="103751" y="90000"/>
                </a:lnTo>
                <a:lnTo>
                  <a:pt x="111271" y="83828"/>
                </a:lnTo>
                <a:lnTo>
                  <a:pt x="119178" y="78162"/>
                </a:lnTo>
                <a:lnTo>
                  <a:pt x="127439" y="73025"/>
                </a:lnTo>
                <a:lnTo>
                  <a:pt x="136019" y="68439"/>
                </a:lnTo>
                <a:lnTo>
                  <a:pt x="144880" y="64424"/>
                </a:lnTo>
                <a:lnTo>
                  <a:pt x="153985" y="60997"/>
                </a:lnTo>
                <a:lnTo>
                  <a:pt x="163294" y="58173"/>
                </a:lnTo>
                <a:lnTo>
                  <a:pt x="172768" y="55964"/>
                </a:lnTo>
                <a:lnTo>
                  <a:pt x="182366" y="54380"/>
                </a:lnTo>
                <a:lnTo>
                  <a:pt x="192047" y="53426"/>
                </a:lnTo>
                <a:lnTo>
                  <a:pt x="201770" y="53108"/>
                </a:lnTo>
                <a:lnTo>
                  <a:pt x="211493" y="53426"/>
                </a:lnTo>
                <a:lnTo>
                  <a:pt x="221175" y="54380"/>
                </a:lnTo>
                <a:lnTo>
                  <a:pt x="230773" y="55964"/>
                </a:lnTo>
                <a:lnTo>
                  <a:pt x="240247" y="58173"/>
                </a:lnTo>
                <a:lnTo>
                  <a:pt x="249556" y="60997"/>
                </a:lnTo>
                <a:lnTo>
                  <a:pt x="258661" y="64424"/>
                </a:lnTo>
                <a:lnTo>
                  <a:pt x="267522" y="68439"/>
                </a:lnTo>
                <a:lnTo>
                  <a:pt x="276101" y="73025"/>
                </a:lnTo>
                <a:lnTo>
                  <a:pt x="284362" y="78162"/>
                </a:lnTo>
                <a:lnTo>
                  <a:pt x="292270" y="83828"/>
                </a:lnTo>
                <a:lnTo>
                  <a:pt x="299790" y="90000"/>
                </a:lnTo>
                <a:lnTo>
                  <a:pt x="306890" y="96650"/>
                </a:lnTo>
                <a:lnTo>
                  <a:pt x="313540" y="103750"/>
                </a:lnTo>
                <a:lnTo>
                  <a:pt x="319712" y="111270"/>
                </a:lnTo>
                <a:lnTo>
                  <a:pt x="325378" y="119178"/>
                </a:lnTo>
                <a:lnTo>
                  <a:pt x="330515" y="127439"/>
                </a:lnTo>
                <a:lnTo>
                  <a:pt x="335101" y="136018"/>
                </a:lnTo>
                <a:lnTo>
                  <a:pt x="339116" y="144879"/>
                </a:lnTo>
                <a:lnTo>
                  <a:pt x="342542" y="153984"/>
                </a:lnTo>
                <a:lnTo>
                  <a:pt x="345366" y="163293"/>
                </a:lnTo>
                <a:lnTo>
                  <a:pt x="347575" y="172767"/>
                </a:lnTo>
                <a:lnTo>
                  <a:pt x="349160" y="182365"/>
                </a:lnTo>
                <a:lnTo>
                  <a:pt x="350114" y="192047"/>
                </a:lnTo>
                <a:lnTo>
                  <a:pt x="350432" y="201770"/>
                </a:lnTo>
                <a:close/>
              </a:path>
            </a:pathLst>
          </a:cu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Freeform 67"/>
          <p:cNvSpPr/>
          <p:nvPr/>
        </p:nvSpPr>
        <p:spPr>
          <a:xfrm>
            <a:off x="2520398" y="4694007"/>
            <a:ext cx="403540" cy="201770"/>
          </a:xfrm>
          <a:custGeom>
            <a:avLst/>
            <a:gdLst/>
            <a:ahLst/>
            <a:cxnLst/>
            <a:rect l="l" t="t" r="r" b="b"/>
            <a:pathLst>
              <a:path w="403540" h="201770">
                <a:moveTo>
                  <a:pt x="0" y="0"/>
                </a:moveTo>
                <a:lnTo>
                  <a:pt x="432" y="13196"/>
                </a:lnTo>
                <a:lnTo>
                  <a:pt x="1726" y="26336"/>
                </a:lnTo>
                <a:lnTo>
                  <a:pt x="3877" y="39363"/>
                </a:lnTo>
                <a:lnTo>
                  <a:pt x="6875" y="52222"/>
                </a:lnTo>
                <a:lnTo>
                  <a:pt x="10708" y="64856"/>
                </a:lnTo>
                <a:lnTo>
                  <a:pt x="15359" y="77214"/>
                </a:lnTo>
                <a:lnTo>
                  <a:pt x="20808" y="89240"/>
                </a:lnTo>
                <a:lnTo>
                  <a:pt x="27032" y="100885"/>
                </a:lnTo>
                <a:lnTo>
                  <a:pt x="34005" y="112097"/>
                </a:lnTo>
                <a:lnTo>
                  <a:pt x="41695" y="122829"/>
                </a:lnTo>
                <a:lnTo>
                  <a:pt x="50072" y="133036"/>
                </a:lnTo>
                <a:lnTo>
                  <a:pt x="59097" y="142673"/>
                </a:lnTo>
                <a:lnTo>
                  <a:pt x="68734" y="151698"/>
                </a:lnTo>
                <a:lnTo>
                  <a:pt x="78941" y="160074"/>
                </a:lnTo>
                <a:lnTo>
                  <a:pt x="89673" y="167765"/>
                </a:lnTo>
                <a:lnTo>
                  <a:pt x="100885" y="174738"/>
                </a:lnTo>
                <a:lnTo>
                  <a:pt x="112530" y="180962"/>
                </a:lnTo>
                <a:lnTo>
                  <a:pt x="124556" y="186411"/>
                </a:lnTo>
                <a:lnTo>
                  <a:pt x="136913" y="191062"/>
                </a:lnTo>
                <a:lnTo>
                  <a:pt x="149548" y="194894"/>
                </a:lnTo>
                <a:lnTo>
                  <a:pt x="162407" y="197893"/>
                </a:lnTo>
                <a:lnTo>
                  <a:pt x="175434" y="200043"/>
                </a:lnTo>
                <a:lnTo>
                  <a:pt x="188574" y="201338"/>
                </a:lnTo>
                <a:lnTo>
                  <a:pt x="201770" y="201770"/>
                </a:lnTo>
                <a:lnTo>
                  <a:pt x="214967" y="201338"/>
                </a:lnTo>
                <a:lnTo>
                  <a:pt x="228107" y="200043"/>
                </a:lnTo>
                <a:lnTo>
                  <a:pt x="241134" y="197893"/>
                </a:lnTo>
                <a:lnTo>
                  <a:pt x="253992" y="194894"/>
                </a:lnTo>
                <a:lnTo>
                  <a:pt x="266627" y="191062"/>
                </a:lnTo>
                <a:lnTo>
                  <a:pt x="278984" y="186411"/>
                </a:lnTo>
                <a:lnTo>
                  <a:pt x="291011" y="180962"/>
                </a:lnTo>
                <a:lnTo>
                  <a:pt x="302655" y="174738"/>
                </a:lnTo>
                <a:lnTo>
                  <a:pt x="313868" y="167765"/>
                </a:lnTo>
                <a:lnTo>
                  <a:pt x="324600" y="160074"/>
                </a:lnTo>
                <a:lnTo>
                  <a:pt x="334807" y="151698"/>
                </a:lnTo>
                <a:lnTo>
                  <a:pt x="344443" y="142673"/>
                </a:lnTo>
                <a:lnTo>
                  <a:pt x="353469" y="133036"/>
                </a:lnTo>
                <a:lnTo>
                  <a:pt x="361845" y="122829"/>
                </a:lnTo>
                <a:lnTo>
                  <a:pt x="369536" y="112097"/>
                </a:lnTo>
                <a:lnTo>
                  <a:pt x="376508" y="100885"/>
                </a:lnTo>
                <a:lnTo>
                  <a:pt x="382732" y="89240"/>
                </a:lnTo>
                <a:lnTo>
                  <a:pt x="388181" y="77214"/>
                </a:lnTo>
                <a:lnTo>
                  <a:pt x="392832" y="64856"/>
                </a:lnTo>
                <a:lnTo>
                  <a:pt x="396665" y="52222"/>
                </a:lnTo>
                <a:lnTo>
                  <a:pt x="399663" y="39363"/>
                </a:lnTo>
                <a:lnTo>
                  <a:pt x="401814" y="26336"/>
                </a:lnTo>
                <a:lnTo>
                  <a:pt x="403108" y="13196"/>
                </a:lnTo>
                <a:lnTo>
                  <a:pt x="403540" y="0"/>
                </a:lnTo>
                <a:lnTo>
                  <a:pt x="350432" y="0"/>
                </a:lnTo>
                <a:lnTo>
                  <a:pt x="350114" y="9723"/>
                </a:lnTo>
                <a:lnTo>
                  <a:pt x="349160" y="19404"/>
                </a:lnTo>
                <a:lnTo>
                  <a:pt x="347575" y="29002"/>
                </a:lnTo>
                <a:lnTo>
                  <a:pt x="345366" y="38476"/>
                </a:lnTo>
                <a:lnTo>
                  <a:pt x="342542" y="47785"/>
                </a:lnTo>
                <a:lnTo>
                  <a:pt x="339116" y="56890"/>
                </a:lnTo>
                <a:lnTo>
                  <a:pt x="335101" y="65751"/>
                </a:lnTo>
                <a:lnTo>
                  <a:pt x="330515" y="74330"/>
                </a:lnTo>
                <a:lnTo>
                  <a:pt x="325378" y="82592"/>
                </a:lnTo>
                <a:lnTo>
                  <a:pt x="319712" y="90499"/>
                </a:lnTo>
                <a:lnTo>
                  <a:pt x="313540" y="98019"/>
                </a:lnTo>
                <a:lnTo>
                  <a:pt x="306890" y="105119"/>
                </a:lnTo>
                <a:lnTo>
                  <a:pt x="299790" y="111769"/>
                </a:lnTo>
                <a:lnTo>
                  <a:pt x="292270" y="117941"/>
                </a:lnTo>
                <a:lnTo>
                  <a:pt x="284362" y="123607"/>
                </a:lnTo>
                <a:lnTo>
                  <a:pt x="276101" y="128744"/>
                </a:lnTo>
                <a:lnTo>
                  <a:pt x="267522" y="133330"/>
                </a:lnTo>
                <a:lnTo>
                  <a:pt x="258661" y="137345"/>
                </a:lnTo>
                <a:lnTo>
                  <a:pt x="249556" y="140772"/>
                </a:lnTo>
                <a:lnTo>
                  <a:pt x="240247" y="143596"/>
                </a:lnTo>
                <a:lnTo>
                  <a:pt x="230773" y="145805"/>
                </a:lnTo>
                <a:lnTo>
                  <a:pt x="221175" y="147389"/>
                </a:lnTo>
                <a:lnTo>
                  <a:pt x="211493" y="148343"/>
                </a:lnTo>
                <a:lnTo>
                  <a:pt x="201770" y="148661"/>
                </a:lnTo>
                <a:lnTo>
                  <a:pt x="192047" y="148343"/>
                </a:lnTo>
                <a:lnTo>
                  <a:pt x="182366" y="147389"/>
                </a:lnTo>
                <a:lnTo>
                  <a:pt x="172768" y="145805"/>
                </a:lnTo>
                <a:lnTo>
                  <a:pt x="163294" y="143596"/>
                </a:lnTo>
                <a:lnTo>
                  <a:pt x="153985" y="140772"/>
                </a:lnTo>
                <a:lnTo>
                  <a:pt x="144880" y="137345"/>
                </a:lnTo>
                <a:lnTo>
                  <a:pt x="136019" y="133330"/>
                </a:lnTo>
                <a:lnTo>
                  <a:pt x="127439" y="128744"/>
                </a:lnTo>
                <a:lnTo>
                  <a:pt x="119178" y="123607"/>
                </a:lnTo>
                <a:lnTo>
                  <a:pt x="111271" y="117941"/>
                </a:lnTo>
                <a:lnTo>
                  <a:pt x="103751" y="111769"/>
                </a:lnTo>
                <a:lnTo>
                  <a:pt x="96651" y="105119"/>
                </a:lnTo>
                <a:lnTo>
                  <a:pt x="90001" y="98019"/>
                </a:lnTo>
                <a:lnTo>
                  <a:pt x="83829" y="90499"/>
                </a:lnTo>
                <a:lnTo>
                  <a:pt x="78163" y="82592"/>
                </a:lnTo>
                <a:lnTo>
                  <a:pt x="73026" y="74330"/>
                </a:lnTo>
                <a:lnTo>
                  <a:pt x="68440" y="65751"/>
                </a:lnTo>
                <a:lnTo>
                  <a:pt x="64425" y="56890"/>
                </a:lnTo>
                <a:lnTo>
                  <a:pt x="60998" y="47785"/>
                </a:lnTo>
                <a:lnTo>
                  <a:pt x="58174" y="38476"/>
                </a:lnTo>
                <a:lnTo>
                  <a:pt x="55965" y="29002"/>
                </a:lnTo>
                <a:lnTo>
                  <a:pt x="54380" y="19404"/>
                </a:lnTo>
                <a:lnTo>
                  <a:pt x="53427" y="9723"/>
                </a:lnTo>
                <a:lnTo>
                  <a:pt x="53109" y="0"/>
                </a:lnTo>
                <a:close/>
              </a:path>
            </a:pathLst>
          </a:cu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Freeform 68"/>
          <p:cNvSpPr/>
          <p:nvPr/>
        </p:nvSpPr>
        <p:spPr>
          <a:xfrm>
            <a:off x="2885919" y="4241321"/>
            <a:ext cx="336353" cy="168177"/>
          </a:xfrm>
          <a:custGeom>
            <a:avLst/>
            <a:gdLst/>
            <a:ahLst/>
            <a:cxnLst/>
            <a:rect l="l" t="t" r="r" b="b"/>
            <a:pathLst>
              <a:path w="336353" h="168177">
                <a:moveTo>
                  <a:pt x="336353" y="168177"/>
                </a:moveTo>
                <a:lnTo>
                  <a:pt x="335993" y="157177"/>
                </a:lnTo>
                <a:lnTo>
                  <a:pt x="334914" y="146225"/>
                </a:lnTo>
                <a:lnTo>
                  <a:pt x="333121" y="135367"/>
                </a:lnTo>
                <a:lnTo>
                  <a:pt x="330622" y="124649"/>
                </a:lnTo>
                <a:lnTo>
                  <a:pt x="327428" y="114118"/>
                </a:lnTo>
                <a:lnTo>
                  <a:pt x="323551" y="103818"/>
                </a:lnTo>
                <a:lnTo>
                  <a:pt x="319009" y="93794"/>
                </a:lnTo>
                <a:lnTo>
                  <a:pt x="313822" y="84088"/>
                </a:lnTo>
                <a:lnTo>
                  <a:pt x="308010" y="74743"/>
                </a:lnTo>
                <a:lnTo>
                  <a:pt x="301600" y="65797"/>
                </a:lnTo>
                <a:lnTo>
                  <a:pt x="294618" y="57290"/>
                </a:lnTo>
                <a:lnTo>
                  <a:pt x="287095" y="49258"/>
                </a:lnTo>
                <a:lnTo>
                  <a:pt x="279063" y="41735"/>
                </a:lnTo>
                <a:lnTo>
                  <a:pt x="270556" y="34753"/>
                </a:lnTo>
                <a:lnTo>
                  <a:pt x="261610" y="28343"/>
                </a:lnTo>
                <a:lnTo>
                  <a:pt x="252265" y="22531"/>
                </a:lnTo>
                <a:lnTo>
                  <a:pt x="242559" y="17344"/>
                </a:lnTo>
                <a:lnTo>
                  <a:pt x="232535" y="12802"/>
                </a:lnTo>
                <a:lnTo>
                  <a:pt x="222235" y="8925"/>
                </a:lnTo>
                <a:lnTo>
                  <a:pt x="211704" y="5731"/>
                </a:lnTo>
                <a:lnTo>
                  <a:pt x="200986" y="3232"/>
                </a:lnTo>
                <a:lnTo>
                  <a:pt x="190128" y="1439"/>
                </a:lnTo>
                <a:lnTo>
                  <a:pt x="179176" y="360"/>
                </a:lnTo>
                <a:lnTo>
                  <a:pt x="168177" y="0"/>
                </a:lnTo>
                <a:lnTo>
                  <a:pt x="157177" y="360"/>
                </a:lnTo>
                <a:lnTo>
                  <a:pt x="146225" y="1439"/>
                </a:lnTo>
                <a:lnTo>
                  <a:pt x="135367" y="3232"/>
                </a:lnTo>
                <a:lnTo>
                  <a:pt x="124649" y="5731"/>
                </a:lnTo>
                <a:lnTo>
                  <a:pt x="114118" y="8925"/>
                </a:lnTo>
                <a:lnTo>
                  <a:pt x="103818" y="12802"/>
                </a:lnTo>
                <a:lnTo>
                  <a:pt x="93794" y="17344"/>
                </a:lnTo>
                <a:lnTo>
                  <a:pt x="84088" y="22531"/>
                </a:lnTo>
                <a:lnTo>
                  <a:pt x="74743" y="28343"/>
                </a:lnTo>
                <a:lnTo>
                  <a:pt x="65797" y="34753"/>
                </a:lnTo>
                <a:lnTo>
                  <a:pt x="57290" y="41735"/>
                </a:lnTo>
                <a:lnTo>
                  <a:pt x="49258" y="49258"/>
                </a:lnTo>
                <a:lnTo>
                  <a:pt x="41735" y="57290"/>
                </a:lnTo>
                <a:lnTo>
                  <a:pt x="34753" y="65797"/>
                </a:lnTo>
                <a:lnTo>
                  <a:pt x="28343" y="74743"/>
                </a:lnTo>
                <a:lnTo>
                  <a:pt x="22531" y="84088"/>
                </a:lnTo>
                <a:lnTo>
                  <a:pt x="17344" y="93794"/>
                </a:lnTo>
                <a:lnTo>
                  <a:pt x="12802" y="103818"/>
                </a:lnTo>
                <a:lnTo>
                  <a:pt x="8925" y="114118"/>
                </a:lnTo>
                <a:lnTo>
                  <a:pt x="5731" y="124649"/>
                </a:lnTo>
                <a:lnTo>
                  <a:pt x="3232" y="135367"/>
                </a:lnTo>
                <a:lnTo>
                  <a:pt x="1439" y="146225"/>
                </a:lnTo>
                <a:lnTo>
                  <a:pt x="360" y="157177"/>
                </a:lnTo>
                <a:lnTo>
                  <a:pt x="0" y="168177"/>
                </a:lnTo>
                <a:lnTo>
                  <a:pt x="53108" y="168177"/>
                </a:lnTo>
                <a:lnTo>
                  <a:pt x="53355" y="160651"/>
                </a:lnTo>
                <a:lnTo>
                  <a:pt x="54093" y="153157"/>
                </a:lnTo>
                <a:lnTo>
                  <a:pt x="55319" y="145728"/>
                </a:lnTo>
                <a:lnTo>
                  <a:pt x="57029" y="138395"/>
                </a:lnTo>
                <a:lnTo>
                  <a:pt x="59215" y="131189"/>
                </a:lnTo>
                <a:lnTo>
                  <a:pt x="61867" y="124142"/>
                </a:lnTo>
                <a:lnTo>
                  <a:pt x="64975" y="117283"/>
                </a:lnTo>
                <a:lnTo>
                  <a:pt x="68525" y="110643"/>
                </a:lnTo>
                <a:lnTo>
                  <a:pt x="72501" y="104248"/>
                </a:lnTo>
                <a:lnTo>
                  <a:pt x="76887" y="98128"/>
                </a:lnTo>
                <a:lnTo>
                  <a:pt x="81664" y="92307"/>
                </a:lnTo>
                <a:lnTo>
                  <a:pt x="86811" y="86811"/>
                </a:lnTo>
                <a:lnTo>
                  <a:pt x="92307" y="81664"/>
                </a:lnTo>
                <a:lnTo>
                  <a:pt x="98127" y="76887"/>
                </a:lnTo>
                <a:lnTo>
                  <a:pt x="104248" y="72501"/>
                </a:lnTo>
                <a:lnTo>
                  <a:pt x="110642" y="68525"/>
                </a:lnTo>
                <a:lnTo>
                  <a:pt x="117283" y="64975"/>
                </a:lnTo>
                <a:lnTo>
                  <a:pt x="124142" y="61867"/>
                </a:lnTo>
                <a:lnTo>
                  <a:pt x="131189" y="59215"/>
                </a:lnTo>
                <a:lnTo>
                  <a:pt x="138395" y="57029"/>
                </a:lnTo>
                <a:lnTo>
                  <a:pt x="145728" y="55319"/>
                </a:lnTo>
                <a:lnTo>
                  <a:pt x="153157" y="54093"/>
                </a:lnTo>
                <a:lnTo>
                  <a:pt x="160651" y="53355"/>
                </a:lnTo>
                <a:lnTo>
                  <a:pt x="168177" y="53108"/>
                </a:lnTo>
                <a:lnTo>
                  <a:pt x="175702" y="53355"/>
                </a:lnTo>
                <a:lnTo>
                  <a:pt x="183196" y="54093"/>
                </a:lnTo>
                <a:lnTo>
                  <a:pt x="190625" y="55319"/>
                </a:lnTo>
                <a:lnTo>
                  <a:pt x="197958" y="57029"/>
                </a:lnTo>
                <a:lnTo>
                  <a:pt x="205164" y="59215"/>
                </a:lnTo>
                <a:lnTo>
                  <a:pt x="212211" y="61867"/>
                </a:lnTo>
                <a:lnTo>
                  <a:pt x="219070" y="64975"/>
                </a:lnTo>
                <a:lnTo>
                  <a:pt x="225711" y="68525"/>
                </a:lnTo>
                <a:lnTo>
                  <a:pt x="232105" y="72501"/>
                </a:lnTo>
                <a:lnTo>
                  <a:pt x="238226" y="76887"/>
                </a:lnTo>
                <a:lnTo>
                  <a:pt x="244046" y="81664"/>
                </a:lnTo>
                <a:lnTo>
                  <a:pt x="249542" y="86811"/>
                </a:lnTo>
                <a:lnTo>
                  <a:pt x="254689" y="92307"/>
                </a:lnTo>
                <a:lnTo>
                  <a:pt x="259466" y="98128"/>
                </a:lnTo>
                <a:lnTo>
                  <a:pt x="263852" y="104248"/>
                </a:lnTo>
                <a:lnTo>
                  <a:pt x="267828" y="110643"/>
                </a:lnTo>
                <a:lnTo>
                  <a:pt x="271378" y="117283"/>
                </a:lnTo>
                <a:lnTo>
                  <a:pt x="274486" y="124142"/>
                </a:lnTo>
                <a:lnTo>
                  <a:pt x="277138" y="131189"/>
                </a:lnTo>
                <a:lnTo>
                  <a:pt x="279324" y="138395"/>
                </a:lnTo>
                <a:lnTo>
                  <a:pt x="281034" y="145728"/>
                </a:lnTo>
                <a:lnTo>
                  <a:pt x="282260" y="153157"/>
                </a:lnTo>
                <a:lnTo>
                  <a:pt x="282998" y="160651"/>
                </a:lnTo>
                <a:lnTo>
                  <a:pt x="283245" y="168177"/>
                </a:lnTo>
                <a:close/>
              </a:path>
            </a:pathLst>
          </a:cu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Freeform 69"/>
          <p:cNvSpPr/>
          <p:nvPr/>
        </p:nvSpPr>
        <p:spPr>
          <a:xfrm>
            <a:off x="2885919" y="4409498"/>
            <a:ext cx="336353" cy="168176"/>
          </a:xfrm>
          <a:custGeom>
            <a:avLst/>
            <a:gdLst/>
            <a:ahLst/>
            <a:cxnLst/>
            <a:rect l="l" t="t" r="r" b="b"/>
            <a:pathLst>
              <a:path w="336353" h="168176">
                <a:moveTo>
                  <a:pt x="0" y="0"/>
                </a:moveTo>
                <a:lnTo>
                  <a:pt x="360" y="10999"/>
                </a:lnTo>
                <a:lnTo>
                  <a:pt x="1439" y="21951"/>
                </a:lnTo>
                <a:lnTo>
                  <a:pt x="3232" y="32809"/>
                </a:lnTo>
                <a:lnTo>
                  <a:pt x="5731" y="43527"/>
                </a:lnTo>
                <a:lnTo>
                  <a:pt x="8925" y="54058"/>
                </a:lnTo>
                <a:lnTo>
                  <a:pt x="12802" y="64358"/>
                </a:lnTo>
                <a:lnTo>
                  <a:pt x="17344" y="74382"/>
                </a:lnTo>
                <a:lnTo>
                  <a:pt x="22531" y="84088"/>
                </a:lnTo>
                <a:lnTo>
                  <a:pt x="28343" y="93433"/>
                </a:lnTo>
                <a:lnTo>
                  <a:pt x="34753" y="102379"/>
                </a:lnTo>
                <a:lnTo>
                  <a:pt x="41735" y="110886"/>
                </a:lnTo>
                <a:lnTo>
                  <a:pt x="49258" y="118918"/>
                </a:lnTo>
                <a:lnTo>
                  <a:pt x="57290" y="126441"/>
                </a:lnTo>
                <a:lnTo>
                  <a:pt x="65797" y="133423"/>
                </a:lnTo>
                <a:lnTo>
                  <a:pt x="74743" y="139833"/>
                </a:lnTo>
                <a:lnTo>
                  <a:pt x="84088" y="145645"/>
                </a:lnTo>
                <a:lnTo>
                  <a:pt x="93794" y="150832"/>
                </a:lnTo>
                <a:lnTo>
                  <a:pt x="103818" y="155374"/>
                </a:lnTo>
                <a:lnTo>
                  <a:pt x="114118" y="159251"/>
                </a:lnTo>
                <a:lnTo>
                  <a:pt x="124649" y="162446"/>
                </a:lnTo>
                <a:lnTo>
                  <a:pt x="135367" y="164945"/>
                </a:lnTo>
                <a:lnTo>
                  <a:pt x="146225" y="166737"/>
                </a:lnTo>
                <a:lnTo>
                  <a:pt x="157177" y="167816"/>
                </a:lnTo>
                <a:lnTo>
                  <a:pt x="168177" y="168176"/>
                </a:lnTo>
                <a:lnTo>
                  <a:pt x="179176" y="167816"/>
                </a:lnTo>
                <a:lnTo>
                  <a:pt x="190128" y="166737"/>
                </a:lnTo>
                <a:lnTo>
                  <a:pt x="200986" y="164945"/>
                </a:lnTo>
                <a:lnTo>
                  <a:pt x="211704" y="162446"/>
                </a:lnTo>
                <a:lnTo>
                  <a:pt x="222235" y="159251"/>
                </a:lnTo>
                <a:lnTo>
                  <a:pt x="232535" y="155374"/>
                </a:lnTo>
                <a:lnTo>
                  <a:pt x="242559" y="150832"/>
                </a:lnTo>
                <a:lnTo>
                  <a:pt x="252265" y="145645"/>
                </a:lnTo>
                <a:lnTo>
                  <a:pt x="261610" y="139833"/>
                </a:lnTo>
                <a:lnTo>
                  <a:pt x="270556" y="133423"/>
                </a:lnTo>
                <a:lnTo>
                  <a:pt x="279063" y="126441"/>
                </a:lnTo>
                <a:lnTo>
                  <a:pt x="287095" y="118918"/>
                </a:lnTo>
                <a:lnTo>
                  <a:pt x="294618" y="110886"/>
                </a:lnTo>
                <a:lnTo>
                  <a:pt x="301600" y="102379"/>
                </a:lnTo>
                <a:lnTo>
                  <a:pt x="308010" y="93433"/>
                </a:lnTo>
                <a:lnTo>
                  <a:pt x="313822" y="84088"/>
                </a:lnTo>
                <a:lnTo>
                  <a:pt x="319009" y="74382"/>
                </a:lnTo>
                <a:lnTo>
                  <a:pt x="323551" y="64358"/>
                </a:lnTo>
                <a:lnTo>
                  <a:pt x="327428" y="54058"/>
                </a:lnTo>
                <a:lnTo>
                  <a:pt x="330622" y="43527"/>
                </a:lnTo>
                <a:lnTo>
                  <a:pt x="333121" y="32809"/>
                </a:lnTo>
                <a:lnTo>
                  <a:pt x="334914" y="21951"/>
                </a:lnTo>
                <a:lnTo>
                  <a:pt x="335993" y="10999"/>
                </a:lnTo>
                <a:lnTo>
                  <a:pt x="336353" y="0"/>
                </a:lnTo>
                <a:lnTo>
                  <a:pt x="283245" y="0"/>
                </a:lnTo>
                <a:lnTo>
                  <a:pt x="282998" y="7525"/>
                </a:lnTo>
                <a:lnTo>
                  <a:pt x="282260" y="15019"/>
                </a:lnTo>
                <a:lnTo>
                  <a:pt x="281034" y="22448"/>
                </a:lnTo>
                <a:lnTo>
                  <a:pt x="279324" y="29781"/>
                </a:lnTo>
                <a:lnTo>
                  <a:pt x="277138" y="36987"/>
                </a:lnTo>
                <a:lnTo>
                  <a:pt x="274486" y="44034"/>
                </a:lnTo>
                <a:lnTo>
                  <a:pt x="271378" y="50893"/>
                </a:lnTo>
                <a:lnTo>
                  <a:pt x="267828" y="57534"/>
                </a:lnTo>
                <a:lnTo>
                  <a:pt x="263852" y="63928"/>
                </a:lnTo>
                <a:lnTo>
                  <a:pt x="259466" y="70049"/>
                </a:lnTo>
                <a:lnTo>
                  <a:pt x="254689" y="75869"/>
                </a:lnTo>
                <a:lnTo>
                  <a:pt x="249542" y="81365"/>
                </a:lnTo>
                <a:lnTo>
                  <a:pt x="244046" y="86512"/>
                </a:lnTo>
                <a:lnTo>
                  <a:pt x="238226" y="91289"/>
                </a:lnTo>
                <a:lnTo>
                  <a:pt x="232105" y="95675"/>
                </a:lnTo>
                <a:lnTo>
                  <a:pt x="225711" y="99651"/>
                </a:lnTo>
                <a:lnTo>
                  <a:pt x="219070" y="103201"/>
                </a:lnTo>
                <a:lnTo>
                  <a:pt x="212211" y="106309"/>
                </a:lnTo>
                <a:lnTo>
                  <a:pt x="205164" y="108961"/>
                </a:lnTo>
                <a:lnTo>
                  <a:pt x="197958" y="111147"/>
                </a:lnTo>
                <a:lnTo>
                  <a:pt x="190625" y="112857"/>
                </a:lnTo>
                <a:lnTo>
                  <a:pt x="183196" y="114083"/>
                </a:lnTo>
                <a:lnTo>
                  <a:pt x="175702" y="114821"/>
                </a:lnTo>
                <a:lnTo>
                  <a:pt x="168177" y="115068"/>
                </a:lnTo>
                <a:lnTo>
                  <a:pt x="160651" y="114821"/>
                </a:lnTo>
                <a:lnTo>
                  <a:pt x="153157" y="114083"/>
                </a:lnTo>
                <a:lnTo>
                  <a:pt x="145728" y="112857"/>
                </a:lnTo>
                <a:lnTo>
                  <a:pt x="138395" y="111147"/>
                </a:lnTo>
                <a:lnTo>
                  <a:pt x="131189" y="108961"/>
                </a:lnTo>
                <a:lnTo>
                  <a:pt x="124142" y="106309"/>
                </a:lnTo>
                <a:lnTo>
                  <a:pt x="117283" y="103201"/>
                </a:lnTo>
                <a:lnTo>
                  <a:pt x="110642" y="99651"/>
                </a:lnTo>
                <a:lnTo>
                  <a:pt x="104248" y="95675"/>
                </a:lnTo>
                <a:lnTo>
                  <a:pt x="98127" y="91289"/>
                </a:lnTo>
                <a:lnTo>
                  <a:pt x="92307" y="86512"/>
                </a:lnTo>
                <a:lnTo>
                  <a:pt x="86811" y="81365"/>
                </a:lnTo>
                <a:lnTo>
                  <a:pt x="81664" y="75869"/>
                </a:lnTo>
                <a:lnTo>
                  <a:pt x="76887" y="70049"/>
                </a:lnTo>
                <a:lnTo>
                  <a:pt x="72501" y="63928"/>
                </a:lnTo>
                <a:lnTo>
                  <a:pt x="68525" y="57534"/>
                </a:lnTo>
                <a:lnTo>
                  <a:pt x="64975" y="50893"/>
                </a:lnTo>
                <a:lnTo>
                  <a:pt x="61867" y="44034"/>
                </a:lnTo>
                <a:lnTo>
                  <a:pt x="59215" y="36987"/>
                </a:lnTo>
                <a:lnTo>
                  <a:pt x="57029" y="29781"/>
                </a:lnTo>
                <a:lnTo>
                  <a:pt x="55319" y="22448"/>
                </a:lnTo>
                <a:lnTo>
                  <a:pt x="54093" y="15019"/>
                </a:lnTo>
                <a:lnTo>
                  <a:pt x="53355" y="7525"/>
                </a:lnTo>
                <a:lnTo>
                  <a:pt x="53108" y="0"/>
                </a:lnTo>
                <a:close/>
              </a:path>
            </a:pathLst>
          </a:cu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Freeform 70"/>
          <p:cNvSpPr/>
          <p:nvPr/>
        </p:nvSpPr>
        <p:spPr>
          <a:xfrm>
            <a:off x="3408085" y="4662328"/>
            <a:ext cx="442702" cy="221351"/>
          </a:xfrm>
          <a:custGeom>
            <a:avLst/>
            <a:gdLst/>
            <a:ahLst/>
            <a:cxnLst/>
            <a:rect l="l" t="t" r="r" b="b"/>
            <a:pathLst>
              <a:path w="442702" h="221351">
                <a:moveTo>
                  <a:pt x="442702" y="221351"/>
                </a:moveTo>
                <a:lnTo>
                  <a:pt x="442228" y="206874"/>
                </a:lnTo>
                <a:lnTo>
                  <a:pt x="440808" y="192459"/>
                </a:lnTo>
                <a:lnTo>
                  <a:pt x="438449" y="178168"/>
                </a:lnTo>
                <a:lnTo>
                  <a:pt x="435160" y="164061"/>
                </a:lnTo>
                <a:lnTo>
                  <a:pt x="430955" y="150200"/>
                </a:lnTo>
                <a:lnTo>
                  <a:pt x="425853" y="136644"/>
                </a:lnTo>
                <a:lnTo>
                  <a:pt x="419875" y="123450"/>
                </a:lnTo>
                <a:lnTo>
                  <a:pt x="413047" y="110676"/>
                </a:lnTo>
                <a:lnTo>
                  <a:pt x="405398" y="98375"/>
                </a:lnTo>
                <a:lnTo>
                  <a:pt x="396961" y="86601"/>
                </a:lnTo>
                <a:lnTo>
                  <a:pt x="387772" y="75404"/>
                </a:lnTo>
                <a:lnTo>
                  <a:pt x="377870" y="64832"/>
                </a:lnTo>
                <a:lnTo>
                  <a:pt x="367298" y="54931"/>
                </a:lnTo>
                <a:lnTo>
                  <a:pt x="356101" y="45742"/>
                </a:lnTo>
                <a:lnTo>
                  <a:pt x="344327" y="37304"/>
                </a:lnTo>
                <a:lnTo>
                  <a:pt x="332027" y="29656"/>
                </a:lnTo>
                <a:lnTo>
                  <a:pt x="319252" y="22827"/>
                </a:lnTo>
                <a:lnTo>
                  <a:pt x="306058" y="16849"/>
                </a:lnTo>
                <a:lnTo>
                  <a:pt x="292502" y="11747"/>
                </a:lnTo>
                <a:lnTo>
                  <a:pt x="278641" y="7542"/>
                </a:lnTo>
                <a:lnTo>
                  <a:pt x="264534" y="4253"/>
                </a:lnTo>
                <a:lnTo>
                  <a:pt x="250243" y="1894"/>
                </a:lnTo>
                <a:lnTo>
                  <a:pt x="235828" y="474"/>
                </a:lnTo>
                <a:lnTo>
                  <a:pt x="221351" y="0"/>
                </a:lnTo>
                <a:lnTo>
                  <a:pt x="206874" y="474"/>
                </a:lnTo>
                <a:lnTo>
                  <a:pt x="192459" y="1894"/>
                </a:lnTo>
                <a:lnTo>
                  <a:pt x="178168" y="4253"/>
                </a:lnTo>
                <a:lnTo>
                  <a:pt x="164061" y="7542"/>
                </a:lnTo>
                <a:lnTo>
                  <a:pt x="150200" y="11747"/>
                </a:lnTo>
                <a:lnTo>
                  <a:pt x="136644" y="16849"/>
                </a:lnTo>
                <a:lnTo>
                  <a:pt x="123450" y="22827"/>
                </a:lnTo>
                <a:lnTo>
                  <a:pt x="110675" y="29656"/>
                </a:lnTo>
                <a:lnTo>
                  <a:pt x="98375" y="37304"/>
                </a:lnTo>
                <a:lnTo>
                  <a:pt x="86601" y="45742"/>
                </a:lnTo>
                <a:lnTo>
                  <a:pt x="75404" y="54931"/>
                </a:lnTo>
                <a:lnTo>
                  <a:pt x="64832" y="64832"/>
                </a:lnTo>
                <a:lnTo>
                  <a:pt x="54930" y="75404"/>
                </a:lnTo>
                <a:lnTo>
                  <a:pt x="45741" y="86601"/>
                </a:lnTo>
                <a:lnTo>
                  <a:pt x="37304" y="98375"/>
                </a:lnTo>
                <a:lnTo>
                  <a:pt x="29655" y="110676"/>
                </a:lnTo>
                <a:lnTo>
                  <a:pt x="22827" y="123450"/>
                </a:lnTo>
                <a:lnTo>
                  <a:pt x="16849" y="136644"/>
                </a:lnTo>
                <a:lnTo>
                  <a:pt x="11747" y="150200"/>
                </a:lnTo>
                <a:lnTo>
                  <a:pt x="7542" y="164061"/>
                </a:lnTo>
                <a:lnTo>
                  <a:pt x="4253" y="178168"/>
                </a:lnTo>
                <a:lnTo>
                  <a:pt x="1893" y="192459"/>
                </a:lnTo>
                <a:lnTo>
                  <a:pt x="474" y="206874"/>
                </a:lnTo>
                <a:lnTo>
                  <a:pt x="0" y="221351"/>
                </a:lnTo>
                <a:lnTo>
                  <a:pt x="53108" y="221351"/>
                </a:lnTo>
                <a:lnTo>
                  <a:pt x="53468" y="210348"/>
                </a:lnTo>
                <a:lnTo>
                  <a:pt x="54547" y="199391"/>
                </a:lnTo>
                <a:lnTo>
                  <a:pt x="56341" y="188529"/>
                </a:lnTo>
                <a:lnTo>
                  <a:pt x="58841" y="177807"/>
                </a:lnTo>
                <a:lnTo>
                  <a:pt x="62037" y="167271"/>
                </a:lnTo>
                <a:lnTo>
                  <a:pt x="65915" y="156968"/>
                </a:lnTo>
                <a:lnTo>
                  <a:pt x="70459" y="146939"/>
                </a:lnTo>
                <a:lnTo>
                  <a:pt x="75648" y="137230"/>
                </a:lnTo>
                <a:lnTo>
                  <a:pt x="81462" y="127881"/>
                </a:lnTo>
                <a:lnTo>
                  <a:pt x="87875" y="118932"/>
                </a:lnTo>
                <a:lnTo>
                  <a:pt x="94859" y="110421"/>
                </a:lnTo>
                <a:lnTo>
                  <a:pt x="102385" y="102386"/>
                </a:lnTo>
                <a:lnTo>
                  <a:pt x="110421" y="94860"/>
                </a:lnTo>
                <a:lnTo>
                  <a:pt x="118931" y="87875"/>
                </a:lnTo>
                <a:lnTo>
                  <a:pt x="127880" y="81462"/>
                </a:lnTo>
                <a:lnTo>
                  <a:pt x="137230" y="75649"/>
                </a:lnTo>
                <a:lnTo>
                  <a:pt x="146939" y="70459"/>
                </a:lnTo>
                <a:lnTo>
                  <a:pt x="156967" y="65915"/>
                </a:lnTo>
                <a:lnTo>
                  <a:pt x="167271" y="62037"/>
                </a:lnTo>
                <a:lnTo>
                  <a:pt x="177807" y="58841"/>
                </a:lnTo>
                <a:lnTo>
                  <a:pt x="188528" y="56341"/>
                </a:lnTo>
                <a:lnTo>
                  <a:pt x="199391" y="54548"/>
                </a:lnTo>
                <a:lnTo>
                  <a:pt x="210347" y="53469"/>
                </a:lnTo>
                <a:lnTo>
                  <a:pt x="221351" y="53108"/>
                </a:lnTo>
                <a:lnTo>
                  <a:pt x="232355" y="53469"/>
                </a:lnTo>
                <a:lnTo>
                  <a:pt x="243311" y="54548"/>
                </a:lnTo>
                <a:lnTo>
                  <a:pt x="254174" y="56341"/>
                </a:lnTo>
                <a:lnTo>
                  <a:pt x="264895" y="58841"/>
                </a:lnTo>
                <a:lnTo>
                  <a:pt x="275431" y="62037"/>
                </a:lnTo>
                <a:lnTo>
                  <a:pt x="285735" y="65915"/>
                </a:lnTo>
                <a:lnTo>
                  <a:pt x="295763" y="70459"/>
                </a:lnTo>
                <a:lnTo>
                  <a:pt x="305472" y="75649"/>
                </a:lnTo>
                <a:lnTo>
                  <a:pt x="314822" y="81462"/>
                </a:lnTo>
                <a:lnTo>
                  <a:pt x="323771" y="87875"/>
                </a:lnTo>
                <a:lnTo>
                  <a:pt x="332281" y="94860"/>
                </a:lnTo>
                <a:lnTo>
                  <a:pt x="340317" y="102386"/>
                </a:lnTo>
                <a:lnTo>
                  <a:pt x="347843" y="110421"/>
                </a:lnTo>
                <a:lnTo>
                  <a:pt x="354827" y="118932"/>
                </a:lnTo>
                <a:lnTo>
                  <a:pt x="361240" y="127881"/>
                </a:lnTo>
                <a:lnTo>
                  <a:pt x="367054" y="137230"/>
                </a:lnTo>
                <a:lnTo>
                  <a:pt x="372243" y="146939"/>
                </a:lnTo>
                <a:lnTo>
                  <a:pt x="376787" y="156968"/>
                </a:lnTo>
                <a:lnTo>
                  <a:pt x="380665" y="167271"/>
                </a:lnTo>
                <a:lnTo>
                  <a:pt x="383861" y="177807"/>
                </a:lnTo>
                <a:lnTo>
                  <a:pt x="386361" y="188529"/>
                </a:lnTo>
                <a:lnTo>
                  <a:pt x="388154" y="199391"/>
                </a:lnTo>
                <a:lnTo>
                  <a:pt x="389234" y="210348"/>
                </a:lnTo>
                <a:lnTo>
                  <a:pt x="389594" y="221351"/>
                </a:lnTo>
                <a:close/>
              </a:path>
            </a:pathLst>
          </a:cu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Freeform 71"/>
          <p:cNvSpPr/>
          <p:nvPr/>
        </p:nvSpPr>
        <p:spPr>
          <a:xfrm>
            <a:off x="3408085" y="4883679"/>
            <a:ext cx="442702" cy="221351"/>
          </a:xfrm>
          <a:custGeom>
            <a:avLst/>
            <a:gdLst/>
            <a:ahLst/>
            <a:cxnLst/>
            <a:rect l="l" t="t" r="r" b="b"/>
            <a:pathLst>
              <a:path w="442702" h="221351">
                <a:moveTo>
                  <a:pt x="0" y="0"/>
                </a:moveTo>
                <a:lnTo>
                  <a:pt x="474" y="14477"/>
                </a:lnTo>
                <a:lnTo>
                  <a:pt x="1893" y="28892"/>
                </a:lnTo>
                <a:lnTo>
                  <a:pt x="4253" y="43184"/>
                </a:lnTo>
                <a:lnTo>
                  <a:pt x="7542" y="57290"/>
                </a:lnTo>
                <a:lnTo>
                  <a:pt x="11747" y="71151"/>
                </a:lnTo>
                <a:lnTo>
                  <a:pt x="16849" y="84708"/>
                </a:lnTo>
                <a:lnTo>
                  <a:pt x="22827" y="97901"/>
                </a:lnTo>
                <a:lnTo>
                  <a:pt x="29655" y="110676"/>
                </a:lnTo>
                <a:lnTo>
                  <a:pt x="37304" y="122976"/>
                </a:lnTo>
                <a:lnTo>
                  <a:pt x="45741" y="134750"/>
                </a:lnTo>
                <a:lnTo>
                  <a:pt x="54930" y="145947"/>
                </a:lnTo>
                <a:lnTo>
                  <a:pt x="64832" y="156519"/>
                </a:lnTo>
                <a:lnTo>
                  <a:pt x="75404" y="166421"/>
                </a:lnTo>
                <a:lnTo>
                  <a:pt x="86601" y="175610"/>
                </a:lnTo>
                <a:lnTo>
                  <a:pt x="98375" y="184047"/>
                </a:lnTo>
                <a:lnTo>
                  <a:pt x="110675" y="191696"/>
                </a:lnTo>
                <a:lnTo>
                  <a:pt x="123450" y="198524"/>
                </a:lnTo>
                <a:lnTo>
                  <a:pt x="136644" y="204502"/>
                </a:lnTo>
                <a:lnTo>
                  <a:pt x="150200" y="209604"/>
                </a:lnTo>
                <a:lnTo>
                  <a:pt x="164061" y="213809"/>
                </a:lnTo>
                <a:lnTo>
                  <a:pt x="178168" y="217098"/>
                </a:lnTo>
                <a:lnTo>
                  <a:pt x="192459" y="219458"/>
                </a:lnTo>
                <a:lnTo>
                  <a:pt x="206874" y="220878"/>
                </a:lnTo>
                <a:lnTo>
                  <a:pt x="221351" y="221351"/>
                </a:lnTo>
                <a:lnTo>
                  <a:pt x="235828" y="220878"/>
                </a:lnTo>
                <a:lnTo>
                  <a:pt x="250243" y="219458"/>
                </a:lnTo>
                <a:lnTo>
                  <a:pt x="264534" y="217098"/>
                </a:lnTo>
                <a:lnTo>
                  <a:pt x="278641" y="213809"/>
                </a:lnTo>
                <a:lnTo>
                  <a:pt x="292502" y="209604"/>
                </a:lnTo>
                <a:lnTo>
                  <a:pt x="306058" y="204502"/>
                </a:lnTo>
                <a:lnTo>
                  <a:pt x="319252" y="198524"/>
                </a:lnTo>
                <a:lnTo>
                  <a:pt x="332027" y="191696"/>
                </a:lnTo>
                <a:lnTo>
                  <a:pt x="344327" y="184047"/>
                </a:lnTo>
                <a:lnTo>
                  <a:pt x="356101" y="175610"/>
                </a:lnTo>
                <a:lnTo>
                  <a:pt x="367298" y="166421"/>
                </a:lnTo>
                <a:lnTo>
                  <a:pt x="377870" y="156519"/>
                </a:lnTo>
                <a:lnTo>
                  <a:pt x="387772" y="145947"/>
                </a:lnTo>
                <a:lnTo>
                  <a:pt x="396961" y="134750"/>
                </a:lnTo>
                <a:lnTo>
                  <a:pt x="405398" y="122976"/>
                </a:lnTo>
                <a:lnTo>
                  <a:pt x="413047" y="110676"/>
                </a:lnTo>
                <a:lnTo>
                  <a:pt x="419875" y="97901"/>
                </a:lnTo>
                <a:lnTo>
                  <a:pt x="425853" y="84708"/>
                </a:lnTo>
                <a:lnTo>
                  <a:pt x="430955" y="71151"/>
                </a:lnTo>
                <a:lnTo>
                  <a:pt x="435160" y="57290"/>
                </a:lnTo>
                <a:lnTo>
                  <a:pt x="438449" y="43184"/>
                </a:lnTo>
                <a:lnTo>
                  <a:pt x="440808" y="28892"/>
                </a:lnTo>
                <a:lnTo>
                  <a:pt x="442228" y="14477"/>
                </a:lnTo>
                <a:lnTo>
                  <a:pt x="442702" y="0"/>
                </a:lnTo>
                <a:lnTo>
                  <a:pt x="389594" y="0"/>
                </a:lnTo>
                <a:lnTo>
                  <a:pt x="389234" y="11004"/>
                </a:lnTo>
                <a:lnTo>
                  <a:pt x="388154" y="21960"/>
                </a:lnTo>
                <a:lnTo>
                  <a:pt x="386361" y="32823"/>
                </a:lnTo>
                <a:lnTo>
                  <a:pt x="383861" y="43545"/>
                </a:lnTo>
                <a:lnTo>
                  <a:pt x="380665" y="54080"/>
                </a:lnTo>
                <a:lnTo>
                  <a:pt x="376787" y="64384"/>
                </a:lnTo>
                <a:lnTo>
                  <a:pt x="372243" y="74412"/>
                </a:lnTo>
                <a:lnTo>
                  <a:pt x="367054" y="84122"/>
                </a:lnTo>
                <a:lnTo>
                  <a:pt x="361240" y="93471"/>
                </a:lnTo>
                <a:lnTo>
                  <a:pt x="354827" y="102420"/>
                </a:lnTo>
                <a:lnTo>
                  <a:pt x="347843" y="110930"/>
                </a:lnTo>
                <a:lnTo>
                  <a:pt x="340317" y="118966"/>
                </a:lnTo>
                <a:lnTo>
                  <a:pt x="332281" y="126492"/>
                </a:lnTo>
                <a:lnTo>
                  <a:pt x="323771" y="133476"/>
                </a:lnTo>
                <a:lnTo>
                  <a:pt x="314822" y="139889"/>
                </a:lnTo>
                <a:lnTo>
                  <a:pt x="305472" y="145703"/>
                </a:lnTo>
                <a:lnTo>
                  <a:pt x="295763" y="150893"/>
                </a:lnTo>
                <a:lnTo>
                  <a:pt x="285735" y="155436"/>
                </a:lnTo>
                <a:lnTo>
                  <a:pt x="275431" y="159314"/>
                </a:lnTo>
                <a:lnTo>
                  <a:pt x="264895" y="162510"/>
                </a:lnTo>
                <a:lnTo>
                  <a:pt x="254174" y="165010"/>
                </a:lnTo>
                <a:lnTo>
                  <a:pt x="243311" y="166804"/>
                </a:lnTo>
                <a:lnTo>
                  <a:pt x="232355" y="167883"/>
                </a:lnTo>
                <a:lnTo>
                  <a:pt x="221351" y="168243"/>
                </a:lnTo>
                <a:lnTo>
                  <a:pt x="210347" y="167883"/>
                </a:lnTo>
                <a:lnTo>
                  <a:pt x="199391" y="166804"/>
                </a:lnTo>
                <a:lnTo>
                  <a:pt x="188528" y="165010"/>
                </a:lnTo>
                <a:lnTo>
                  <a:pt x="177807" y="162510"/>
                </a:lnTo>
                <a:lnTo>
                  <a:pt x="167271" y="159314"/>
                </a:lnTo>
                <a:lnTo>
                  <a:pt x="156967" y="155436"/>
                </a:lnTo>
                <a:lnTo>
                  <a:pt x="146939" y="150893"/>
                </a:lnTo>
                <a:lnTo>
                  <a:pt x="137230" y="145703"/>
                </a:lnTo>
                <a:lnTo>
                  <a:pt x="127880" y="139889"/>
                </a:lnTo>
                <a:lnTo>
                  <a:pt x="118931" y="133476"/>
                </a:lnTo>
                <a:lnTo>
                  <a:pt x="110421" y="126492"/>
                </a:lnTo>
                <a:lnTo>
                  <a:pt x="102385" y="118966"/>
                </a:lnTo>
                <a:lnTo>
                  <a:pt x="94859" y="110930"/>
                </a:lnTo>
                <a:lnTo>
                  <a:pt x="87875" y="102420"/>
                </a:lnTo>
                <a:lnTo>
                  <a:pt x="81462" y="93471"/>
                </a:lnTo>
                <a:lnTo>
                  <a:pt x="75648" y="84122"/>
                </a:lnTo>
                <a:lnTo>
                  <a:pt x="70459" y="74412"/>
                </a:lnTo>
                <a:lnTo>
                  <a:pt x="65915" y="64384"/>
                </a:lnTo>
                <a:lnTo>
                  <a:pt x="62037" y="54080"/>
                </a:lnTo>
                <a:lnTo>
                  <a:pt x="58841" y="43545"/>
                </a:lnTo>
                <a:lnTo>
                  <a:pt x="56341" y="32823"/>
                </a:lnTo>
                <a:lnTo>
                  <a:pt x="54547" y="21960"/>
                </a:lnTo>
                <a:lnTo>
                  <a:pt x="53468" y="11004"/>
                </a:lnTo>
                <a:lnTo>
                  <a:pt x="53108" y="0"/>
                </a:lnTo>
                <a:close/>
              </a:path>
            </a:pathLst>
          </a:cu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Freeform 72"/>
          <p:cNvSpPr/>
          <p:nvPr/>
        </p:nvSpPr>
        <p:spPr>
          <a:xfrm>
            <a:off x="5053586" y="4407941"/>
            <a:ext cx="382458" cy="191229"/>
          </a:xfrm>
          <a:custGeom>
            <a:avLst/>
            <a:gdLst/>
            <a:ahLst/>
            <a:cxnLst/>
            <a:rect l="l" t="t" r="r" b="b"/>
            <a:pathLst>
              <a:path w="382458" h="191229">
                <a:moveTo>
                  <a:pt x="382458" y="191229"/>
                </a:moveTo>
                <a:lnTo>
                  <a:pt x="382049" y="178722"/>
                </a:lnTo>
                <a:lnTo>
                  <a:pt x="380822" y="166269"/>
                </a:lnTo>
                <a:lnTo>
                  <a:pt x="378784" y="153922"/>
                </a:lnTo>
                <a:lnTo>
                  <a:pt x="375942" y="141736"/>
                </a:lnTo>
                <a:lnTo>
                  <a:pt x="372310" y="129761"/>
                </a:lnTo>
                <a:lnTo>
                  <a:pt x="367902" y="118049"/>
                </a:lnTo>
                <a:lnTo>
                  <a:pt x="362737" y="106651"/>
                </a:lnTo>
                <a:lnTo>
                  <a:pt x="356838" y="95615"/>
                </a:lnTo>
                <a:lnTo>
                  <a:pt x="350230" y="84988"/>
                </a:lnTo>
                <a:lnTo>
                  <a:pt x="342941" y="74816"/>
                </a:lnTo>
                <a:lnTo>
                  <a:pt x="335003" y="65143"/>
                </a:lnTo>
                <a:lnTo>
                  <a:pt x="326448" y="56010"/>
                </a:lnTo>
                <a:lnTo>
                  <a:pt x="317315" y="47456"/>
                </a:lnTo>
                <a:lnTo>
                  <a:pt x="307642" y="39517"/>
                </a:lnTo>
                <a:lnTo>
                  <a:pt x="297470" y="32228"/>
                </a:lnTo>
                <a:lnTo>
                  <a:pt x="286844" y="25620"/>
                </a:lnTo>
                <a:lnTo>
                  <a:pt x="275807" y="19721"/>
                </a:lnTo>
                <a:lnTo>
                  <a:pt x="264409" y="14557"/>
                </a:lnTo>
                <a:lnTo>
                  <a:pt x="252698" y="10149"/>
                </a:lnTo>
                <a:lnTo>
                  <a:pt x="240723" y="6516"/>
                </a:lnTo>
                <a:lnTo>
                  <a:pt x="228536" y="3675"/>
                </a:lnTo>
                <a:lnTo>
                  <a:pt x="216189" y="1636"/>
                </a:lnTo>
                <a:lnTo>
                  <a:pt x="203736" y="410"/>
                </a:lnTo>
                <a:lnTo>
                  <a:pt x="191229" y="0"/>
                </a:lnTo>
                <a:lnTo>
                  <a:pt x="178722" y="410"/>
                </a:lnTo>
                <a:lnTo>
                  <a:pt x="166269" y="1636"/>
                </a:lnTo>
                <a:lnTo>
                  <a:pt x="153922" y="3675"/>
                </a:lnTo>
                <a:lnTo>
                  <a:pt x="141735" y="6516"/>
                </a:lnTo>
                <a:lnTo>
                  <a:pt x="129760" y="10149"/>
                </a:lnTo>
                <a:lnTo>
                  <a:pt x="118049" y="14557"/>
                </a:lnTo>
                <a:lnTo>
                  <a:pt x="106651" y="19721"/>
                </a:lnTo>
                <a:lnTo>
                  <a:pt x="95615" y="25620"/>
                </a:lnTo>
                <a:lnTo>
                  <a:pt x="84988" y="32228"/>
                </a:lnTo>
                <a:lnTo>
                  <a:pt x="74816" y="39517"/>
                </a:lnTo>
                <a:lnTo>
                  <a:pt x="65143" y="47456"/>
                </a:lnTo>
                <a:lnTo>
                  <a:pt x="56010" y="56010"/>
                </a:lnTo>
                <a:lnTo>
                  <a:pt x="47455" y="65143"/>
                </a:lnTo>
                <a:lnTo>
                  <a:pt x="39517" y="74816"/>
                </a:lnTo>
                <a:lnTo>
                  <a:pt x="32228" y="84988"/>
                </a:lnTo>
                <a:lnTo>
                  <a:pt x="25620" y="95615"/>
                </a:lnTo>
                <a:lnTo>
                  <a:pt x="19721" y="106651"/>
                </a:lnTo>
                <a:lnTo>
                  <a:pt x="14556" y="118049"/>
                </a:lnTo>
                <a:lnTo>
                  <a:pt x="10149" y="129761"/>
                </a:lnTo>
                <a:lnTo>
                  <a:pt x="6516" y="141736"/>
                </a:lnTo>
                <a:lnTo>
                  <a:pt x="3674" y="153922"/>
                </a:lnTo>
                <a:lnTo>
                  <a:pt x="1636" y="166269"/>
                </a:lnTo>
                <a:lnTo>
                  <a:pt x="409" y="178722"/>
                </a:lnTo>
                <a:lnTo>
                  <a:pt x="0" y="191229"/>
                </a:lnTo>
                <a:lnTo>
                  <a:pt x="53108" y="191229"/>
                </a:lnTo>
                <a:lnTo>
                  <a:pt x="53404" y="182196"/>
                </a:lnTo>
                <a:lnTo>
                  <a:pt x="54290" y="173201"/>
                </a:lnTo>
                <a:lnTo>
                  <a:pt x="55762" y="164283"/>
                </a:lnTo>
                <a:lnTo>
                  <a:pt x="57815" y="155481"/>
                </a:lnTo>
                <a:lnTo>
                  <a:pt x="60438" y="146832"/>
                </a:lnTo>
                <a:lnTo>
                  <a:pt x="63622" y="138373"/>
                </a:lnTo>
                <a:lnTo>
                  <a:pt x="67352" y="130140"/>
                </a:lnTo>
                <a:lnTo>
                  <a:pt x="71613" y="122169"/>
                </a:lnTo>
                <a:lnTo>
                  <a:pt x="76386" y="114494"/>
                </a:lnTo>
                <a:lnTo>
                  <a:pt x="81651" y="107147"/>
                </a:lnTo>
                <a:lnTo>
                  <a:pt x="87384" y="100160"/>
                </a:lnTo>
                <a:lnTo>
                  <a:pt x="93563" y="93563"/>
                </a:lnTo>
                <a:lnTo>
                  <a:pt x="100160" y="87385"/>
                </a:lnTo>
                <a:lnTo>
                  <a:pt x="107147" y="81651"/>
                </a:lnTo>
                <a:lnTo>
                  <a:pt x="114493" y="76386"/>
                </a:lnTo>
                <a:lnTo>
                  <a:pt x="122169" y="71613"/>
                </a:lnTo>
                <a:lnTo>
                  <a:pt x="130140" y="67353"/>
                </a:lnTo>
                <a:lnTo>
                  <a:pt x="138373" y="63622"/>
                </a:lnTo>
                <a:lnTo>
                  <a:pt x="146832" y="60439"/>
                </a:lnTo>
                <a:lnTo>
                  <a:pt x="155481" y="57815"/>
                </a:lnTo>
                <a:lnTo>
                  <a:pt x="164283" y="55763"/>
                </a:lnTo>
                <a:lnTo>
                  <a:pt x="173201" y="54290"/>
                </a:lnTo>
                <a:lnTo>
                  <a:pt x="182195" y="53404"/>
                </a:lnTo>
                <a:lnTo>
                  <a:pt x="191229" y="53109"/>
                </a:lnTo>
                <a:lnTo>
                  <a:pt x="200263" y="53404"/>
                </a:lnTo>
                <a:lnTo>
                  <a:pt x="209257" y="54290"/>
                </a:lnTo>
                <a:lnTo>
                  <a:pt x="218175" y="55763"/>
                </a:lnTo>
                <a:lnTo>
                  <a:pt x="226977" y="57815"/>
                </a:lnTo>
                <a:lnTo>
                  <a:pt x="235626" y="60439"/>
                </a:lnTo>
                <a:lnTo>
                  <a:pt x="244086" y="63622"/>
                </a:lnTo>
                <a:lnTo>
                  <a:pt x="252318" y="67353"/>
                </a:lnTo>
                <a:lnTo>
                  <a:pt x="260289" y="71613"/>
                </a:lnTo>
                <a:lnTo>
                  <a:pt x="267965" y="76386"/>
                </a:lnTo>
                <a:lnTo>
                  <a:pt x="275312" y="81651"/>
                </a:lnTo>
                <a:lnTo>
                  <a:pt x="282298" y="87385"/>
                </a:lnTo>
                <a:lnTo>
                  <a:pt x="288895" y="93563"/>
                </a:lnTo>
                <a:lnTo>
                  <a:pt x="295074" y="100160"/>
                </a:lnTo>
                <a:lnTo>
                  <a:pt x="300807" y="107147"/>
                </a:lnTo>
                <a:lnTo>
                  <a:pt x="306072" y="114494"/>
                </a:lnTo>
                <a:lnTo>
                  <a:pt x="310845" y="122169"/>
                </a:lnTo>
                <a:lnTo>
                  <a:pt x="315106" y="130140"/>
                </a:lnTo>
                <a:lnTo>
                  <a:pt x="318836" y="138373"/>
                </a:lnTo>
                <a:lnTo>
                  <a:pt x="322020" y="146832"/>
                </a:lnTo>
                <a:lnTo>
                  <a:pt x="324643" y="155481"/>
                </a:lnTo>
                <a:lnTo>
                  <a:pt x="326696" y="164283"/>
                </a:lnTo>
                <a:lnTo>
                  <a:pt x="328168" y="173201"/>
                </a:lnTo>
                <a:lnTo>
                  <a:pt x="329054" y="182196"/>
                </a:lnTo>
                <a:lnTo>
                  <a:pt x="329350" y="191229"/>
                </a:lnTo>
                <a:close/>
              </a:path>
            </a:pathLst>
          </a:cu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Freeform 73"/>
          <p:cNvSpPr/>
          <p:nvPr/>
        </p:nvSpPr>
        <p:spPr>
          <a:xfrm>
            <a:off x="5053586" y="4599170"/>
            <a:ext cx="382458" cy="191229"/>
          </a:xfrm>
          <a:custGeom>
            <a:avLst/>
            <a:gdLst/>
            <a:ahLst/>
            <a:cxnLst/>
            <a:rect l="l" t="t" r="r" b="b"/>
            <a:pathLst>
              <a:path w="382458" h="191229">
                <a:moveTo>
                  <a:pt x="0" y="0"/>
                </a:moveTo>
                <a:lnTo>
                  <a:pt x="409" y="12507"/>
                </a:lnTo>
                <a:lnTo>
                  <a:pt x="1636" y="24961"/>
                </a:lnTo>
                <a:lnTo>
                  <a:pt x="3674" y="37307"/>
                </a:lnTo>
                <a:lnTo>
                  <a:pt x="6516" y="49494"/>
                </a:lnTo>
                <a:lnTo>
                  <a:pt x="10149" y="61469"/>
                </a:lnTo>
                <a:lnTo>
                  <a:pt x="14556" y="73180"/>
                </a:lnTo>
                <a:lnTo>
                  <a:pt x="19721" y="84579"/>
                </a:lnTo>
                <a:lnTo>
                  <a:pt x="25620" y="95615"/>
                </a:lnTo>
                <a:lnTo>
                  <a:pt x="32228" y="106241"/>
                </a:lnTo>
                <a:lnTo>
                  <a:pt x="39517" y="116413"/>
                </a:lnTo>
                <a:lnTo>
                  <a:pt x="47455" y="126086"/>
                </a:lnTo>
                <a:lnTo>
                  <a:pt x="56010" y="135220"/>
                </a:lnTo>
                <a:lnTo>
                  <a:pt x="65143" y="143774"/>
                </a:lnTo>
                <a:lnTo>
                  <a:pt x="74816" y="151712"/>
                </a:lnTo>
                <a:lnTo>
                  <a:pt x="84988" y="159001"/>
                </a:lnTo>
                <a:lnTo>
                  <a:pt x="95615" y="165609"/>
                </a:lnTo>
                <a:lnTo>
                  <a:pt x="106651" y="171508"/>
                </a:lnTo>
                <a:lnTo>
                  <a:pt x="118049" y="176673"/>
                </a:lnTo>
                <a:lnTo>
                  <a:pt x="129760" y="181081"/>
                </a:lnTo>
                <a:lnTo>
                  <a:pt x="141735" y="184713"/>
                </a:lnTo>
                <a:lnTo>
                  <a:pt x="153922" y="187555"/>
                </a:lnTo>
                <a:lnTo>
                  <a:pt x="166269" y="189593"/>
                </a:lnTo>
                <a:lnTo>
                  <a:pt x="178722" y="190820"/>
                </a:lnTo>
                <a:lnTo>
                  <a:pt x="191229" y="191229"/>
                </a:lnTo>
                <a:lnTo>
                  <a:pt x="203736" y="190820"/>
                </a:lnTo>
                <a:lnTo>
                  <a:pt x="216189" y="189593"/>
                </a:lnTo>
                <a:lnTo>
                  <a:pt x="228536" y="187555"/>
                </a:lnTo>
                <a:lnTo>
                  <a:pt x="240723" y="184713"/>
                </a:lnTo>
                <a:lnTo>
                  <a:pt x="252698" y="181081"/>
                </a:lnTo>
                <a:lnTo>
                  <a:pt x="264409" y="176673"/>
                </a:lnTo>
                <a:lnTo>
                  <a:pt x="275807" y="171508"/>
                </a:lnTo>
                <a:lnTo>
                  <a:pt x="286844" y="165609"/>
                </a:lnTo>
                <a:lnTo>
                  <a:pt x="297470" y="159001"/>
                </a:lnTo>
                <a:lnTo>
                  <a:pt x="307642" y="151712"/>
                </a:lnTo>
                <a:lnTo>
                  <a:pt x="317315" y="143774"/>
                </a:lnTo>
                <a:lnTo>
                  <a:pt x="326448" y="135220"/>
                </a:lnTo>
                <a:lnTo>
                  <a:pt x="335003" y="126086"/>
                </a:lnTo>
                <a:lnTo>
                  <a:pt x="342941" y="116413"/>
                </a:lnTo>
                <a:lnTo>
                  <a:pt x="350230" y="106241"/>
                </a:lnTo>
                <a:lnTo>
                  <a:pt x="356838" y="95615"/>
                </a:lnTo>
                <a:lnTo>
                  <a:pt x="362737" y="84579"/>
                </a:lnTo>
                <a:lnTo>
                  <a:pt x="367902" y="73180"/>
                </a:lnTo>
                <a:lnTo>
                  <a:pt x="372310" y="61469"/>
                </a:lnTo>
                <a:lnTo>
                  <a:pt x="375942" y="49494"/>
                </a:lnTo>
                <a:lnTo>
                  <a:pt x="378784" y="37307"/>
                </a:lnTo>
                <a:lnTo>
                  <a:pt x="380822" y="24961"/>
                </a:lnTo>
                <a:lnTo>
                  <a:pt x="382049" y="12507"/>
                </a:lnTo>
                <a:lnTo>
                  <a:pt x="382458" y="0"/>
                </a:lnTo>
                <a:lnTo>
                  <a:pt x="329350" y="0"/>
                </a:lnTo>
                <a:lnTo>
                  <a:pt x="329054" y="9034"/>
                </a:lnTo>
                <a:lnTo>
                  <a:pt x="328168" y="18029"/>
                </a:lnTo>
                <a:lnTo>
                  <a:pt x="326696" y="26946"/>
                </a:lnTo>
                <a:lnTo>
                  <a:pt x="324643" y="35748"/>
                </a:lnTo>
                <a:lnTo>
                  <a:pt x="322020" y="44398"/>
                </a:lnTo>
                <a:lnTo>
                  <a:pt x="318836" y="52857"/>
                </a:lnTo>
                <a:lnTo>
                  <a:pt x="315106" y="61089"/>
                </a:lnTo>
                <a:lnTo>
                  <a:pt x="310845" y="69061"/>
                </a:lnTo>
                <a:lnTo>
                  <a:pt x="306072" y="76736"/>
                </a:lnTo>
                <a:lnTo>
                  <a:pt x="300807" y="84083"/>
                </a:lnTo>
                <a:lnTo>
                  <a:pt x="295074" y="91070"/>
                </a:lnTo>
                <a:lnTo>
                  <a:pt x="288895" y="97666"/>
                </a:lnTo>
                <a:lnTo>
                  <a:pt x="282298" y="103845"/>
                </a:lnTo>
                <a:lnTo>
                  <a:pt x="275312" y="109579"/>
                </a:lnTo>
                <a:lnTo>
                  <a:pt x="267965" y="114843"/>
                </a:lnTo>
                <a:lnTo>
                  <a:pt x="260289" y="119616"/>
                </a:lnTo>
                <a:lnTo>
                  <a:pt x="252318" y="123877"/>
                </a:lnTo>
                <a:lnTo>
                  <a:pt x="244086" y="127607"/>
                </a:lnTo>
                <a:lnTo>
                  <a:pt x="235626" y="130791"/>
                </a:lnTo>
                <a:lnTo>
                  <a:pt x="226977" y="133415"/>
                </a:lnTo>
                <a:lnTo>
                  <a:pt x="218175" y="135467"/>
                </a:lnTo>
                <a:lnTo>
                  <a:pt x="209257" y="136939"/>
                </a:lnTo>
                <a:lnTo>
                  <a:pt x="200263" y="137825"/>
                </a:lnTo>
                <a:lnTo>
                  <a:pt x="191229" y="138121"/>
                </a:lnTo>
                <a:lnTo>
                  <a:pt x="182195" y="137825"/>
                </a:lnTo>
                <a:lnTo>
                  <a:pt x="173201" y="136939"/>
                </a:lnTo>
                <a:lnTo>
                  <a:pt x="164283" y="135467"/>
                </a:lnTo>
                <a:lnTo>
                  <a:pt x="155481" y="133415"/>
                </a:lnTo>
                <a:lnTo>
                  <a:pt x="146832" y="130791"/>
                </a:lnTo>
                <a:lnTo>
                  <a:pt x="138373" y="127607"/>
                </a:lnTo>
                <a:lnTo>
                  <a:pt x="130140" y="123877"/>
                </a:lnTo>
                <a:lnTo>
                  <a:pt x="122169" y="119616"/>
                </a:lnTo>
                <a:lnTo>
                  <a:pt x="114493" y="114843"/>
                </a:lnTo>
                <a:lnTo>
                  <a:pt x="107147" y="109579"/>
                </a:lnTo>
                <a:lnTo>
                  <a:pt x="100160" y="103845"/>
                </a:lnTo>
                <a:lnTo>
                  <a:pt x="93563" y="97666"/>
                </a:lnTo>
                <a:lnTo>
                  <a:pt x="87384" y="91070"/>
                </a:lnTo>
                <a:lnTo>
                  <a:pt x="81651" y="84083"/>
                </a:lnTo>
                <a:lnTo>
                  <a:pt x="76386" y="76736"/>
                </a:lnTo>
                <a:lnTo>
                  <a:pt x="71613" y="69061"/>
                </a:lnTo>
                <a:lnTo>
                  <a:pt x="67352" y="61089"/>
                </a:lnTo>
                <a:lnTo>
                  <a:pt x="63622" y="52857"/>
                </a:lnTo>
                <a:lnTo>
                  <a:pt x="60438" y="44398"/>
                </a:lnTo>
                <a:lnTo>
                  <a:pt x="57815" y="35748"/>
                </a:lnTo>
                <a:lnTo>
                  <a:pt x="55762" y="26946"/>
                </a:lnTo>
                <a:lnTo>
                  <a:pt x="54290" y="18029"/>
                </a:lnTo>
                <a:lnTo>
                  <a:pt x="53404" y="9034"/>
                </a:lnTo>
                <a:lnTo>
                  <a:pt x="53108" y="0"/>
                </a:lnTo>
                <a:close/>
              </a:path>
            </a:pathLst>
          </a:cu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2933212" y="3140479"/>
            <a:ext cx="640080" cy="171069"/>
          </a:xfrm>
          <a:prstGeom prst="rect">
            <a:avLst/>
          </a:prstGeom>
          <a:noFill/>
        </p:spPr>
        <p:txBody>
          <a:bodyPr wrap="square" lIns="0" rIns="0" tIns="0" bIns="0" anchor="ctr">
            <a:spAutoFit/>
          </a:bodyPr>
          <a:lstStyle/>
          <a:p>
            <a:pPr algn="ctr"/>
            <a:r>
              <a:rPr sz="750" b="1" i="0">
                <a:solidFill>
                  <a:srgbClr val="20406B"/>
                </a:solidFill>
              </a:rPr>
              <a:t>M3</a:t>
            </a:r>
          </a:p>
        </p:txBody>
      </p:sp>
      <p:sp>
        <p:nvSpPr>
          <p:cNvPr id="76" name="TextBox 75"/>
          <p:cNvSpPr txBox="1"/>
          <p:nvPr/>
        </p:nvSpPr>
        <p:spPr>
          <a:xfrm>
            <a:off x="3420038" y="3225298"/>
            <a:ext cx="640080" cy="171069"/>
          </a:xfrm>
          <a:prstGeom prst="rect">
            <a:avLst/>
          </a:prstGeom>
          <a:noFill/>
        </p:spPr>
        <p:txBody>
          <a:bodyPr wrap="square" lIns="0" rIns="0" tIns="0" bIns="0" anchor="ctr">
            <a:spAutoFit/>
          </a:bodyPr>
          <a:lstStyle/>
          <a:p>
            <a:pPr algn="ctr"/>
            <a:r>
              <a:rPr sz="750" b="1" i="0">
                <a:solidFill>
                  <a:srgbClr val="20406B"/>
                </a:solidFill>
              </a:rPr>
              <a:t>M4</a:t>
            </a:r>
          </a:p>
        </p:txBody>
      </p:sp>
      <p:sp>
        <p:nvSpPr>
          <p:cNvPr id="77" name="TextBox 76"/>
          <p:cNvSpPr txBox="1"/>
          <p:nvPr/>
        </p:nvSpPr>
        <p:spPr>
          <a:xfrm>
            <a:off x="3796223" y="3393273"/>
            <a:ext cx="640080" cy="171069"/>
          </a:xfrm>
          <a:prstGeom prst="rect">
            <a:avLst/>
          </a:prstGeom>
          <a:noFill/>
        </p:spPr>
        <p:txBody>
          <a:bodyPr wrap="square" lIns="0" rIns="0" tIns="0" bIns="0" anchor="ctr">
            <a:spAutoFit/>
          </a:bodyPr>
          <a:lstStyle/>
          <a:p>
            <a:pPr algn="ctr"/>
            <a:r>
              <a:rPr sz="750" b="1" i="0">
                <a:solidFill>
                  <a:srgbClr val="20406B"/>
                </a:solidFill>
              </a:rPr>
              <a:t>M5</a:t>
            </a:r>
          </a:p>
        </p:txBody>
      </p:sp>
      <p:sp>
        <p:nvSpPr>
          <p:cNvPr id="78" name="TextBox 77"/>
          <p:cNvSpPr txBox="1"/>
          <p:nvPr/>
        </p:nvSpPr>
        <p:spPr>
          <a:xfrm>
            <a:off x="4659233" y="2797186"/>
            <a:ext cx="640080" cy="171069"/>
          </a:xfrm>
          <a:prstGeom prst="rect">
            <a:avLst/>
          </a:prstGeom>
          <a:noFill/>
        </p:spPr>
        <p:txBody>
          <a:bodyPr wrap="square" lIns="0" rIns="0" tIns="0" bIns="0" anchor="ctr">
            <a:spAutoFit/>
          </a:bodyPr>
          <a:lstStyle/>
          <a:p>
            <a:pPr algn="ctr"/>
            <a:r>
              <a:rPr sz="750" b="1" i="0">
                <a:solidFill>
                  <a:srgbClr val="20406B"/>
                </a:solidFill>
              </a:rPr>
              <a:t>M1</a:t>
            </a:r>
          </a:p>
        </p:txBody>
      </p:sp>
      <p:sp>
        <p:nvSpPr>
          <p:cNvPr id="79" name="TextBox 78"/>
          <p:cNvSpPr txBox="1"/>
          <p:nvPr/>
        </p:nvSpPr>
        <p:spPr>
          <a:xfrm>
            <a:off x="5146060" y="2969538"/>
            <a:ext cx="640080" cy="171069"/>
          </a:xfrm>
          <a:prstGeom prst="rect">
            <a:avLst/>
          </a:prstGeom>
          <a:noFill/>
        </p:spPr>
        <p:txBody>
          <a:bodyPr wrap="square" lIns="0" rIns="0" tIns="0" bIns="0" anchor="ctr">
            <a:spAutoFit/>
          </a:bodyPr>
          <a:lstStyle/>
          <a:p>
            <a:pPr algn="ctr"/>
            <a:r>
              <a:rPr sz="750" b="1" i="0">
                <a:solidFill>
                  <a:srgbClr val="20406B"/>
                </a:solidFill>
              </a:rPr>
              <a:t>M2</a:t>
            </a:r>
          </a:p>
        </p:txBody>
      </p:sp>
      <p:sp>
        <p:nvSpPr>
          <p:cNvPr id="80" name="TextBox 79"/>
          <p:cNvSpPr txBox="1"/>
          <p:nvPr/>
        </p:nvSpPr>
        <p:spPr>
          <a:xfrm>
            <a:off x="1959559" y="4720982"/>
            <a:ext cx="640080" cy="171069"/>
          </a:xfrm>
          <a:prstGeom prst="rect">
            <a:avLst/>
          </a:prstGeom>
          <a:noFill/>
        </p:spPr>
        <p:txBody>
          <a:bodyPr wrap="square" lIns="0" rIns="0" tIns="0" bIns="0" anchor="ctr">
            <a:spAutoFit/>
          </a:bodyPr>
          <a:lstStyle/>
          <a:p>
            <a:pPr algn="ctr"/>
            <a:r>
              <a:rPr sz="750" b="1" i="0">
                <a:solidFill>
                  <a:srgbClr val="8A3A25"/>
                </a:solidFill>
              </a:rPr>
              <a:t>B4</a:t>
            </a:r>
          </a:p>
        </p:txBody>
      </p:sp>
      <p:sp>
        <p:nvSpPr>
          <p:cNvPr id="81" name="TextBox 80"/>
          <p:cNvSpPr txBox="1"/>
          <p:nvPr/>
        </p:nvSpPr>
        <p:spPr>
          <a:xfrm>
            <a:off x="2402128" y="4932353"/>
            <a:ext cx="640080" cy="171069"/>
          </a:xfrm>
          <a:prstGeom prst="rect">
            <a:avLst/>
          </a:prstGeom>
          <a:noFill/>
        </p:spPr>
        <p:txBody>
          <a:bodyPr wrap="square" lIns="0" rIns="0" tIns="0" bIns="0" anchor="ctr">
            <a:spAutoFit/>
          </a:bodyPr>
          <a:lstStyle/>
          <a:p>
            <a:pPr algn="ctr"/>
            <a:r>
              <a:rPr sz="750" b="1" i="0">
                <a:solidFill>
                  <a:srgbClr val="8A3A25"/>
                </a:solidFill>
              </a:rPr>
              <a:t>B2</a:t>
            </a:r>
          </a:p>
        </p:txBody>
      </p:sp>
      <p:sp>
        <p:nvSpPr>
          <p:cNvPr id="82" name="TextBox 81"/>
          <p:cNvSpPr txBox="1"/>
          <p:nvPr/>
        </p:nvSpPr>
        <p:spPr>
          <a:xfrm>
            <a:off x="2734056" y="4614250"/>
            <a:ext cx="640080" cy="171069"/>
          </a:xfrm>
          <a:prstGeom prst="rect">
            <a:avLst/>
          </a:prstGeom>
          <a:noFill/>
        </p:spPr>
        <p:txBody>
          <a:bodyPr wrap="square" lIns="0" rIns="0" tIns="0" bIns="0" anchor="ctr">
            <a:spAutoFit/>
          </a:bodyPr>
          <a:lstStyle/>
          <a:p>
            <a:pPr algn="ctr"/>
            <a:r>
              <a:rPr sz="750" b="1" i="0">
                <a:solidFill>
                  <a:srgbClr val="8A3A25"/>
                </a:solidFill>
              </a:rPr>
              <a:t>B5</a:t>
            </a:r>
          </a:p>
        </p:txBody>
      </p:sp>
      <p:sp>
        <p:nvSpPr>
          <p:cNvPr id="83" name="TextBox 82"/>
          <p:cNvSpPr txBox="1"/>
          <p:nvPr/>
        </p:nvSpPr>
        <p:spPr>
          <a:xfrm>
            <a:off x="3309396" y="5141606"/>
            <a:ext cx="640080" cy="171069"/>
          </a:xfrm>
          <a:prstGeom prst="rect">
            <a:avLst/>
          </a:prstGeom>
          <a:noFill/>
        </p:spPr>
        <p:txBody>
          <a:bodyPr wrap="square" lIns="0" rIns="0" tIns="0" bIns="0" anchor="ctr">
            <a:spAutoFit/>
          </a:bodyPr>
          <a:lstStyle/>
          <a:p>
            <a:pPr algn="ctr"/>
            <a:r>
              <a:rPr sz="750" b="1" i="0">
                <a:solidFill>
                  <a:srgbClr val="8A3A25"/>
                </a:solidFill>
              </a:rPr>
              <a:t>B1</a:t>
            </a:r>
          </a:p>
        </p:txBody>
      </p:sp>
      <p:sp>
        <p:nvSpPr>
          <p:cNvPr id="84" name="TextBox 83"/>
          <p:cNvSpPr txBox="1"/>
          <p:nvPr/>
        </p:nvSpPr>
        <p:spPr>
          <a:xfrm>
            <a:off x="4924775" y="4826975"/>
            <a:ext cx="640080" cy="171069"/>
          </a:xfrm>
          <a:prstGeom prst="rect">
            <a:avLst/>
          </a:prstGeom>
          <a:noFill/>
        </p:spPr>
        <p:txBody>
          <a:bodyPr wrap="square" lIns="0" rIns="0" tIns="0" bIns="0" anchor="ctr">
            <a:spAutoFit/>
          </a:bodyPr>
          <a:lstStyle/>
          <a:p>
            <a:pPr algn="ctr"/>
            <a:r>
              <a:rPr sz="750" b="1" i="0">
                <a:solidFill>
                  <a:srgbClr val="8A3A25"/>
                </a:solidFill>
              </a:rPr>
              <a:t>B3</a:t>
            </a:r>
          </a:p>
        </p:txBody>
      </p:sp>
      <p:sp>
        <p:nvSpPr>
          <p:cNvPr id="85" name="TextBox 84"/>
          <p:cNvSpPr txBox="1"/>
          <p:nvPr/>
        </p:nvSpPr>
        <p:spPr>
          <a:xfrm>
            <a:off x="6995160" y="960120"/>
            <a:ext cx="1097280" cy="240791"/>
          </a:xfrm>
          <a:prstGeom prst="rect">
            <a:avLst/>
          </a:prstGeom>
          <a:noFill/>
        </p:spPr>
        <p:txBody>
          <a:bodyPr wrap="square" lIns="0" rIns="0" tIns="0" bIns="0" anchor="ctr">
            <a:spAutoFit/>
          </a:bodyPr>
          <a:lstStyle/>
          <a:p>
            <a:pPr algn="l"/>
            <a:r>
              <a:rPr sz="1200" b="1" i="0">
                <a:solidFill>
                  <a:srgbClr val="333333"/>
                </a:solidFill>
              </a:rPr>
              <a:t>Factors</a:t>
            </a:r>
          </a:p>
        </p:txBody>
      </p:sp>
      <p:sp>
        <p:nvSpPr>
          <p:cNvPr id="86" name="TextBox 85"/>
          <p:cNvSpPr txBox="1"/>
          <p:nvPr/>
        </p:nvSpPr>
        <p:spPr>
          <a:xfrm>
            <a:off x="7863840" y="1005840"/>
            <a:ext cx="2377440" cy="186563"/>
          </a:xfrm>
          <a:prstGeom prst="rect">
            <a:avLst/>
          </a:prstGeom>
          <a:noFill/>
        </p:spPr>
        <p:txBody>
          <a:bodyPr wrap="square" lIns="0" rIns="0" tIns="0" bIns="0" anchor="ctr">
            <a:spAutoFit/>
          </a:bodyPr>
          <a:lstStyle/>
          <a:p>
            <a:pPr algn="l"/>
            <a:r>
              <a:rPr sz="850" b="0" i="1">
                <a:solidFill>
                  <a:srgbClr val="8A8A8A"/>
                </a:solidFill>
              </a:rPr>
              <a:t>(coded frequency of mention)</a:t>
            </a:r>
          </a:p>
        </p:txBody>
      </p:sp>
      <p:sp>
        <p:nvSpPr>
          <p:cNvPr id="87" name="Oval 86"/>
          <p:cNvSpPr/>
          <p:nvPr/>
        </p:nvSpPr>
        <p:spPr>
          <a:xfrm>
            <a:off x="7004304" y="1421892"/>
            <a:ext cx="201168" cy="201168"/>
          </a:xfrm>
          <a:prstGeom prst="ellipse">
            <a:avLst/>
          </a:prstGeom>
          <a:solidFill>
            <a:srgbClr val="EAF3FB"/>
          </a:solidFill>
          <a:ln w="1143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Freeform 87"/>
          <p:cNvSpPr/>
          <p:nvPr/>
        </p:nvSpPr>
        <p:spPr>
          <a:xfrm>
            <a:off x="7055510" y="1486814"/>
            <a:ext cx="49378" cy="67208"/>
          </a:xfrm>
          <a:custGeom>
            <a:avLst/>
            <a:gdLst/>
            <a:ahLst/>
            <a:cxnLst/>
            <a:rect l="l" t="t" r="r" b="b"/>
            <a:pathLst>
              <a:path w="49378" h="67208">
                <a:moveTo>
                  <a:pt x="49378" y="0"/>
                </a:moveTo>
                <a:lnTo>
                  <a:pt x="0" y="12344"/>
                </a:lnTo>
                <a:lnTo>
                  <a:pt x="0" y="67208"/>
                </a:lnTo>
                <a:lnTo>
                  <a:pt x="49378" y="56236"/>
                </a:lnTo>
                <a:close/>
              </a:path>
            </a:pathLst>
          </a:cu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Freeform 88"/>
          <p:cNvSpPr/>
          <p:nvPr/>
        </p:nvSpPr>
        <p:spPr>
          <a:xfrm>
            <a:off x="7104888" y="1486814"/>
            <a:ext cx="49377" cy="67208"/>
          </a:xfrm>
          <a:custGeom>
            <a:avLst/>
            <a:gdLst/>
            <a:ahLst/>
            <a:cxnLst/>
            <a:rect l="l" t="t" r="r" b="b"/>
            <a:pathLst>
              <a:path w="49377" h="67208">
                <a:moveTo>
                  <a:pt x="0" y="0"/>
                </a:moveTo>
                <a:lnTo>
                  <a:pt x="49377" y="12344"/>
                </a:lnTo>
                <a:lnTo>
                  <a:pt x="49377" y="67208"/>
                </a:lnTo>
                <a:lnTo>
                  <a:pt x="0" y="56236"/>
                </a:lnTo>
                <a:close/>
              </a:path>
            </a:pathLst>
          </a:cu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0" name="Connector 89"/>
          <p:cNvCxnSpPr/>
          <p:nvPr/>
        </p:nvCxnSpPr>
        <p:spPr>
          <a:xfrm>
            <a:off x="7104888" y="1486814"/>
            <a:ext cx="0" cy="56236"/>
          </a:xfrm>
          <a:prstGeom prst="line">
            <a:avLst/>
          </a:prstGeom>
          <a:ln w="13970">
            <a:solidFill>
              <a:srgbClr val="20406B"/>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287768" y="1429194"/>
            <a:ext cx="4846320" cy="186563"/>
          </a:xfrm>
          <a:prstGeom prst="rect">
            <a:avLst/>
          </a:prstGeom>
          <a:noFill/>
        </p:spPr>
        <p:txBody>
          <a:bodyPr wrap="square" lIns="0" rIns="0" tIns="0" bIns="0" anchor="ctr">
            <a:spAutoFit/>
          </a:bodyPr>
          <a:lstStyle/>
          <a:p>
            <a:pPr algn="l"/>
            <a:r>
              <a:rPr sz="850" b="0" i="0">
                <a:solidFill>
                  <a:srgbClr val="333333"/>
                </a:solidFill>
              </a:rPr>
              <a:t>M3  Curriculum alignment and classroom relevance  (10)</a:t>
            </a:r>
          </a:p>
        </p:txBody>
      </p:sp>
      <p:sp>
        <p:nvSpPr>
          <p:cNvPr id="92" name="Oval 91"/>
          <p:cNvSpPr/>
          <p:nvPr/>
        </p:nvSpPr>
        <p:spPr>
          <a:xfrm>
            <a:off x="7004304" y="1723644"/>
            <a:ext cx="201168" cy="201168"/>
          </a:xfrm>
          <a:prstGeom prst="ellipse">
            <a:avLst/>
          </a:prstGeom>
          <a:solidFill>
            <a:srgbClr val="EAF3FB"/>
          </a:solidFill>
          <a:ln w="1143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7062368" y="1789938"/>
            <a:ext cx="85039" cy="68580"/>
          </a:xfrm>
          <a:prstGeom prst="rect">
            <a:avLst/>
          </a:pr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4" name="Connector 93"/>
          <p:cNvCxnSpPr/>
          <p:nvPr/>
        </p:nvCxnSpPr>
        <p:spPr>
          <a:xfrm>
            <a:off x="7062368" y="1814626"/>
            <a:ext cx="85039" cy="0"/>
          </a:xfrm>
          <a:prstGeom prst="line">
            <a:avLst/>
          </a:prstGeom>
          <a:ln w="12700">
            <a:solidFill>
              <a:srgbClr val="20406B"/>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7104888" y="1789938"/>
            <a:ext cx="0" cy="24688"/>
          </a:xfrm>
          <a:prstGeom prst="line">
            <a:avLst/>
          </a:prstGeom>
          <a:ln w="12700">
            <a:solidFill>
              <a:srgbClr val="20406B"/>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7287768" y="1730946"/>
            <a:ext cx="4846320" cy="186563"/>
          </a:xfrm>
          <a:prstGeom prst="rect">
            <a:avLst/>
          </a:prstGeom>
          <a:noFill/>
        </p:spPr>
        <p:txBody>
          <a:bodyPr wrap="square" lIns="0" rIns="0" tIns="0" bIns="0" anchor="ctr">
            <a:spAutoFit/>
          </a:bodyPr>
          <a:lstStyle/>
          <a:p>
            <a:pPr algn="l"/>
            <a:r>
              <a:rPr sz="850" b="0" i="0">
                <a:solidFill>
                  <a:srgbClr val="333333"/>
                </a:solidFill>
              </a:rPr>
              <a:t>M4  Ready-to-use resources that reduce teacher preparation  (9)</a:t>
            </a:r>
          </a:p>
        </p:txBody>
      </p:sp>
      <p:sp>
        <p:nvSpPr>
          <p:cNvPr id="97" name="Oval 96"/>
          <p:cNvSpPr/>
          <p:nvPr/>
        </p:nvSpPr>
        <p:spPr>
          <a:xfrm>
            <a:off x="7004304" y="2025396"/>
            <a:ext cx="201168" cy="201168"/>
          </a:xfrm>
          <a:prstGeom prst="ellipse">
            <a:avLst/>
          </a:prstGeom>
          <a:solidFill>
            <a:srgbClr val="EAF3FB"/>
          </a:solidFill>
          <a:ln w="1143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7056882" y="2097862"/>
            <a:ext cx="54864" cy="31546"/>
          </a:xfrm>
          <a:prstGeom prst="rect">
            <a:avLst/>
          </a:prstGeom>
          <a:solidFill>
            <a:srgbClr val="FFFFFF"/>
          </a:solidFill>
          <a:ln w="1270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7098715" y="2125980"/>
            <a:ext cx="48006" cy="27432"/>
          </a:xfrm>
          <a:prstGeom prst="rect">
            <a:avLst/>
          </a:prstGeom>
          <a:solidFill>
            <a:srgbClr val="FFFFFF"/>
          </a:solidFill>
          <a:ln w="1270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Freeform 99"/>
          <p:cNvSpPr/>
          <p:nvPr/>
        </p:nvSpPr>
        <p:spPr>
          <a:xfrm>
            <a:off x="7074712" y="2129409"/>
            <a:ext cx="17831" cy="14401"/>
          </a:xfrm>
          <a:custGeom>
            <a:avLst/>
            <a:gdLst/>
            <a:ahLst/>
            <a:cxnLst/>
            <a:rect l="l" t="t" r="r" b="b"/>
            <a:pathLst>
              <a:path w="17831" h="14401">
                <a:moveTo>
                  <a:pt x="0" y="0"/>
                </a:moveTo>
                <a:lnTo>
                  <a:pt x="9602" y="14401"/>
                </a:lnTo>
                <a:lnTo>
                  <a:pt x="17831" y="0"/>
                </a:lnTo>
                <a:close/>
              </a:path>
            </a:pathLst>
          </a:custGeom>
          <a:solidFill>
            <a:srgbClr val="204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7287768" y="2032698"/>
            <a:ext cx="4846320" cy="186563"/>
          </a:xfrm>
          <a:prstGeom prst="rect">
            <a:avLst/>
          </a:prstGeom>
          <a:noFill/>
        </p:spPr>
        <p:txBody>
          <a:bodyPr wrap="square" lIns="0" rIns="0" tIns="0" bIns="0" anchor="ctr">
            <a:spAutoFit/>
          </a:bodyPr>
          <a:lstStyle/>
          <a:p>
            <a:pPr algn="l"/>
            <a:r>
              <a:rPr sz="850" b="0" i="0">
                <a:solidFill>
                  <a:srgbClr val="333333"/>
                </a:solidFill>
              </a:rPr>
              <a:t>M5  Trust, referrals and previous positive experience  (7)</a:t>
            </a:r>
          </a:p>
        </p:txBody>
      </p:sp>
      <p:sp>
        <p:nvSpPr>
          <p:cNvPr id="102" name="Oval 101"/>
          <p:cNvSpPr/>
          <p:nvPr/>
        </p:nvSpPr>
        <p:spPr>
          <a:xfrm>
            <a:off x="7004304" y="2327148"/>
            <a:ext cx="201168" cy="201168"/>
          </a:xfrm>
          <a:prstGeom prst="ellipse">
            <a:avLst/>
          </a:prstGeom>
          <a:solidFill>
            <a:srgbClr val="EAF3FB"/>
          </a:solidFill>
          <a:ln w="1143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Freeform 102"/>
          <p:cNvSpPr/>
          <p:nvPr/>
        </p:nvSpPr>
        <p:spPr>
          <a:xfrm>
            <a:off x="7059625" y="2382469"/>
            <a:ext cx="90525" cy="90525"/>
          </a:xfrm>
          <a:custGeom>
            <a:avLst/>
            <a:gdLst/>
            <a:ahLst/>
            <a:cxnLst/>
            <a:rect l="l" t="t" r="r" b="b"/>
            <a:pathLst>
              <a:path w="90525" h="90525">
                <a:moveTo>
                  <a:pt x="45263" y="0"/>
                </a:moveTo>
                <a:lnTo>
                  <a:pt x="33624" y="33624"/>
                </a:lnTo>
                <a:lnTo>
                  <a:pt x="0" y="45263"/>
                </a:lnTo>
                <a:lnTo>
                  <a:pt x="33624" y="56901"/>
                </a:lnTo>
                <a:lnTo>
                  <a:pt x="45263" y="90525"/>
                </a:lnTo>
                <a:lnTo>
                  <a:pt x="56901" y="56901"/>
                </a:lnTo>
                <a:lnTo>
                  <a:pt x="90525" y="45263"/>
                </a:lnTo>
                <a:lnTo>
                  <a:pt x="56901" y="33624"/>
                </a:lnTo>
                <a:close/>
              </a:path>
            </a:pathLst>
          </a:cu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7287768" y="2334450"/>
            <a:ext cx="4846320" cy="186563"/>
          </a:xfrm>
          <a:prstGeom prst="rect">
            <a:avLst/>
          </a:prstGeom>
          <a:noFill/>
        </p:spPr>
        <p:txBody>
          <a:bodyPr wrap="square" lIns="0" rIns="0" tIns="0" bIns="0" anchor="ctr">
            <a:spAutoFit/>
          </a:bodyPr>
          <a:lstStyle/>
          <a:p>
            <a:pPr algn="l"/>
            <a:r>
              <a:rPr sz="850" b="0" i="0">
                <a:solidFill>
                  <a:srgbClr val="333333"/>
                </a:solidFill>
              </a:rPr>
              <a:t>M1  Hands-on, experiential learning that engages  (14)</a:t>
            </a:r>
          </a:p>
        </p:txBody>
      </p:sp>
      <p:sp>
        <p:nvSpPr>
          <p:cNvPr id="105" name="Oval 104"/>
          <p:cNvSpPr/>
          <p:nvPr/>
        </p:nvSpPr>
        <p:spPr>
          <a:xfrm>
            <a:off x="7004304" y="2628900"/>
            <a:ext cx="201168" cy="201168"/>
          </a:xfrm>
          <a:prstGeom prst="ellipse">
            <a:avLst/>
          </a:prstGeom>
          <a:solidFill>
            <a:srgbClr val="EAF3FB"/>
          </a:solidFill>
          <a:ln w="11430">
            <a:solidFill>
              <a:srgbClr val="2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Oval 105"/>
          <p:cNvSpPr/>
          <p:nvPr/>
        </p:nvSpPr>
        <p:spPr>
          <a:xfrm>
            <a:off x="7085685" y="2689707"/>
            <a:ext cx="38404" cy="38404"/>
          </a:xfrm>
          <a:prstGeom prst="ellipse">
            <a:avLst/>
          </a:pr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Freeform 106"/>
          <p:cNvSpPr/>
          <p:nvPr/>
        </p:nvSpPr>
        <p:spPr>
          <a:xfrm>
            <a:off x="7067510" y="2723997"/>
            <a:ext cx="74755" cy="22562"/>
          </a:xfrm>
          <a:custGeom>
            <a:avLst/>
            <a:gdLst/>
            <a:ahLst/>
            <a:cxnLst/>
            <a:rect l="l" t="t" r="r" b="b"/>
            <a:pathLst>
              <a:path w="74755" h="22562">
                <a:moveTo>
                  <a:pt x="74755" y="22562"/>
                </a:moveTo>
                <a:lnTo>
                  <a:pt x="74014" y="20938"/>
                </a:lnTo>
                <a:lnTo>
                  <a:pt x="73179" y="19348"/>
                </a:lnTo>
                <a:lnTo>
                  <a:pt x="72251" y="17797"/>
                </a:lnTo>
                <a:lnTo>
                  <a:pt x="71232" y="16289"/>
                </a:lnTo>
                <a:lnTo>
                  <a:pt x="70125" y="14827"/>
                </a:lnTo>
                <a:lnTo>
                  <a:pt x="68934" y="13416"/>
                </a:lnTo>
                <a:lnTo>
                  <a:pt x="67661" y="12058"/>
                </a:lnTo>
                <a:lnTo>
                  <a:pt x="66310" y="10759"/>
                </a:lnTo>
                <a:lnTo>
                  <a:pt x="64883" y="9520"/>
                </a:lnTo>
                <a:lnTo>
                  <a:pt x="63386" y="8346"/>
                </a:lnTo>
                <a:lnTo>
                  <a:pt x="61821" y="7239"/>
                </a:lnTo>
                <a:lnTo>
                  <a:pt x="60192" y="6201"/>
                </a:lnTo>
                <a:lnTo>
                  <a:pt x="58505" y="5237"/>
                </a:lnTo>
                <a:lnTo>
                  <a:pt x="56763" y="4348"/>
                </a:lnTo>
                <a:lnTo>
                  <a:pt x="54970" y="3536"/>
                </a:lnTo>
                <a:lnTo>
                  <a:pt x="53132" y="2804"/>
                </a:lnTo>
                <a:lnTo>
                  <a:pt x="51253" y="2154"/>
                </a:lnTo>
                <a:lnTo>
                  <a:pt x="49338" y="1587"/>
                </a:lnTo>
                <a:lnTo>
                  <a:pt x="47393" y="1105"/>
                </a:lnTo>
                <a:lnTo>
                  <a:pt x="45421" y="709"/>
                </a:lnTo>
                <a:lnTo>
                  <a:pt x="43428" y="399"/>
                </a:lnTo>
                <a:lnTo>
                  <a:pt x="41420" y="178"/>
                </a:lnTo>
                <a:lnTo>
                  <a:pt x="39401" y="45"/>
                </a:lnTo>
                <a:lnTo>
                  <a:pt x="37378" y="0"/>
                </a:lnTo>
                <a:lnTo>
                  <a:pt x="35354" y="45"/>
                </a:lnTo>
                <a:lnTo>
                  <a:pt x="33335" y="178"/>
                </a:lnTo>
                <a:lnTo>
                  <a:pt x="31327" y="399"/>
                </a:lnTo>
                <a:lnTo>
                  <a:pt x="29334" y="709"/>
                </a:lnTo>
                <a:lnTo>
                  <a:pt x="27362" y="1105"/>
                </a:lnTo>
                <a:lnTo>
                  <a:pt x="25417" y="1587"/>
                </a:lnTo>
                <a:lnTo>
                  <a:pt x="23502" y="2154"/>
                </a:lnTo>
                <a:lnTo>
                  <a:pt x="21623" y="2804"/>
                </a:lnTo>
                <a:lnTo>
                  <a:pt x="19785" y="3536"/>
                </a:lnTo>
                <a:lnTo>
                  <a:pt x="17992" y="4348"/>
                </a:lnTo>
                <a:lnTo>
                  <a:pt x="16250" y="5237"/>
                </a:lnTo>
                <a:lnTo>
                  <a:pt x="14563" y="6201"/>
                </a:lnTo>
                <a:lnTo>
                  <a:pt x="12934" y="7239"/>
                </a:lnTo>
                <a:lnTo>
                  <a:pt x="11369" y="8346"/>
                </a:lnTo>
                <a:lnTo>
                  <a:pt x="9872" y="9520"/>
                </a:lnTo>
                <a:lnTo>
                  <a:pt x="8445" y="10759"/>
                </a:lnTo>
                <a:lnTo>
                  <a:pt x="7094" y="12058"/>
                </a:lnTo>
                <a:lnTo>
                  <a:pt x="5821" y="13416"/>
                </a:lnTo>
                <a:lnTo>
                  <a:pt x="4630" y="14827"/>
                </a:lnTo>
                <a:lnTo>
                  <a:pt x="3523" y="16289"/>
                </a:lnTo>
                <a:lnTo>
                  <a:pt x="2504" y="17797"/>
                </a:lnTo>
                <a:lnTo>
                  <a:pt x="1576" y="19348"/>
                </a:lnTo>
                <a:lnTo>
                  <a:pt x="741" y="20938"/>
                </a:lnTo>
                <a:lnTo>
                  <a:pt x="0" y="22562"/>
                </a:lnTo>
              </a:path>
            </a:pathLst>
          </a:custGeom>
          <a:noFill/>
          <a:ln w="13970">
            <a:solidFill>
              <a:srgbClr val="2040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7287768" y="2636202"/>
            <a:ext cx="4846320" cy="186563"/>
          </a:xfrm>
          <a:prstGeom prst="rect">
            <a:avLst/>
          </a:prstGeom>
          <a:noFill/>
        </p:spPr>
        <p:txBody>
          <a:bodyPr wrap="square" lIns="0" rIns="0" tIns="0" bIns="0" anchor="ctr">
            <a:spAutoFit/>
          </a:bodyPr>
          <a:lstStyle/>
          <a:p>
            <a:pPr algn="l"/>
            <a:r>
              <a:rPr sz="850" b="0" i="0">
                <a:solidFill>
                  <a:srgbClr val="333333"/>
                </a:solidFill>
              </a:rPr>
              <a:t>M2  Real-world expertise from volunteers and industry  (12)</a:t>
            </a:r>
          </a:p>
        </p:txBody>
      </p:sp>
      <p:sp>
        <p:nvSpPr>
          <p:cNvPr id="109" name="Oval 108"/>
          <p:cNvSpPr/>
          <p:nvPr/>
        </p:nvSpPr>
        <p:spPr>
          <a:xfrm>
            <a:off x="7004304" y="2930652"/>
            <a:ext cx="201168" cy="201168"/>
          </a:xfrm>
          <a:prstGeom prst="ellipse">
            <a:avLst/>
          </a:prstGeom>
          <a:solidFill>
            <a:srgbClr val="FDF0EC"/>
          </a:solidFill>
          <a:ln w="11430">
            <a:solidFill>
              <a:srgbClr val="B553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Freeform 109"/>
          <p:cNvSpPr/>
          <p:nvPr/>
        </p:nvSpPr>
        <p:spPr>
          <a:xfrm>
            <a:off x="7062368" y="2991459"/>
            <a:ext cx="46634" cy="79553"/>
          </a:xfrm>
          <a:custGeom>
            <a:avLst/>
            <a:gdLst/>
            <a:ahLst/>
            <a:cxnLst/>
            <a:rect l="l" t="t" r="r" b="b"/>
            <a:pathLst>
              <a:path w="46634" h="79553">
                <a:moveTo>
                  <a:pt x="0" y="19203"/>
                </a:moveTo>
                <a:lnTo>
                  <a:pt x="0" y="60351"/>
                </a:lnTo>
                <a:lnTo>
                  <a:pt x="46634" y="79553"/>
                </a:lnTo>
                <a:lnTo>
                  <a:pt x="46634" y="0"/>
                </a:lnTo>
                <a:close/>
              </a:path>
            </a:pathLst>
          </a:custGeom>
          <a:no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Freeform 110"/>
          <p:cNvSpPr/>
          <p:nvPr/>
        </p:nvSpPr>
        <p:spPr>
          <a:xfrm>
            <a:off x="7119741" y="3012043"/>
            <a:ext cx="7092" cy="38385"/>
          </a:xfrm>
          <a:custGeom>
            <a:avLst/>
            <a:gdLst/>
            <a:ahLst/>
            <a:cxnLst/>
            <a:rect l="l" t="t" r="r" b="b"/>
            <a:pathLst>
              <a:path w="7092" h="38385">
                <a:moveTo>
                  <a:pt x="0" y="38385"/>
                </a:moveTo>
                <a:lnTo>
                  <a:pt x="532" y="37862"/>
                </a:lnTo>
                <a:lnTo>
                  <a:pt x="1049" y="37306"/>
                </a:lnTo>
                <a:lnTo>
                  <a:pt x="1551" y="36718"/>
                </a:lnTo>
                <a:lnTo>
                  <a:pt x="2035" y="36099"/>
                </a:lnTo>
                <a:lnTo>
                  <a:pt x="2501" y="35449"/>
                </a:lnTo>
                <a:lnTo>
                  <a:pt x="2949" y="34771"/>
                </a:lnTo>
                <a:lnTo>
                  <a:pt x="3377" y="34065"/>
                </a:lnTo>
                <a:lnTo>
                  <a:pt x="3785" y="33332"/>
                </a:lnTo>
                <a:lnTo>
                  <a:pt x="4172" y="32575"/>
                </a:lnTo>
                <a:lnTo>
                  <a:pt x="4537" y="31793"/>
                </a:lnTo>
                <a:lnTo>
                  <a:pt x="4880" y="30989"/>
                </a:lnTo>
                <a:lnTo>
                  <a:pt x="5200" y="30164"/>
                </a:lnTo>
                <a:lnTo>
                  <a:pt x="5497" y="29320"/>
                </a:lnTo>
                <a:lnTo>
                  <a:pt x="5770" y="28458"/>
                </a:lnTo>
                <a:lnTo>
                  <a:pt x="6018" y="27579"/>
                </a:lnTo>
                <a:lnTo>
                  <a:pt x="6241" y="26685"/>
                </a:lnTo>
                <a:lnTo>
                  <a:pt x="6439" y="25778"/>
                </a:lnTo>
                <a:lnTo>
                  <a:pt x="6612" y="24859"/>
                </a:lnTo>
                <a:lnTo>
                  <a:pt x="6758" y="23930"/>
                </a:lnTo>
                <a:lnTo>
                  <a:pt x="6878" y="22993"/>
                </a:lnTo>
                <a:lnTo>
                  <a:pt x="6971" y="22049"/>
                </a:lnTo>
                <a:lnTo>
                  <a:pt x="7038" y="21099"/>
                </a:lnTo>
                <a:lnTo>
                  <a:pt x="7079" y="20147"/>
                </a:lnTo>
                <a:lnTo>
                  <a:pt x="7092" y="19193"/>
                </a:lnTo>
                <a:lnTo>
                  <a:pt x="7079" y="18238"/>
                </a:lnTo>
                <a:lnTo>
                  <a:pt x="7038" y="17286"/>
                </a:lnTo>
                <a:lnTo>
                  <a:pt x="6971" y="16336"/>
                </a:lnTo>
                <a:lnTo>
                  <a:pt x="6878" y="15392"/>
                </a:lnTo>
                <a:lnTo>
                  <a:pt x="6758" y="14455"/>
                </a:lnTo>
                <a:lnTo>
                  <a:pt x="6612" y="13526"/>
                </a:lnTo>
                <a:lnTo>
                  <a:pt x="6439" y="12607"/>
                </a:lnTo>
                <a:lnTo>
                  <a:pt x="6241" y="11700"/>
                </a:lnTo>
                <a:lnTo>
                  <a:pt x="6018" y="10806"/>
                </a:lnTo>
                <a:lnTo>
                  <a:pt x="5770" y="9927"/>
                </a:lnTo>
                <a:lnTo>
                  <a:pt x="5497" y="9065"/>
                </a:lnTo>
                <a:lnTo>
                  <a:pt x="5200" y="8221"/>
                </a:lnTo>
                <a:lnTo>
                  <a:pt x="4880" y="7396"/>
                </a:lnTo>
                <a:lnTo>
                  <a:pt x="4537" y="6592"/>
                </a:lnTo>
                <a:lnTo>
                  <a:pt x="4172" y="5810"/>
                </a:lnTo>
                <a:lnTo>
                  <a:pt x="3785" y="5053"/>
                </a:lnTo>
                <a:lnTo>
                  <a:pt x="3377" y="4320"/>
                </a:lnTo>
                <a:lnTo>
                  <a:pt x="2949" y="3614"/>
                </a:lnTo>
                <a:lnTo>
                  <a:pt x="2501" y="2936"/>
                </a:lnTo>
                <a:lnTo>
                  <a:pt x="2035" y="2286"/>
                </a:lnTo>
                <a:lnTo>
                  <a:pt x="1551" y="1667"/>
                </a:lnTo>
                <a:lnTo>
                  <a:pt x="1049" y="1079"/>
                </a:lnTo>
                <a:lnTo>
                  <a:pt x="532" y="523"/>
                </a:lnTo>
                <a:lnTo>
                  <a:pt x="0" y="0"/>
                </a:lnTo>
              </a:path>
            </a:pathLst>
          </a:custGeom>
          <a:noFill/>
          <a:ln w="1270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Freeform 111"/>
          <p:cNvSpPr/>
          <p:nvPr/>
        </p:nvSpPr>
        <p:spPr>
          <a:xfrm>
            <a:off x="7125919" y="2997212"/>
            <a:ext cx="12573" cy="68047"/>
          </a:xfrm>
          <a:custGeom>
            <a:avLst/>
            <a:gdLst/>
            <a:ahLst/>
            <a:cxnLst/>
            <a:rect l="l" t="t" r="r" b="b"/>
            <a:pathLst>
              <a:path w="12573" h="68047">
                <a:moveTo>
                  <a:pt x="0" y="68047"/>
                </a:moveTo>
                <a:lnTo>
                  <a:pt x="944" y="67120"/>
                </a:lnTo>
                <a:lnTo>
                  <a:pt x="1861" y="66134"/>
                </a:lnTo>
                <a:lnTo>
                  <a:pt x="2749" y="65092"/>
                </a:lnTo>
                <a:lnTo>
                  <a:pt x="3607" y="63994"/>
                </a:lnTo>
                <a:lnTo>
                  <a:pt x="4434" y="62842"/>
                </a:lnTo>
                <a:lnTo>
                  <a:pt x="5228" y="61640"/>
                </a:lnTo>
                <a:lnTo>
                  <a:pt x="5987" y="60388"/>
                </a:lnTo>
                <a:lnTo>
                  <a:pt x="6710" y="59090"/>
                </a:lnTo>
                <a:lnTo>
                  <a:pt x="7396" y="57746"/>
                </a:lnTo>
                <a:lnTo>
                  <a:pt x="8044" y="56361"/>
                </a:lnTo>
                <a:lnTo>
                  <a:pt x="8652" y="54936"/>
                </a:lnTo>
                <a:lnTo>
                  <a:pt x="9219" y="53474"/>
                </a:lnTo>
                <a:lnTo>
                  <a:pt x="9745" y="51977"/>
                </a:lnTo>
                <a:lnTo>
                  <a:pt x="10229" y="50448"/>
                </a:lnTo>
                <a:lnTo>
                  <a:pt x="10669" y="48890"/>
                </a:lnTo>
                <a:lnTo>
                  <a:pt x="11064" y="47306"/>
                </a:lnTo>
                <a:lnTo>
                  <a:pt x="11415" y="45697"/>
                </a:lnTo>
                <a:lnTo>
                  <a:pt x="11721" y="44069"/>
                </a:lnTo>
                <a:lnTo>
                  <a:pt x="11980" y="42422"/>
                </a:lnTo>
                <a:lnTo>
                  <a:pt x="12193" y="40760"/>
                </a:lnTo>
                <a:lnTo>
                  <a:pt x="12359" y="39087"/>
                </a:lnTo>
                <a:lnTo>
                  <a:pt x="12478" y="37404"/>
                </a:lnTo>
                <a:lnTo>
                  <a:pt x="12549" y="35715"/>
                </a:lnTo>
                <a:lnTo>
                  <a:pt x="12573" y="34024"/>
                </a:lnTo>
                <a:lnTo>
                  <a:pt x="12549" y="32332"/>
                </a:lnTo>
                <a:lnTo>
                  <a:pt x="12478" y="30643"/>
                </a:lnTo>
                <a:lnTo>
                  <a:pt x="12359" y="28960"/>
                </a:lnTo>
                <a:lnTo>
                  <a:pt x="12193" y="27287"/>
                </a:lnTo>
                <a:lnTo>
                  <a:pt x="11980" y="25625"/>
                </a:lnTo>
                <a:lnTo>
                  <a:pt x="11721" y="23978"/>
                </a:lnTo>
                <a:lnTo>
                  <a:pt x="11415" y="22350"/>
                </a:lnTo>
                <a:lnTo>
                  <a:pt x="11064" y="20741"/>
                </a:lnTo>
                <a:lnTo>
                  <a:pt x="10669" y="19157"/>
                </a:lnTo>
                <a:lnTo>
                  <a:pt x="10229" y="17599"/>
                </a:lnTo>
                <a:lnTo>
                  <a:pt x="9745" y="16070"/>
                </a:lnTo>
                <a:lnTo>
                  <a:pt x="9219" y="14573"/>
                </a:lnTo>
                <a:lnTo>
                  <a:pt x="8652" y="13111"/>
                </a:lnTo>
                <a:lnTo>
                  <a:pt x="8044" y="11686"/>
                </a:lnTo>
                <a:lnTo>
                  <a:pt x="7396" y="10301"/>
                </a:lnTo>
                <a:lnTo>
                  <a:pt x="6710" y="8957"/>
                </a:lnTo>
                <a:lnTo>
                  <a:pt x="5987" y="7659"/>
                </a:lnTo>
                <a:lnTo>
                  <a:pt x="5228" y="6407"/>
                </a:lnTo>
                <a:lnTo>
                  <a:pt x="4434" y="5205"/>
                </a:lnTo>
                <a:lnTo>
                  <a:pt x="3607" y="4053"/>
                </a:lnTo>
                <a:lnTo>
                  <a:pt x="2749" y="2955"/>
                </a:lnTo>
                <a:lnTo>
                  <a:pt x="1861" y="1913"/>
                </a:lnTo>
                <a:lnTo>
                  <a:pt x="944" y="927"/>
                </a:lnTo>
                <a:lnTo>
                  <a:pt x="0" y="0"/>
                </a:lnTo>
              </a:path>
            </a:pathLst>
          </a:custGeom>
          <a:noFill/>
          <a:ln w="1270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7287768" y="2937954"/>
            <a:ext cx="4846320" cy="186563"/>
          </a:xfrm>
          <a:prstGeom prst="rect">
            <a:avLst/>
          </a:prstGeom>
          <a:noFill/>
        </p:spPr>
        <p:txBody>
          <a:bodyPr wrap="square" lIns="0" rIns="0" tIns="0" bIns="0" anchor="ctr">
            <a:spAutoFit/>
          </a:bodyPr>
          <a:lstStyle/>
          <a:p>
            <a:pPr algn="l"/>
            <a:r>
              <a:rPr sz="850" b="0" i="0">
                <a:solidFill>
                  <a:srgbClr val="333333"/>
                </a:solidFill>
              </a:rPr>
              <a:t>B4  Low awareness of JABC programs  (7)</a:t>
            </a:r>
          </a:p>
        </p:txBody>
      </p:sp>
      <p:sp>
        <p:nvSpPr>
          <p:cNvPr id="114" name="Oval 113"/>
          <p:cNvSpPr/>
          <p:nvPr/>
        </p:nvSpPr>
        <p:spPr>
          <a:xfrm>
            <a:off x="7004304" y="3232404"/>
            <a:ext cx="201168" cy="201168"/>
          </a:xfrm>
          <a:prstGeom prst="ellipse">
            <a:avLst/>
          </a:prstGeom>
          <a:solidFill>
            <a:srgbClr val="FDF0EC"/>
          </a:solidFill>
          <a:ln w="11430">
            <a:solidFill>
              <a:srgbClr val="B553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7069226" y="3297326"/>
            <a:ext cx="71323" cy="71323"/>
          </a:xfrm>
          <a:prstGeom prst="rect">
            <a:avLst/>
          </a:prstGeom>
          <a:no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Oval 115"/>
          <p:cNvSpPr/>
          <p:nvPr/>
        </p:nvSpPr>
        <p:spPr>
          <a:xfrm>
            <a:off x="7126833" y="3319272"/>
            <a:ext cx="27432" cy="27432"/>
          </a:xfrm>
          <a:prstGeom prst="ellipse">
            <a:avLst/>
          </a:prstGeom>
          <a:solidFill>
            <a:srgbClr val="FFFFFF"/>
          </a:solid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Oval 116"/>
          <p:cNvSpPr/>
          <p:nvPr/>
        </p:nvSpPr>
        <p:spPr>
          <a:xfrm>
            <a:off x="7091172" y="3283610"/>
            <a:ext cx="27432" cy="27432"/>
          </a:xfrm>
          <a:prstGeom prst="ellipse">
            <a:avLst/>
          </a:prstGeom>
          <a:solidFill>
            <a:srgbClr val="FFFFFF"/>
          </a:solid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7287768" y="3239706"/>
            <a:ext cx="4846320" cy="186563"/>
          </a:xfrm>
          <a:prstGeom prst="rect">
            <a:avLst/>
          </a:prstGeom>
          <a:noFill/>
        </p:spPr>
        <p:txBody>
          <a:bodyPr wrap="square" lIns="0" rIns="0" tIns="0" bIns="0" anchor="ctr">
            <a:spAutoFit/>
          </a:bodyPr>
          <a:lstStyle/>
          <a:p>
            <a:pPr algn="l"/>
            <a:r>
              <a:rPr sz="850" b="0" i="0">
                <a:solidFill>
                  <a:srgbClr val="333333"/>
                </a:solidFill>
              </a:rPr>
              <a:t>B2  Difficulty integrating programs into curriculum  (9)</a:t>
            </a:r>
          </a:p>
        </p:txBody>
      </p:sp>
      <p:sp>
        <p:nvSpPr>
          <p:cNvPr id="119" name="Oval 118"/>
          <p:cNvSpPr/>
          <p:nvPr/>
        </p:nvSpPr>
        <p:spPr>
          <a:xfrm>
            <a:off x="7004304" y="3534156"/>
            <a:ext cx="201168" cy="201168"/>
          </a:xfrm>
          <a:prstGeom prst="ellipse">
            <a:avLst/>
          </a:prstGeom>
          <a:solidFill>
            <a:srgbClr val="FDF0EC"/>
          </a:solidFill>
          <a:ln w="11430">
            <a:solidFill>
              <a:srgbClr val="B553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Freeform 119"/>
          <p:cNvSpPr/>
          <p:nvPr/>
        </p:nvSpPr>
        <p:spPr>
          <a:xfrm>
            <a:off x="7071969" y="3596335"/>
            <a:ext cx="67209" cy="76809"/>
          </a:xfrm>
          <a:custGeom>
            <a:avLst/>
            <a:gdLst/>
            <a:ahLst/>
            <a:cxnLst/>
            <a:rect l="l" t="t" r="r" b="b"/>
            <a:pathLst>
              <a:path w="67209" h="76809">
                <a:moveTo>
                  <a:pt x="0" y="0"/>
                </a:moveTo>
                <a:lnTo>
                  <a:pt x="48006" y="0"/>
                </a:lnTo>
                <a:lnTo>
                  <a:pt x="67209" y="20574"/>
                </a:lnTo>
                <a:lnTo>
                  <a:pt x="67209" y="76809"/>
                </a:lnTo>
                <a:lnTo>
                  <a:pt x="0" y="76809"/>
                </a:lnTo>
                <a:close/>
              </a:path>
            </a:pathLst>
          </a:custGeom>
          <a:no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1" name="Connector 120"/>
          <p:cNvCxnSpPr/>
          <p:nvPr/>
        </p:nvCxnSpPr>
        <p:spPr>
          <a:xfrm>
            <a:off x="7085685" y="3630625"/>
            <a:ext cx="38405" cy="0"/>
          </a:xfrm>
          <a:prstGeom prst="line">
            <a:avLst/>
          </a:prstGeom>
          <a:ln w="11430">
            <a:solidFill>
              <a:srgbClr val="8A3A25"/>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085685" y="3645712"/>
            <a:ext cx="31547" cy="0"/>
          </a:xfrm>
          <a:prstGeom prst="line">
            <a:avLst/>
          </a:prstGeom>
          <a:ln w="11430">
            <a:solidFill>
              <a:srgbClr val="8A3A25"/>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085685" y="3660800"/>
            <a:ext cx="24689" cy="0"/>
          </a:xfrm>
          <a:prstGeom prst="line">
            <a:avLst/>
          </a:prstGeom>
          <a:ln w="11430">
            <a:solidFill>
              <a:srgbClr val="8A3A25"/>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7287768" y="3541458"/>
            <a:ext cx="4846320" cy="186563"/>
          </a:xfrm>
          <a:prstGeom prst="rect">
            <a:avLst/>
          </a:prstGeom>
          <a:noFill/>
        </p:spPr>
        <p:txBody>
          <a:bodyPr wrap="square" lIns="0" rIns="0" tIns="0" bIns="0" anchor="ctr">
            <a:spAutoFit/>
          </a:bodyPr>
          <a:lstStyle/>
          <a:p>
            <a:pPr algn="l"/>
            <a:r>
              <a:rPr sz="850" b="0" i="0">
                <a:solidFill>
                  <a:srgbClr val="333333"/>
                </a:solidFill>
              </a:rPr>
              <a:t>B5  Information overload and competing priorities  (6)</a:t>
            </a:r>
          </a:p>
        </p:txBody>
      </p:sp>
      <p:sp>
        <p:nvSpPr>
          <p:cNvPr id="125" name="Oval 124"/>
          <p:cNvSpPr/>
          <p:nvPr/>
        </p:nvSpPr>
        <p:spPr>
          <a:xfrm>
            <a:off x="7004304" y="3835908"/>
            <a:ext cx="201168" cy="201168"/>
          </a:xfrm>
          <a:prstGeom prst="ellipse">
            <a:avLst/>
          </a:prstGeom>
          <a:solidFill>
            <a:srgbClr val="FDF0EC"/>
          </a:solidFill>
          <a:ln w="11430">
            <a:solidFill>
              <a:srgbClr val="B553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Freeform 125"/>
          <p:cNvSpPr/>
          <p:nvPr/>
        </p:nvSpPr>
        <p:spPr>
          <a:xfrm>
            <a:off x="7073341" y="3898087"/>
            <a:ext cx="63093" cy="38405"/>
          </a:xfrm>
          <a:custGeom>
            <a:avLst/>
            <a:gdLst/>
            <a:ahLst/>
            <a:cxnLst/>
            <a:rect l="l" t="t" r="r" b="b"/>
            <a:pathLst>
              <a:path w="63093" h="38405">
                <a:moveTo>
                  <a:pt x="0" y="0"/>
                </a:moveTo>
                <a:lnTo>
                  <a:pt x="63093" y="0"/>
                </a:lnTo>
                <a:lnTo>
                  <a:pt x="31547" y="38405"/>
                </a:lnTo>
                <a:close/>
              </a:path>
            </a:pathLst>
          </a:custGeom>
          <a:solidFill>
            <a:srgbClr val="8A3A25"/>
          </a:solidFill>
          <a:ln w="1270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Freeform 126"/>
          <p:cNvSpPr/>
          <p:nvPr/>
        </p:nvSpPr>
        <p:spPr>
          <a:xfrm>
            <a:off x="7073341" y="3936492"/>
            <a:ext cx="63093" cy="38404"/>
          </a:xfrm>
          <a:custGeom>
            <a:avLst/>
            <a:gdLst/>
            <a:ahLst/>
            <a:cxnLst/>
            <a:rect l="l" t="t" r="r" b="b"/>
            <a:pathLst>
              <a:path w="63093" h="38404">
                <a:moveTo>
                  <a:pt x="0" y="38404"/>
                </a:moveTo>
                <a:lnTo>
                  <a:pt x="63093" y="38404"/>
                </a:lnTo>
                <a:lnTo>
                  <a:pt x="31547" y="0"/>
                </a:lnTo>
                <a:close/>
              </a:path>
            </a:pathLst>
          </a:custGeom>
          <a:noFill/>
          <a:ln w="1270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8" name="Connector 127"/>
          <p:cNvCxnSpPr/>
          <p:nvPr/>
        </p:nvCxnSpPr>
        <p:spPr>
          <a:xfrm>
            <a:off x="7067854" y="3895344"/>
            <a:ext cx="74067" cy="0"/>
          </a:xfrm>
          <a:prstGeom prst="line">
            <a:avLst/>
          </a:prstGeom>
          <a:ln w="15240">
            <a:solidFill>
              <a:srgbClr val="8A3A25"/>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7067854" y="3977640"/>
            <a:ext cx="74067" cy="0"/>
          </a:xfrm>
          <a:prstGeom prst="line">
            <a:avLst/>
          </a:prstGeom>
          <a:ln w="15240">
            <a:solidFill>
              <a:srgbClr val="8A3A25"/>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7287768" y="3843210"/>
            <a:ext cx="4846320" cy="186563"/>
          </a:xfrm>
          <a:prstGeom prst="rect">
            <a:avLst/>
          </a:prstGeom>
          <a:noFill/>
        </p:spPr>
        <p:txBody>
          <a:bodyPr wrap="square" lIns="0" rIns="0" tIns="0" bIns="0" anchor="ctr">
            <a:spAutoFit/>
          </a:bodyPr>
          <a:lstStyle/>
          <a:p>
            <a:pPr algn="l"/>
            <a:r>
              <a:rPr sz="850" b="0" i="0">
                <a:solidFill>
                  <a:srgbClr val="333333"/>
                </a:solidFill>
              </a:rPr>
              <a:t>B1  Limited instructional time and scheduling  (11)</a:t>
            </a:r>
          </a:p>
        </p:txBody>
      </p:sp>
      <p:sp>
        <p:nvSpPr>
          <p:cNvPr id="131" name="Oval 130"/>
          <p:cNvSpPr/>
          <p:nvPr/>
        </p:nvSpPr>
        <p:spPr>
          <a:xfrm>
            <a:off x="7004304" y="4137660"/>
            <a:ext cx="201168" cy="201168"/>
          </a:xfrm>
          <a:prstGeom prst="ellipse">
            <a:avLst/>
          </a:prstGeom>
          <a:solidFill>
            <a:srgbClr val="FDF0EC"/>
          </a:solidFill>
          <a:ln w="11430">
            <a:solidFill>
              <a:srgbClr val="B553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7062368" y="4197096"/>
            <a:ext cx="85039" cy="54864"/>
          </a:xfrm>
          <a:prstGeom prst="rect">
            <a:avLst/>
          </a:prstGeom>
          <a:noFill/>
          <a:ln w="13970">
            <a:solidFill>
              <a:srgbClr val="8A3A2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3" name="Connector 132"/>
          <p:cNvCxnSpPr/>
          <p:nvPr/>
        </p:nvCxnSpPr>
        <p:spPr>
          <a:xfrm>
            <a:off x="7062368" y="4212183"/>
            <a:ext cx="85039" cy="0"/>
          </a:xfrm>
          <a:prstGeom prst="line">
            <a:avLst/>
          </a:prstGeom>
          <a:ln w="11430">
            <a:solidFill>
              <a:srgbClr val="8A3A25"/>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7104888" y="4251960"/>
            <a:ext cx="0" cy="16459"/>
          </a:xfrm>
          <a:prstGeom prst="line">
            <a:avLst/>
          </a:prstGeom>
          <a:ln w="13970">
            <a:solidFill>
              <a:srgbClr val="8A3A25"/>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7081570" y="4268419"/>
            <a:ext cx="46635" cy="0"/>
          </a:xfrm>
          <a:prstGeom prst="line">
            <a:avLst/>
          </a:prstGeom>
          <a:ln w="15240">
            <a:solidFill>
              <a:srgbClr val="8A3A25"/>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7287768" y="4144962"/>
            <a:ext cx="4846320" cy="186563"/>
          </a:xfrm>
          <a:prstGeom prst="rect">
            <a:avLst/>
          </a:prstGeom>
          <a:noFill/>
        </p:spPr>
        <p:txBody>
          <a:bodyPr wrap="square" lIns="0" rIns="0" tIns="0" bIns="0" anchor="ctr">
            <a:spAutoFit/>
          </a:bodyPr>
          <a:lstStyle/>
          <a:p>
            <a:pPr algn="l"/>
            <a:r>
              <a:rPr sz="850" b="0" i="0">
                <a:solidFill>
                  <a:srgbClr val="333333"/>
                </a:solidFill>
              </a:rPr>
              <a:t>B3  Program discovery and registration friction  (8)</a:t>
            </a:r>
          </a:p>
        </p:txBody>
      </p:sp>
      <p:sp>
        <p:nvSpPr>
          <p:cNvPr id="137" name="TextBox 136"/>
          <p:cNvSpPr txBox="1"/>
          <p:nvPr/>
        </p:nvSpPr>
        <p:spPr>
          <a:xfrm>
            <a:off x="6995160" y="4645152"/>
            <a:ext cx="1463040" cy="240791"/>
          </a:xfrm>
          <a:prstGeom prst="rect">
            <a:avLst/>
          </a:prstGeom>
          <a:noFill/>
        </p:spPr>
        <p:txBody>
          <a:bodyPr wrap="square" lIns="0" rIns="0" tIns="0" bIns="0" anchor="ctr">
            <a:spAutoFit/>
          </a:bodyPr>
          <a:lstStyle/>
          <a:p>
            <a:pPr algn="l"/>
            <a:r>
              <a:rPr sz="1200" b="1" i="0">
                <a:solidFill>
                  <a:srgbClr val="333333"/>
                </a:solidFill>
              </a:rPr>
              <a:t>Ring</a:t>
            </a:r>
          </a:p>
        </p:txBody>
      </p:sp>
      <p:sp>
        <p:nvSpPr>
          <p:cNvPr id="138" name="TextBox 137"/>
          <p:cNvSpPr txBox="1"/>
          <p:nvPr/>
        </p:nvSpPr>
        <p:spPr>
          <a:xfrm>
            <a:off x="7406640" y="4690872"/>
            <a:ext cx="2743200" cy="186563"/>
          </a:xfrm>
          <a:prstGeom prst="rect">
            <a:avLst/>
          </a:prstGeom>
          <a:noFill/>
        </p:spPr>
        <p:txBody>
          <a:bodyPr wrap="square" lIns="0" rIns="0" tIns="0" bIns="0" anchor="ctr">
            <a:spAutoFit/>
          </a:bodyPr>
          <a:lstStyle/>
          <a:p>
            <a:pPr algn="l"/>
            <a:r>
              <a:rPr sz="850" b="0" i="1">
                <a:solidFill>
                  <a:srgbClr val="8A8A8A"/>
                </a:solidFill>
              </a:rPr>
              <a:t>(which family the factor belongs to)</a:t>
            </a:r>
          </a:p>
        </p:txBody>
      </p:sp>
      <p:sp>
        <p:nvSpPr>
          <p:cNvPr id="139" name="Oval 138"/>
          <p:cNvSpPr/>
          <p:nvPr/>
        </p:nvSpPr>
        <p:spPr>
          <a:xfrm>
            <a:off x="7008876" y="4978908"/>
            <a:ext cx="155448" cy="155448"/>
          </a:xfrm>
          <a:prstGeom prst="ellipse">
            <a:avLst/>
          </a:pr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7251192" y="4963350"/>
            <a:ext cx="2011680" cy="186563"/>
          </a:xfrm>
          <a:prstGeom prst="rect">
            <a:avLst/>
          </a:prstGeom>
          <a:noFill/>
        </p:spPr>
        <p:txBody>
          <a:bodyPr wrap="square" lIns="0" rIns="0" tIns="0" bIns="0" anchor="ctr">
            <a:spAutoFit/>
          </a:bodyPr>
          <a:lstStyle/>
          <a:p>
            <a:pPr algn="l"/>
            <a:r>
              <a:rPr sz="850" b="0" i="0">
                <a:solidFill>
                  <a:srgbClr val="333333"/>
                </a:solidFill>
              </a:rPr>
              <a:t>Motivator</a:t>
            </a:r>
          </a:p>
        </p:txBody>
      </p:sp>
      <p:sp>
        <p:nvSpPr>
          <p:cNvPr id="141" name="Oval 140"/>
          <p:cNvSpPr/>
          <p:nvPr/>
        </p:nvSpPr>
        <p:spPr>
          <a:xfrm>
            <a:off x="9340595" y="4978908"/>
            <a:ext cx="155448" cy="155448"/>
          </a:xfrm>
          <a:prstGeom prst="ellipse">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9582911" y="4963350"/>
            <a:ext cx="2011680" cy="186563"/>
          </a:xfrm>
          <a:prstGeom prst="rect">
            <a:avLst/>
          </a:prstGeom>
          <a:noFill/>
        </p:spPr>
        <p:txBody>
          <a:bodyPr wrap="square" lIns="0" rIns="0" tIns="0" bIns="0" anchor="ctr">
            <a:spAutoFit/>
          </a:bodyPr>
          <a:lstStyle/>
          <a:p>
            <a:pPr algn="l"/>
            <a:r>
              <a:rPr sz="850" b="0" i="0">
                <a:solidFill>
                  <a:srgbClr val="333333"/>
                </a:solidFill>
              </a:rPr>
              <a:t>Barrier</a:t>
            </a:r>
          </a:p>
        </p:txBody>
      </p:sp>
      <p:sp>
        <p:nvSpPr>
          <p:cNvPr id="143" name="TextBox 142"/>
          <p:cNvSpPr txBox="1"/>
          <p:nvPr/>
        </p:nvSpPr>
        <p:spPr>
          <a:xfrm>
            <a:off x="6995160" y="5632704"/>
            <a:ext cx="4937760" cy="943832"/>
          </a:xfrm>
          <a:prstGeom prst="rect">
            <a:avLst/>
          </a:prstGeom>
          <a:noFill/>
        </p:spPr>
        <p:txBody>
          <a:bodyPr wrap="square" lIns="0" rIns="0" tIns="0" bIns="0" anchor="ctr">
            <a:spAutoFit/>
          </a:bodyPr>
          <a:lstStyle/>
          <a:p>
            <a:pPr algn="l">
              <a:lnSpc>
                <a:spcPct val="135000"/>
              </a:lnSpc>
            </a:pPr>
            <a:r>
              <a:rPr sz="850" b="0" i="1">
                <a:solidFill>
                  <a:srgbClr val="8A8A8A"/>
                </a:solidFill>
              </a:rPr>
              <a:t>Vertical position and circle size = coded frequency of mention;</a:t>
            </a:r>
          </a:p>
          <a:p>
            <a:pPr algn="l">
              <a:lnSpc>
                <a:spcPct val="135000"/>
              </a:lnSpc>
            </a:pPr>
            <a:r>
              <a:rPr sz="850" b="0" i="1">
                <a:solidFill>
                  <a:srgbClr val="8A8A8A"/>
                </a:solidFill>
              </a:rPr>
              <a:t>motivators read upward, barriers downward. Horizontal position is</a:t>
            </a:r>
          </a:p>
          <a:p>
            <a:pPr algn="l">
              <a:lnSpc>
                <a:spcPct val="135000"/>
              </a:lnSpc>
            </a:pPr>
            <a:r>
              <a:rPr sz="850" b="0" i="1">
                <a:solidFill>
                  <a:srgbClr val="8A8A8A"/>
                </a:solidFill>
              </a:rPr>
              <a:t>set by the approved diagram — an editorial judgement, not a</a:t>
            </a:r>
          </a:p>
          <a:p>
            <a:pPr algn="l">
              <a:lnSpc>
                <a:spcPct val="135000"/>
              </a:lnSpc>
            </a:pPr>
            <a:r>
              <a:rPr sz="850" b="0" i="1">
                <a:solidFill>
                  <a:srgbClr val="8A8A8A"/>
                </a:solidFill>
              </a:rPr>
              <a:t>measurement, so it is never recomputed from the data.</a:t>
            </a:r>
          </a:p>
          <a:p>
            <a:pPr algn="l">
              <a:lnSpc>
                <a:spcPct val="135000"/>
              </a:lnSpc>
            </a:pPr>
            <a:r>
              <a:rPr sz="850" b="0" i="1">
                <a:solidFill>
                  <a:srgbClr val="8A8A8A"/>
                </a:solidFill>
              </a:rPr>
              <a:t>Who raised each factor follows, one pie per factor.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8229600" cy="457708"/>
          </a:xfrm>
          <a:prstGeom prst="rect">
            <a:avLst/>
          </a:prstGeom>
          <a:noFill/>
        </p:spPr>
        <p:txBody>
          <a:bodyPr wrap="square" lIns="0" rIns="0" tIns="0" bIns="0" anchor="ctr">
            <a:spAutoFit/>
          </a:bodyPr>
          <a:lstStyle/>
          <a:p>
            <a:pPr algn="l"/>
            <a:r>
              <a:rPr sz="2600" b="1" i="0">
                <a:solidFill>
                  <a:srgbClr val="1A1A1A"/>
                </a:solidFill>
              </a:rPr>
              <a:t>Motivators — who raised each factor</a:t>
            </a:r>
          </a:p>
        </p:txBody>
      </p:sp>
      <p:sp>
        <p:nvSpPr>
          <p:cNvPr id="3" name="TextBox 2"/>
          <p:cNvSpPr txBox="1"/>
          <p:nvPr/>
        </p:nvSpPr>
        <p:spPr>
          <a:xfrm>
            <a:off x="502920" y="868680"/>
            <a:ext cx="10058400" cy="217551"/>
          </a:xfrm>
          <a:prstGeom prst="rect">
            <a:avLst/>
          </a:prstGeom>
          <a:noFill/>
        </p:spPr>
        <p:txBody>
          <a:bodyPr wrap="square" lIns="0" rIns="0" tIns="0" bIns="0" anchor="ctr">
            <a:spAutoFit/>
          </a:bodyPr>
          <a:lstStyle/>
          <a:p>
            <a:pPr algn="l"/>
            <a:r>
              <a:rPr sz="1050" b="0" i="1">
                <a:solidFill>
                  <a:srgbClr val="8A8A8A"/>
                </a:solidFill>
              </a:rPr>
              <a:t>Share of coded mentions by Brand Persona. Percentages are of that factor's own mentions, so each pie totals 100%.</a:t>
            </a:r>
          </a:p>
        </p:txBody>
      </p:sp>
      <p:sp>
        <p:nvSpPr>
          <p:cNvPr id="4" name="TextBox 3"/>
          <p:cNvSpPr txBox="1"/>
          <p:nvPr/>
        </p:nvSpPr>
        <p:spPr>
          <a:xfrm>
            <a:off x="585216" y="1417320"/>
            <a:ext cx="2072579" cy="217551"/>
          </a:xfrm>
          <a:prstGeom prst="rect">
            <a:avLst/>
          </a:prstGeom>
          <a:noFill/>
        </p:spPr>
        <p:txBody>
          <a:bodyPr wrap="square" lIns="0" rIns="0" tIns="0" bIns="0" anchor="ctr">
            <a:spAutoFit/>
          </a:bodyPr>
          <a:lstStyle/>
          <a:p>
            <a:pPr algn="ctr"/>
            <a:r>
              <a:rPr sz="1050" b="1" i="0">
                <a:solidFill>
                  <a:srgbClr val="333333"/>
                </a:solidFill>
              </a:rPr>
              <a:t>M3  Curriculum alignment and classroom relevance</a:t>
            </a:r>
          </a:p>
        </p:txBody>
      </p:sp>
      <p:sp>
        <p:nvSpPr>
          <p:cNvPr id="5" name="Freeform 4"/>
          <p:cNvSpPr/>
          <p:nvPr/>
        </p:nvSpPr>
        <p:spPr>
          <a:xfrm>
            <a:off x="726662" y="2168371"/>
            <a:ext cx="1132911" cy="1789637"/>
          </a:xfrm>
          <a:custGeom>
            <a:avLst/>
            <a:gdLst/>
            <a:ahLst/>
            <a:cxnLst/>
            <a:rect l="l" t="t" r="r" b="b"/>
            <a:pathLst>
              <a:path w="1132911" h="1789637">
                <a:moveTo>
                  <a:pt x="894843" y="894869"/>
                </a:moveTo>
                <a:lnTo>
                  <a:pt x="894843" y="0"/>
                </a:lnTo>
                <a:lnTo>
                  <a:pt x="831307" y="2258"/>
                </a:lnTo>
                <a:lnTo>
                  <a:pt x="768092" y="9022"/>
                </a:lnTo>
                <a:lnTo>
                  <a:pt x="705517" y="20257"/>
                </a:lnTo>
                <a:lnTo>
                  <a:pt x="643897" y="35906"/>
                </a:lnTo>
                <a:lnTo>
                  <a:pt x="583544" y="55891"/>
                </a:lnTo>
                <a:lnTo>
                  <a:pt x="524763" y="80111"/>
                </a:lnTo>
                <a:lnTo>
                  <a:pt x="467849" y="108443"/>
                </a:lnTo>
                <a:lnTo>
                  <a:pt x="413090" y="140744"/>
                </a:lnTo>
                <a:lnTo>
                  <a:pt x="360763" y="176852"/>
                </a:lnTo>
                <a:lnTo>
                  <a:pt x="311132" y="216584"/>
                </a:lnTo>
                <a:lnTo>
                  <a:pt x="264446" y="259739"/>
                </a:lnTo>
                <a:lnTo>
                  <a:pt x="220943" y="306100"/>
                </a:lnTo>
                <a:lnTo>
                  <a:pt x="180841" y="355433"/>
                </a:lnTo>
                <a:lnTo>
                  <a:pt x="144343" y="407488"/>
                </a:lnTo>
                <a:lnTo>
                  <a:pt x="111633" y="462004"/>
                </a:lnTo>
                <a:lnTo>
                  <a:pt x="82876" y="518704"/>
                </a:lnTo>
                <a:lnTo>
                  <a:pt x="58218" y="577303"/>
                </a:lnTo>
                <a:lnTo>
                  <a:pt x="37782" y="637505"/>
                </a:lnTo>
                <a:lnTo>
                  <a:pt x="21672" y="699006"/>
                </a:lnTo>
                <a:lnTo>
                  <a:pt x="9970" y="761495"/>
                </a:lnTo>
                <a:lnTo>
                  <a:pt x="2733" y="824658"/>
                </a:lnTo>
                <a:lnTo>
                  <a:pt x="0" y="888175"/>
                </a:lnTo>
                <a:lnTo>
                  <a:pt x="1783" y="951726"/>
                </a:lnTo>
                <a:lnTo>
                  <a:pt x="8073" y="1014990"/>
                </a:lnTo>
                <a:lnTo>
                  <a:pt x="18840" y="1077647"/>
                </a:lnTo>
                <a:lnTo>
                  <a:pt x="34028" y="1139382"/>
                </a:lnTo>
                <a:lnTo>
                  <a:pt x="53561" y="1199883"/>
                </a:lnTo>
                <a:lnTo>
                  <a:pt x="77340" y="1258844"/>
                </a:lnTo>
                <a:lnTo>
                  <a:pt x="105245" y="1315968"/>
                </a:lnTo>
                <a:lnTo>
                  <a:pt x="137136" y="1370967"/>
                </a:lnTo>
                <a:lnTo>
                  <a:pt x="172852" y="1423563"/>
                </a:lnTo>
                <a:lnTo>
                  <a:pt x="212211" y="1473490"/>
                </a:lnTo>
                <a:lnTo>
                  <a:pt x="255016" y="1520497"/>
                </a:lnTo>
                <a:lnTo>
                  <a:pt x="301050" y="1564346"/>
                </a:lnTo>
                <a:lnTo>
                  <a:pt x="350082" y="1604815"/>
                </a:lnTo>
                <a:lnTo>
                  <a:pt x="401863" y="1641702"/>
                </a:lnTo>
                <a:lnTo>
                  <a:pt x="456132" y="1674819"/>
                </a:lnTo>
                <a:lnTo>
                  <a:pt x="512616" y="1703999"/>
                </a:lnTo>
                <a:lnTo>
                  <a:pt x="571029" y="1729095"/>
                </a:lnTo>
                <a:lnTo>
                  <a:pt x="631076" y="1749980"/>
                </a:lnTo>
                <a:lnTo>
                  <a:pt x="692455" y="1766550"/>
                </a:lnTo>
                <a:lnTo>
                  <a:pt x="754855" y="1778720"/>
                </a:lnTo>
                <a:lnTo>
                  <a:pt x="817962" y="1786428"/>
                </a:lnTo>
                <a:lnTo>
                  <a:pt x="881456" y="1789637"/>
                </a:lnTo>
                <a:lnTo>
                  <a:pt x="945019" y="1788329"/>
                </a:lnTo>
                <a:lnTo>
                  <a:pt x="1008328" y="1782512"/>
                </a:lnTo>
                <a:lnTo>
                  <a:pt x="1071064" y="1772214"/>
                </a:lnTo>
                <a:lnTo>
                  <a:pt x="1132911" y="1757488"/>
                </a:lnTo>
                <a:close/>
              </a:path>
            </a:pathLst>
          </a:cu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5699" y="3012514"/>
            <a:ext cx="822960" cy="240791"/>
          </a:xfrm>
          <a:prstGeom prst="rect">
            <a:avLst/>
          </a:prstGeom>
          <a:noFill/>
        </p:spPr>
        <p:txBody>
          <a:bodyPr wrap="square" lIns="0" rIns="0" tIns="0" bIns="0" anchor="ctr">
            <a:spAutoFit/>
          </a:bodyPr>
          <a:lstStyle/>
          <a:p>
            <a:pPr algn="ctr"/>
            <a:r>
              <a:rPr sz="1200" b="1" i="0">
                <a:solidFill>
                  <a:srgbClr val="FFFFFF"/>
                </a:solidFill>
              </a:rPr>
              <a:t>54%</a:t>
            </a:r>
          </a:p>
        </p:txBody>
      </p:sp>
      <p:sp>
        <p:nvSpPr>
          <p:cNvPr id="7" name="Freeform 6"/>
          <p:cNvSpPr/>
          <p:nvPr/>
        </p:nvSpPr>
        <p:spPr>
          <a:xfrm>
            <a:off x="1621505" y="2168371"/>
            <a:ext cx="894768" cy="1757488"/>
          </a:xfrm>
          <a:custGeom>
            <a:avLst/>
            <a:gdLst/>
            <a:ahLst/>
            <a:cxnLst/>
            <a:rect l="l" t="t" r="r" b="b"/>
            <a:pathLst>
              <a:path w="894768" h="1757488">
                <a:moveTo>
                  <a:pt x="0" y="894869"/>
                </a:moveTo>
                <a:lnTo>
                  <a:pt x="238068" y="1757488"/>
                </a:lnTo>
                <a:lnTo>
                  <a:pt x="289230" y="1741707"/>
                </a:lnTo>
                <a:lnTo>
                  <a:pt x="339357" y="1722894"/>
                </a:lnTo>
                <a:lnTo>
                  <a:pt x="388269" y="1701117"/>
                </a:lnTo>
                <a:lnTo>
                  <a:pt x="435791" y="1676454"/>
                </a:lnTo>
                <a:lnTo>
                  <a:pt x="481753" y="1648993"/>
                </a:lnTo>
                <a:lnTo>
                  <a:pt x="525990" y="1618832"/>
                </a:lnTo>
                <a:lnTo>
                  <a:pt x="568345" y="1586080"/>
                </a:lnTo>
                <a:lnTo>
                  <a:pt x="608665" y="1550853"/>
                </a:lnTo>
                <a:lnTo>
                  <a:pt x="646806" y="1513279"/>
                </a:lnTo>
                <a:lnTo>
                  <a:pt x="682632" y="1473490"/>
                </a:lnTo>
                <a:lnTo>
                  <a:pt x="716014" y="1431630"/>
                </a:lnTo>
                <a:lnTo>
                  <a:pt x="746833" y="1387849"/>
                </a:lnTo>
                <a:lnTo>
                  <a:pt x="774979" y="1342303"/>
                </a:lnTo>
                <a:lnTo>
                  <a:pt x="800350" y="1295155"/>
                </a:lnTo>
                <a:lnTo>
                  <a:pt x="822856" y="1246574"/>
                </a:lnTo>
                <a:lnTo>
                  <a:pt x="842417" y="1196734"/>
                </a:lnTo>
                <a:lnTo>
                  <a:pt x="858962" y="1145814"/>
                </a:lnTo>
                <a:lnTo>
                  <a:pt x="872432" y="1093995"/>
                </a:lnTo>
                <a:lnTo>
                  <a:pt x="882779" y="1041464"/>
                </a:lnTo>
                <a:lnTo>
                  <a:pt x="889966" y="988408"/>
                </a:lnTo>
                <a:lnTo>
                  <a:pt x="893967" y="935017"/>
                </a:lnTo>
                <a:lnTo>
                  <a:pt x="894768" y="881482"/>
                </a:lnTo>
                <a:lnTo>
                  <a:pt x="892366" y="827995"/>
                </a:lnTo>
                <a:lnTo>
                  <a:pt x="886770" y="774747"/>
                </a:lnTo>
                <a:lnTo>
                  <a:pt x="877999" y="721930"/>
                </a:lnTo>
                <a:lnTo>
                  <a:pt x="866085" y="669731"/>
                </a:lnTo>
                <a:lnTo>
                  <a:pt x="851070" y="618339"/>
                </a:lnTo>
                <a:lnTo>
                  <a:pt x="833010" y="567936"/>
                </a:lnTo>
                <a:lnTo>
                  <a:pt x="811967" y="518704"/>
                </a:lnTo>
                <a:lnTo>
                  <a:pt x="788017" y="470818"/>
                </a:lnTo>
                <a:lnTo>
                  <a:pt x="761247" y="424451"/>
                </a:lnTo>
                <a:lnTo>
                  <a:pt x="731751" y="379767"/>
                </a:lnTo>
                <a:lnTo>
                  <a:pt x="699636" y="336927"/>
                </a:lnTo>
                <a:lnTo>
                  <a:pt x="665017" y="296085"/>
                </a:lnTo>
                <a:lnTo>
                  <a:pt x="628017" y="257386"/>
                </a:lnTo>
                <a:lnTo>
                  <a:pt x="588769" y="220969"/>
                </a:lnTo>
                <a:lnTo>
                  <a:pt x="547413" y="186964"/>
                </a:lnTo>
                <a:lnTo>
                  <a:pt x="504097" y="155494"/>
                </a:lnTo>
                <a:lnTo>
                  <a:pt x="458977" y="126670"/>
                </a:lnTo>
                <a:lnTo>
                  <a:pt x="412214" y="100596"/>
                </a:lnTo>
                <a:lnTo>
                  <a:pt x="363976" y="77366"/>
                </a:lnTo>
                <a:lnTo>
                  <a:pt x="314434" y="57061"/>
                </a:lnTo>
                <a:lnTo>
                  <a:pt x="263767" y="39757"/>
                </a:lnTo>
                <a:lnTo>
                  <a:pt x="212156" y="25513"/>
                </a:lnTo>
                <a:lnTo>
                  <a:pt x="159785" y="14381"/>
                </a:lnTo>
                <a:lnTo>
                  <a:pt x="106842" y="6401"/>
                </a:lnTo>
                <a:lnTo>
                  <a:pt x="53517" y="1602"/>
                </a:lnTo>
                <a:lnTo>
                  <a:pt x="0" y="0"/>
                </a:lnTo>
                <a:close/>
              </a:path>
            </a:pathLst>
          </a:cu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724351" y="2873173"/>
            <a:ext cx="822960" cy="240791"/>
          </a:xfrm>
          <a:prstGeom prst="rect">
            <a:avLst/>
          </a:prstGeom>
          <a:noFill/>
        </p:spPr>
        <p:txBody>
          <a:bodyPr wrap="square" lIns="0" rIns="0" tIns="0" bIns="0" anchor="ctr">
            <a:spAutoFit/>
          </a:bodyPr>
          <a:lstStyle/>
          <a:p>
            <a:pPr algn="ctr"/>
            <a:r>
              <a:rPr sz="1200" b="1" i="0">
                <a:solidFill>
                  <a:srgbClr val="FFFFFF"/>
                </a:solidFill>
              </a:rPr>
              <a:t>46%</a:t>
            </a:r>
          </a:p>
        </p:txBody>
      </p:sp>
      <p:sp>
        <p:nvSpPr>
          <p:cNvPr id="9" name="TextBox 8"/>
          <p:cNvSpPr txBox="1"/>
          <p:nvPr/>
        </p:nvSpPr>
        <p:spPr>
          <a:xfrm>
            <a:off x="585216" y="4214140"/>
            <a:ext cx="2072579" cy="384111"/>
          </a:xfrm>
          <a:prstGeom prst="rect">
            <a:avLst/>
          </a:prstGeom>
          <a:noFill/>
        </p:spPr>
        <p:txBody>
          <a:bodyPr wrap="square" lIns="0" rIns="0" tIns="0" bIns="0" anchor="ctr">
            <a:spAutoFit/>
          </a:bodyPr>
          <a:lstStyle/>
          <a:p>
            <a:pPr algn="ctr">
              <a:lnSpc>
                <a:spcPct val="125000"/>
              </a:lnSpc>
            </a:pPr>
            <a:r>
              <a:rPr sz="850" b="0" i="0">
                <a:solidFill>
                  <a:srgbClr val="8A8A8A"/>
                </a:solidFill>
              </a:rPr>
              <a:t>10 coded mentions</a:t>
            </a:r>
          </a:p>
          <a:p>
            <a:pPr algn="ctr">
              <a:lnSpc>
                <a:spcPct val="125000"/>
              </a:lnSpc>
            </a:pPr>
            <a:r>
              <a:rPr sz="850" b="0" i="0">
                <a:solidFill>
                  <a:srgbClr val="8A8A8A"/>
                </a:solidFill>
              </a:rPr>
              <a:t>split from 35 detected mentions across 23 respondents</a:t>
            </a:r>
          </a:p>
        </p:txBody>
      </p:sp>
      <p:sp>
        <p:nvSpPr>
          <p:cNvPr id="10" name="TextBox 9"/>
          <p:cNvSpPr txBox="1"/>
          <p:nvPr/>
        </p:nvSpPr>
        <p:spPr>
          <a:xfrm>
            <a:off x="2822387" y="1417320"/>
            <a:ext cx="2072579" cy="217551"/>
          </a:xfrm>
          <a:prstGeom prst="rect">
            <a:avLst/>
          </a:prstGeom>
          <a:noFill/>
        </p:spPr>
        <p:txBody>
          <a:bodyPr wrap="square" lIns="0" rIns="0" tIns="0" bIns="0" anchor="ctr">
            <a:spAutoFit/>
          </a:bodyPr>
          <a:lstStyle/>
          <a:p>
            <a:pPr algn="ctr"/>
            <a:r>
              <a:rPr sz="1050" b="1" i="0">
                <a:solidFill>
                  <a:srgbClr val="333333"/>
                </a:solidFill>
              </a:rPr>
              <a:t>M4  Ready-to-use resources that reduce teacher preparation</a:t>
            </a:r>
          </a:p>
        </p:txBody>
      </p:sp>
      <p:sp>
        <p:nvSpPr>
          <p:cNvPr id="11" name="Freeform 10"/>
          <p:cNvSpPr/>
          <p:nvPr/>
        </p:nvSpPr>
        <p:spPr>
          <a:xfrm>
            <a:off x="2963808" y="2168371"/>
            <a:ext cx="1789736" cy="1789737"/>
          </a:xfrm>
          <a:custGeom>
            <a:avLst/>
            <a:gdLst/>
            <a:ahLst/>
            <a:cxnLst/>
            <a:rect l="l" t="t" r="r" b="b"/>
            <a:pathLst>
              <a:path w="1789736" h="1789737">
                <a:moveTo>
                  <a:pt x="894868" y="894869"/>
                </a:moveTo>
                <a:lnTo>
                  <a:pt x="894868" y="0"/>
                </a:lnTo>
                <a:lnTo>
                  <a:pt x="801329" y="4902"/>
                </a:lnTo>
                <a:lnTo>
                  <a:pt x="708814" y="19555"/>
                </a:lnTo>
                <a:lnTo>
                  <a:pt x="618339" y="43798"/>
                </a:lnTo>
                <a:lnTo>
                  <a:pt x="530892" y="77366"/>
                </a:lnTo>
                <a:lnTo>
                  <a:pt x="447434" y="119890"/>
                </a:lnTo>
                <a:lnTo>
                  <a:pt x="368878" y="170905"/>
                </a:lnTo>
                <a:lnTo>
                  <a:pt x="296084" y="229852"/>
                </a:lnTo>
                <a:lnTo>
                  <a:pt x="229851" y="296085"/>
                </a:lnTo>
                <a:lnTo>
                  <a:pt x="170904" y="368878"/>
                </a:lnTo>
                <a:lnTo>
                  <a:pt x="119889" y="447434"/>
                </a:lnTo>
                <a:lnTo>
                  <a:pt x="77365" y="530893"/>
                </a:lnTo>
                <a:lnTo>
                  <a:pt x="43798" y="618339"/>
                </a:lnTo>
                <a:lnTo>
                  <a:pt x="19555" y="708815"/>
                </a:lnTo>
                <a:lnTo>
                  <a:pt x="4902" y="801329"/>
                </a:lnTo>
                <a:lnTo>
                  <a:pt x="0" y="894869"/>
                </a:lnTo>
                <a:lnTo>
                  <a:pt x="4902" y="988408"/>
                </a:lnTo>
                <a:lnTo>
                  <a:pt x="19555" y="1080922"/>
                </a:lnTo>
                <a:lnTo>
                  <a:pt x="43798" y="1171398"/>
                </a:lnTo>
                <a:lnTo>
                  <a:pt x="77365" y="1258844"/>
                </a:lnTo>
                <a:lnTo>
                  <a:pt x="119889" y="1342303"/>
                </a:lnTo>
                <a:lnTo>
                  <a:pt x="170904" y="1420859"/>
                </a:lnTo>
                <a:lnTo>
                  <a:pt x="229851" y="1493652"/>
                </a:lnTo>
                <a:lnTo>
                  <a:pt x="296084" y="1559885"/>
                </a:lnTo>
                <a:lnTo>
                  <a:pt x="368878" y="1618832"/>
                </a:lnTo>
                <a:lnTo>
                  <a:pt x="447434" y="1669847"/>
                </a:lnTo>
                <a:lnTo>
                  <a:pt x="530892" y="1712371"/>
                </a:lnTo>
                <a:lnTo>
                  <a:pt x="618339" y="1745939"/>
                </a:lnTo>
                <a:lnTo>
                  <a:pt x="708814" y="1770182"/>
                </a:lnTo>
                <a:lnTo>
                  <a:pt x="801329" y="1784835"/>
                </a:lnTo>
                <a:lnTo>
                  <a:pt x="894868" y="1789737"/>
                </a:lnTo>
                <a:lnTo>
                  <a:pt x="988407" y="1784835"/>
                </a:lnTo>
                <a:lnTo>
                  <a:pt x="1080922" y="1770182"/>
                </a:lnTo>
                <a:lnTo>
                  <a:pt x="1171398" y="1745939"/>
                </a:lnTo>
                <a:lnTo>
                  <a:pt x="1258844" y="1712371"/>
                </a:lnTo>
                <a:lnTo>
                  <a:pt x="1342302" y="1669847"/>
                </a:lnTo>
                <a:lnTo>
                  <a:pt x="1420859" y="1618832"/>
                </a:lnTo>
                <a:lnTo>
                  <a:pt x="1493652" y="1559885"/>
                </a:lnTo>
                <a:lnTo>
                  <a:pt x="1559885" y="1493652"/>
                </a:lnTo>
                <a:lnTo>
                  <a:pt x="1618832" y="1420859"/>
                </a:lnTo>
                <a:lnTo>
                  <a:pt x="1669847" y="1342303"/>
                </a:lnTo>
                <a:lnTo>
                  <a:pt x="1712371" y="1258844"/>
                </a:lnTo>
                <a:lnTo>
                  <a:pt x="1745938" y="1171398"/>
                </a:lnTo>
                <a:lnTo>
                  <a:pt x="1770181" y="1080922"/>
                </a:lnTo>
                <a:lnTo>
                  <a:pt x="1784834" y="988408"/>
                </a:lnTo>
                <a:lnTo>
                  <a:pt x="1789736" y="894869"/>
                </a:lnTo>
                <a:lnTo>
                  <a:pt x="1784834" y="801329"/>
                </a:lnTo>
                <a:lnTo>
                  <a:pt x="1770181" y="708815"/>
                </a:lnTo>
                <a:lnTo>
                  <a:pt x="1745938" y="618339"/>
                </a:lnTo>
                <a:close/>
              </a:path>
            </a:pathLst>
          </a:cu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42122" y="3362742"/>
            <a:ext cx="822960" cy="240791"/>
          </a:xfrm>
          <a:prstGeom prst="rect">
            <a:avLst/>
          </a:prstGeom>
          <a:noFill/>
        </p:spPr>
        <p:txBody>
          <a:bodyPr wrap="square" lIns="0" rIns="0" tIns="0" bIns="0" anchor="ctr">
            <a:spAutoFit/>
          </a:bodyPr>
          <a:lstStyle/>
          <a:p>
            <a:pPr algn="ctr"/>
            <a:r>
              <a:rPr sz="1200" b="1" i="0">
                <a:solidFill>
                  <a:srgbClr val="FFFFFF"/>
                </a:solidFill>
              </a:rPr>
              <a:t>80%</a:t>
            </a:r>
          </a:p>
        </p:txBody>
      </p:sp>
      <p:sp>
        <p:nvSpPr>
          <p:cNvPr id="13" name="Freeform 12"/>
          <p:cNvSpPr/>
          <p:nvPr/>
        </p:nvSpPr>
        <p:spPr>
          <a:xfrm>
            <a:off x="3858676" y="2168371"/>
            <a:ext cx="851070" cy="894869"/>
          </a:xfrm>
          <a:custGeom>
            <a:avLst/>
            <a:gdLst/>
            <a:ahLst/>
            <a:cxnLst/>
            <a:rect l="l" t="t" r="r" b="b"/>
            <a:pathLst>
              <a:path w="851070" h="894869">
                <a:moveTo>
                  <a:pt x="0" y="894869"/>
                </a:moveTo>
                <a:lnTo>
                  <a:pt x="851070" y="618339"/>
                </a:lnTo>
                <a:lnTo>
                  <a:pt x="843540" y="596155"/>
                </a:lnTo>
                <a:lnTo>
                  <a:pt x="835432" y="574176"/>
                </a:lnTo>
                <a:lnTo>
                  <a:pt x="826751" y="552417"/>
                </a:lnTo>
                <a:lnTo>
                  <a:pt x="817503" y="530893"/>
                </a:lnTo>
                <a:lnTo>
                  <a:pt x="807695" y="509618"/>
                </a:lnTo>
                <a:lnTo>
                  <a:pt x="797334" y="488607"/>
                </a:lnTo>
                <a:lnTo>
                  <a:pt x="786426" y="467874"/>
                </a:lnTo>
                <a:lnTo>
                  <a:pt x="774979" y="447434"/>
                </a:lnTo>
                <a:lnTo>
                  <a:pt x="763001" y="427301"/>
                </a:lnTo>
                <a:lnTo>
                  <a:pt x="750500" y="407488"/>
                </a:lnTo>
                <a:lnTo>
                  <a:pt x="737485" y="388009"/>
                </a:lnTo>
                <a:lnTo>
                  <a:pt x="723964" y="368878"/>
                </a:lnTo>
                <a:lnTo>
                  <a:pt x="709947" y="350107"/>
                </a:lnTo>
                <a:lnTo>
                  <a:pt x="695443" y="331710"/>
                </a:lnTo>
                <a:lnTo>
                  <a:pt x="680463" y="313698"/>
                </a:lnTo>
                <a:lnTo>
                  <a:pt x="665017" y="296085"/>
                </a:lnTo>
                <a:lnTo>
                  <a:pt x="649115" y="278882"/>
                </a:lnTo>
                <a:lnTo>
                  <a:pt x="632768" y="262101"/>
                </a:lnTo>
                <a:lnTo>
                  <a:pt x="615987" y="245754"/>
                </a:lnTo>
                <a:lnTo>
                  <a:pt x="598784" y="229852"/>
                </a:lnTo>
                <a:lnTo>
                  <a:pt x="581171" y="214405"/>
                </a:lnTo>
                <a:lnTo>
                  <a:pt x="563159" y="199425"/>
                </a:lnTo>
                <a:lnTo>
                  <a:pt x="544761" y="184922"/>
                </a:lnTo>
                <a:lnTo>
                  <a:pt x="525991" y="170905"/>
                </a:lnTo>
                <a:lnTo>
                  <a:pt x="506859" y="157384"/>
                </a:lnTo>
                <a:lnTo>
                  <a:pt x="487380" y="144369"/>
                </a:lnTo>
                <a:lnTo>
                  <a:pt x="467568" y="131868"/>
                </a:lnTo>
                <a:lnTo>
                  <a:pt x="447434" y="119890"/>
                </a:lnTo>
                <a:lnTo>
                  <a:pt x="426994" y="108443"/>
                </a:lnTo>
                <a:lnTo>
                  <a:pt x="406262" y="97535"/>
                </a:lnTo>
                <a:lnTo>
                  <a:pt x="385251" y="87173"/>
                </a:lnTo>
                <a:lnTo>
                  <a:pt x="363976" y="77366"/>
                </a:lnTo>
                <a:lnTo>
                  <a:pt x="342451" y="68118"/>
                </a:lnTo>
                <a:lnTo>
                  <a:pt x="320692" y="59437"/>
                </a:lnTo>
                <a:lnTo>
                  <a:pt x="298713" y="51328"/>
                </a:lnTo>
                <a:lnTo>
                  <a:pt x="276530" y="43798"/>
                </a:lnTo>
                <a:lnTo>
                  <a:pt x="254156" y="36851"/>
                </a:lnTo>
                <a:lnTo>
                  <a:pt x="231609" y="30492"/>
                </a:lnTo>
                <a:lnTo>
                  <a:pt x="208903" y="24725"/>
                </a:lnTo>
                <a:lnTo>
                  <a:pt x="186054" y="19555"/>
                </a:lnTo>
                <a:lnTo>
                  <a:pt x="163077" y="14985"/>
                </a:lnTo>
                <a:lnTo>
                  <a:pt x="139988" y="11017"/>
                </a:lnTo>
                <a:lnTo>
                  <a:pt x="116804" y="7656"/>
                </a:lnTo>
                <a:lnTo>
                  <a:pt x="93539" y="4902"/>
                </a:lnTo>
                <a:lnTo>
                  <a:pt x="70211" y="2759"/>
                </a:lnTo>
                <a:lnTo>
                  <a:pt x="46834" y="1226"/>
                </a:lnTo>
                <a:lnTo>
                  <a:pt x="23425" y="307"/>
                </a:lnTo>
                <a:lnTo>
                  <a:pt x="0" y="0"/>
                </a:lnTo>
                <a:close/>
              </a:path>
            </a:pathLst>
          </a:cu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752271" y="2522945"/>
            <a:ext cx="822960" cy="240791"/>
          </a:xfrm>
          <a:prstGeom prst="rect">
            <a:avLst/>
          </a:prstGeom>
          <a:noFill/>
        </p:spPr>
        <p:txBody>
          <a:bodyPr wrap="square" lIns="0" rIns="0" tIns="0" bIns="0" anchor="ctr">
            <a:spAutoFit/>
          </a:bodyPr>
          <a:lstStyle/>
          <a:p>
            <a:pPr algn="ctr"/>
            <a:r>
              <a:rPr sz="1200" b="1" i="0">
                <a:solidFill>
                  <a:srgbClr val="FFFFFF"/>
                </a:solidFill>
              </a:rPr>
              <a:t>20%</a:t>
            </a:r>
          </a:p>
        </p:txBody>
      </p:sp>
      <p:sp>
        <p:nvSpPr>
          <p:cNvPr id="15" name="TextBox 14"/>
          <p:cNvSpPr txBox="1"/>
          <p:nvPr/>
        </p:nvSpPr>
        <p:spPr>
          <a:xfrm>
            <a:off x="2822387" y="4214140"/>
            <a:ext cx="2072579" cy="384111"/>
          </a:xfrm>
          <a:prstGeom prst="rect">
            <a:avLst/>
          </a:prstGeom>
          <a:noFill/>
        </p:spPr>
        <p:txBody>
          <a:bodyPr wrap="square" lIns="0" rIns="0" tIns="0" bIns="0" anchor="ctr">
            <a:spAutoFit/>
          </a:bodyPr>
          <a:lstStyle/>
          <a:p>
            <a:pPr algn="ctr">
              <a:lnSpc>
                <a:spcPct val="125000"/>
              </a:lnSpc>
            </a:pPr>
            <a:r>
              <a:rPr sz="850" b="0" i="0">
                <a:solidFill>
                  <a:srgbClr val="8A8A8A"/>
                </a:solidFill>
              </a:rPr>
              <a:t>9 coded mentions</a:t>
            </a:r>
          </a:p>
          <a:p>
            <a:pPr algn="ctr">
              <a:lnSpc>
                <a:spcPct val="125000"/>
              </a:lnSpc>
            </a:pPr>
            <a:r>
              <a:rPr sz="850" b="0" i="0">
                <a:solidFill>
                  <a:srgbClr val="8A8A8A"/>
                </a:solidFill>
              </a:rPr>
              <a:t>split from 10 detected mentions across 10 respondents</a:t>
            </a:r>
          </a:p>
        </p:txBody>
      </p:sp>
      <p:sp>
        <p:nvSpPr>
          <p:cNvPr id="16" name="TextBox 15"/>
          <p:cNvSpPr txBox="1"/>
          <p:nvPr/>
        </p:nvSpPr>
        <p:spPr>
          <a:xfrm>
            <a:off x="5059558" y="1417320"/>
            <a:ext cx="2072579" cy="217551"/>
          </a:xfrm>
          <a:prstGeom prst="rect">
            <a:avLst/>
          </a:prstGeom>
          <a:noFill/>
        </p:spPr>
        <p:txBody>
          <a:bodyPr wrap="square" lIns="0" rIns="0" tIns="0" bIns="0" anchor="ctr">
            <a:spAutoFit/>
          </a:bodyPr>
          <a:lstStyle/>
          <a:p>
            <a:pPr algn="ctr"/>
            <a:r>
              <a:rPr sz="1050" b="1" i="0">
                <a:solidFill>
                  <a:srgbClr val="333333"/>
                </a:solidFill>
              </a:rPr>
              <a:t>M5  Trust, referrals and previous positive experience</a:t>
            </a:r>
          </a:p>
        </p:txBody>
      </p:sp>
      <p:sp>
        <p:nvSpPr>
          <p:cNvPr id="17" name="Freeform 16"/>
          <p:cNvSpPr/>
          <p:nvPr/>
        </p:nvSpPr>
        <p:spPr>
          <a:xfrm>
            <a:off x="5200979" y="2168371"/>
            <a:ext cx="894868" cy="1735770"/>
          </a:xfrm>
          <a:custGeom>
            <a:avLst/>
            <a:gdLst/>
            <a:ahLst/>
            <a:cxnLst/>
            <a:rect l="l" t="t" r="r" b="b"/>
            <a:pathLst>
              <a:path w="894868" h="1735770">
                <a:moveTo>
                  <a:pt x="894868" y="894869"/>
                </a:moveTo>
                <a:lnTo>
                  <a:pt x="894868" y="0"/>
                </a:lnTo>
                <a:lnTo>
                  <a:pt x="842836" y="1514"/>
                </a:lnTo>
                <a:lnTo>
                  <a:pt x="790980" y="6051"/>
                </a:lnTo>
                <a:lnTo>
                  <a:pt x="739476" y="13595"/>
                </a:lnTo>
                <a:lnTo>
                  <a:pt x="688497" y="24121"/>
                </a:lnTo>
                <a:lnTo>
                  <a:pt x="638217" y="37594"/>
                </a:lnTo>
                <a:lnTo>
                  <a:pt x="588805" y="53967"/>
                </a:lnTo>
                <a:lnTo>
                  <a:pt x="540429" y="73186"/>
                </a:lnTo>
                <a:lnTo>
                  <a:pt x="493252" y="95185"/>
                </a:lnTo>
                <a:lnTo>
                  <a:pt x="447434" y="119890"/>
                </a:lnTo>
                <a:lnTo>
                  <a:pt x="403130" y="147217"/>
                </a:lnTo>
                <a:lnTo>
                  <a:pt x="360490" y="177074"/>
                </a:lnTo>
                <a:lnTo>
                  <a:pt x="319658" y="209360"/>
                </a:lnTo>
                <a:lnTo>
                  <a:pt x="280772" y="243965"/>
                </a:lnTo>
                <a:lnTo>
                  <a:pt x="243964" y="280773"/>
                </a:lnTo>
                <a:lnTo>
                  <a:pt x="209359" y="319658"/>
                </a:lnTo>
                <a:lnTo>
                  <a:pt x="177073" y="360490"/>
                </a:lnTo>
                <a:lnTo>
                  <a:pt x="147216" y="403130"/>
                </a:lnTo>
                <a:lnTo>
                  <a:pt x="119889" y="447434"/>
                </a:lnTo>
                <a:lnTo>
                  <a:pt x="95184" y="493252"/>
                </a:lnTo>
                <a:lnTo>
                  <a:pt x="73186" y="540429"/>
                </a:lnTo>
                <a:lnTo>
                  <a:pt x="53967" y="588805"/>
                </a:lnTo>
                <a:lnTo>
                  <a:pt x="37594" y="638217"/>
                </a:lnTo>
                <a:lnTo>
                  <a:pt x="24121" y="688498"/>
                </a:lnTo>
                <a:lnTo>
                  <a:pt x="13595" y="739476"/>
                </a:lnTo>
                <a:lnTo>
                  <a:pt x="6050" y="790981"/>
                </a:lnTo>
                <a:lnTo>
                  <a:pt x="1514" y="842837"/>
                </a:lnTo>
                <a:lnTo>
                  <a:pt x="0" y="894869"/>
                </a:lnTo>
                <a:lnTo>
                  <a:pt x="1514" y="946900"/>
                </a:lnTo>
                <a:lnTo>
                  <a:pt x="6050" y="998756"/>
                </a:lnTo>
                <a:lnTo>
                  <a:pt x="13595" y="1050261"/>
                </a:lnTo>
                <a:lnTo>
                  <a:pt x="24121" y="1101239"/>
                </a:lnTo>
                <a:lnTo>
                  <a:pt x="37594" y="1151520"/>
                </a:lnTo>
                <a:lnTo>
                  <a:pt x="53967" y="1200932"/>
                </a:lnTo>
                <a:lnTo>
                  <a:pt x="73186" y="1249308"/>
                </a:lnTo>
                <a:lnTo>
                  <a:pt x="95184" y="1296485"/>
                </a:lnTo>
                <a:lnTo>
                  <a:pt x="119889" y="1342303"/>
                </a:lnTo>
                <a:lnTo>
                  <a:pt x="147216" y="1386607"/>
                </a:lnTo>
                <a:lnTo>
                  <a:pt x="177073" y="1429247"/>
                </a:lnTo>
                <a:lnTo>
                  <a:pt x="209359" y="1470079"/>
                </a:lnTo>
                <a:lnTo>
                  <a:pt x="243964" y="1508964"/>
                </a:lnTo>
                <a:lnTo>
                  <a:pt x="280772" y="1545772"/>
                </a:lnTo>
                <a:lnTo>
                  <a:pt x="319658" y="1580377"/>
                </a:lnTo>
                <a:lnTo>
                  <a:pt x="360490" y="1612663"/>
                </a:lnTo>
                <a:lnTo>
                  <a:pt x="403130" y="1642520"/>
                </a:lnTo>
                <a:lnTo>
                  <a:pt x="447434" y="1669847"/>
                </a:lnTo>
                <a:lnTo>
                  <a:pt x="493252" y="1694552"/>
                </a:lnTo>
                <a:lnTo>
                  <a:pt x="540429" y="1716551"/>
                </a:lnTo>
                <a:lnTo>
                  <a:pt x="588805" y="1735770"/>
                </a:lnTo>
                <a:close/>
              </a:path>
            </a:pathLst>
          </a:cu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73229" y="2852716"/>
            <a:ext cx="822960" cy="240791"/>
          </a:xfrm>
          <a:prstGeom prst="rect">
            <a:avLst/>
          </a:prstGeom>
          <a:noFill/>
        </p:spPr>
        <p:txBody>
          <a:bodyPr wrap="square" lIns="0" rIns="0" tIns="0" bIns="0" anchor="ctr">
            <a:spAutoFit/>
          </a:bodyPr>
          <a:lstStyle/>
          <a:p>
            <a:pPr algn="ctr"/>
            <a:r>
              <a:rPr sz="1200" b="1" i="0">
                <a:solidFill>
                  <a:srgbClr val="FFFFFF"/>
                </a:solidFill>
              </a:rPr>
              <a:t>44%</a:t>
            </a:r>
          </a:p>
        </p:txBody>
      </p:sp>
      <p:sp>
        <p:nvSpPr>
          <p:cNvPr id="19" name="Freeform 18"/>
          <p:cNvSpPr/>
          <p:nvPr/>
        </p:nvSpPr>
        <p:spPr>
          <a:xfrm>
            <a:off x="5789784" y="2168371"/>
            <a:ext cx="1200553" cy="1789642"/>
          </a:xfrm>
          <a:custGeom>
            <a:avLst/>
            <a:gdLst/>
            <a:ahLst/>
            <a:cxnLst/>
            <a:rect l="l" t="t" r="r" b="b"/>
            <a:pathLst>
              <a:path w="1200553" h="1789642">
                <a:moveTo>
                  <a:pt x="306063" y="894869"/>
                </a:moveTo>
                <a:lnTo>
                  <a:pt x="0" y="1735770"/>
                </a:lnTo>
                <a:lnTo>
                  <a:pt x="61907" y="1755785"/>
                </a:lnTo>
                <a:lnTo>
                  <a:pt x="125105" y="1771249"/>
                </a:lnTo>
                <a:lnTo>
                  <a:pt x="189259" y="1782081"/>
                </a:lnTo>
                <a:lnTo>
                  <a:pt x="254031" y="1788223"/>
                </a:lnTo>
                <a:lnTo>
                  <a:pt x="319078" y="1789642"/>
                </a:lnTo>
                <a:lnTo>
                  <a:pt x="384056" y="1786332"/>
                </a:lnTo>
                <a:lnTo>
                  <a:pt x="448622" y="1778309"/>
                </a:lnTo>
                <a:lnTo>
                  <a:pt x="512434" y="1765616"/>
                </a:lnTo>
                <a:lnTo>
                  <a:pt x="575155" y="1748320"/>
                </a:lnTo>
                <a:lnTo>
                  <a:pt x="636454" y="1726512"/>
                </a:lnTo>
                <a:lnTo>
                  <a:pt x="696006" y="1700309"/>
                </a:lnTo>
                <a:lnTo>
                  <a:pt x="753497" y="1669847"/>
                </a:lnTo>
                <a:lnTo>
                  <a:pt x="808623" y="1635289"/>
                </a:lnTo>
                <a:lnTo>
                  <a:pt x="861092" y="1596817"/>
                </a:lnTo>
                <a:lnTo>
                  <a:pt x="910627" y="1554635"/>
                </a:lnTo>
                <a:lnTo>
                  <a:pt x="956967" y="1508964"/>
                </a:lnTo>
                <a:lnTo>
                  <a:pt x="999865" y="1460048"/>
                </a:lnTo>
                <a:lnTo>
                  <a:pt x="1039096" y="1408144"/>
                </a:lnTo>
                <a:lnTo>
                  <a:pt x="1074452" y="1353527"/>
                </a:lnTo>
                <a:lnTo>
                  <a:pt x="1105747" y="1296485"/>
                </a:lnTo>
                <a:lnTo>
                  <a:pt x="1132814" y="1237320"/>
                </a:lnTo>
                <a:lnTo>
                  <a:pt x="1155510" y="1176345"/>
                </a:lnTo>
                <a:lnTo>
                  <a:pt x="1173717" y="1113882"/>
                </a:lnTo>
                <a:lnTo>
                  <a:pt x="1187336" y="1050261"/>
                </a:lnTo>
                <a:lnTo>
                  <a:pt x="1196298" y="985819"/>
                </a:lnTo>
                <a:lnTo>
                  <a:pt x="1200553" y="920895"/>
                </a:lnTo>
                <a:lnTo>
                  <a:pt x="1200080" y="855835"/>
                </a:lnTo>
                <a:lnTo>
                  <a:pt x="1194881" y="790981"/>
                </a:lnTo>
                <a:lnTo>
                  <a:pt x="1184983" y="726676"/>
                </a:lnTo>
                <a:lnTo>
                  <a:pt x="1170440" y="663260"/>
                </a:lnTo>
                <a:lnTo>
                  <a:pt x="1151327" y="601068"/>
                </a:lnTo>
                <a:lnTo>
                  <a:pt x="1127746" y="540429"/>
                </a:lnTo>
                <a:lnTo>
                  <a:pt x="1099821" y="481664"/>
                </a:lnTo>
                <a:lnTo>
                  <a:pt x="1067701" y="425084"/>
                </a:lnTo>
                <a:lnTo>
                  <a:pt x="1031554" y="370986"/>
                </a:lnTo>
                <a:lnTo>
                  <a:pt x="991572" y="319658"/>
                </a:lnTo>
                <a:lnTo>
                  <a:pt x="947967" y="271371"/>
                </a:lnTo>
                <a:lnTo>
                  <a:pt x="900968" y="226379"/>
                </a:lnTo>
                <a:lnTo>
                  <a:pt x="850824" y="184922"/>
                </a:lnTo>
                <a:lnTo>
                  <a:pt x="797801" y="147217"/>
                </a:lnTo>
                <a:lnTo>
                  <a:pt x="742179" y="113464"/>
                </a:lnTo>
                <a:lnTo>
                  <a:pt x="684251" y="83842"/>
                </a:lnTo>
                <a:lnTo>
                  <a:pt x="624324" y="58508"/>
                </a:lnTo>
                <a:lnTo>
                  <a:pt x="562714" y="37594"/>
                </a:lnTo>
                <a:lnTo>
                  <a:pt x="499748" y="21212"/>
                </a:lnTo>
                <a:lnTo>
                  <a:pt x="435758" y="9448"/>
                </a:lnTo>
                <a:lnTo>
                  <a:pt x="371082" y="2365"/>
                </a:lnTo>
                <a:lnTo>
                  <a:pt x="306063" y="0"/>
                </a:lnTo>
                <a:close/>
              </a:path>
            </a:pathLst>
          </a:cu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95506" y="3032971"/>
            <a:ext cx="822960" cy="240791"/>
          </a:xfrm>
          <a:prstGeom prst="rect">
            <a:avLst/>
          </a:prstGeom>
          <a:noFill/>
        </p:spPr>
        <p:txBody>
          <a:bodyPr wrap="square" lIns="0" rIns="0" tIns="0" bIns="0" anchor="ctr">
            <a:spAutoFit/>
          </a:bodyPr>
          <a:lstStyle/>
          <a:p>
            <a:pPr algn="ctr"/>
            <a:r>
              <a:rPr sz="1200" b="1" i="0">
                <a:solidFill>
                  <a:srgbClr val="FFFFFF"/>
                </a:solidFill>
              </a:rPr>
              <a:t>56%</a:t>
            </a:r>
          </a:p>
        </p:txBody>
      </p:sp>
      <p:sp>
        <p:nvSpPr>
          <p:cNvPr id="21" name="TextBox 20"/>
          <p:cNvSpPr txBox="1"/>
          <p:nvPr/>
        </p:nvSpPr>
        <p:spPr>
          <a:xfrm>
            <a:off x="5059558" y="4214140"/>
            <a:ext cx="2072579" cy="384111"/>
          </a:xfrm>
          <a:prstGeom prst="rect">
            <a:avLst/>
          </a:prstGeom>
          <a:noFill/>
        </p:spPr>
        <p:txBody>
          <a:bodyPr wrap="square" lIns="0" rIns="0" tIns="0" bIns="0" anchor="ctr">
            <a:spAutoFit/>
          </a:bodyPr>
          <a:lstStyle/>
          <a:p>
            <a:pPr algn="ctr">
              <a:lnSpc>
                <a:spcPct val="125000"/>
              </a:lnSpc>
            </a:pPr>
            <a:r>
              <a:rPr sz="850" b="0" i="0">
                <a:solidFill>
                  <a:srgbClr val="8A8A8A"/>
                </a:solidFill>
              </a:rPr>
              <a:t>7 coded mentions</a:t>
            </a:r>
          </a:p>
          <a:p>
            <a:pPr algn="ctr">
              <a:lnSpc>
                <a:spcPct val="125000"/>
              </a:lnSpc>
            </a:pPr>
            <a:r>
              <a:rPr sz="850" b="0" i="0">
                <a:solidFill>
                  <a:srgbClr val="8A8A8A"/>
                </a:solidFill>
              </a:rPr>
              <a:t>split from 9 detected mentions across 9 respondents</a:t>
            </a:r>
          </a:p>
        </p:txBody>
      </p:sp>
      <p:sp>
        <p:nvSpPr>
          <p:cNvPr id="22" name="TextBox 21"/>
          <p:cNvSpPr txBox="1"/>
          <p:nvPr/>
        </p:nvSpPr>
        <p:spPr>
          <a:xfrm>
            <a:off x="7296729" y="1417320"/>
            <a:ext cx="2072579" cy="217551"/>
          </a:xfrm>
          <a:prstGeom prst="rect">
            <a:avLst/>
          </a:prstGeom>
          <a:noFill/>
        </p:spPr>
        <p:txBody>
          <a:bodyPr wrap="square" lIns="0" rIns="0" tIns="0" bIns="0" anchor="ctr">
            <a:spAutoFit/>
          </a:bodyPr>
          <a:lstStyle/>
          <a:p>
            <a:pPr algn="ctr"/>
            <a:r>
              <a:rPr sz="1050" b="1" i="0">
                <a:solidFill>
                  <a:srgbClr val="333333"/>
                </a:solidFill>
              </a:rPr>
              <a:t>M1  Hands-on, experiential learning that engages</a:t>
            </a:r>
          </a:p>
        </p:txBody>
      </p:sp>
      <p:sp>
        <p:nvSpPr>
          <p:cNvPr id="23" name="Freeform 22"/>
          <p:cNvSpPr/>
          <p:nvPr/>
        </p:nvSpPr>
        <p:spPr>
          <a:xfrm>
            <a:off x="7438150" y="2168371"/>
            <a:ext cx="1789737" cy="1789737"/>
          </a:xfrm>
          <a:custGeom>
            <a:avLst/>
            <a:gdLst/>
            <a:ahLst/>
            <a:cxnLst/>
            <a:rect l="l" t="t" r="r" b="b"/>
            <a:pathLst>
              <a:path w="1789737" h="1789737">
                <a:moveTo>
                  <a:pt x="894868" y="894869"/>
                </a:moveTo>
                <a:lnTo>
                  <a:pt x="894868" y="0"/>
                </a:lnTo>
                <a:lnTo>
                  <a:pt x="807156" y="4309"/>
                </a:lnTo>
                <a:lnTo>
                  <a:pt x="720288" y="17195"/>
                </a:lnTo>
                <a:lnTo>
                  <a:pt x="635102" y="38533"/>
                </a:lnTo>
                <a:lnTo>
                  <a:pt x="552417" y="68118"/>
                </a:lnTo>
                <a:lnTo>
                  <a:pt x="473030" y="105665"/>
                </a:lnTo>
                <a:lnTo>
                  <a:pt x="397706" y="150813"/>
                </a:lnTo>
                <a:lnTo>
                  <a:pt x="327170" y="203126"/>
                </a:lnTo>
                <a:lnTo>
                  <a:pt x="262101" y="262101"/>
                </a:lnTo>
                <a:lnTo>
                  <a:pt x="203126" y="327170"/>
                </a:lnTo>
                <a:lnTo>
                  <a:pt x="150812" y="397706"/>
                </a:lnTo>
                <a:lnTo>
                  <a:pt x="105665" y="473030"/>
                </a:lnTo>
                <a:lnTo>
                  <a:pt x="68118" y="552417"/>
                </a:lnTo>
                <a:lnTo>
                  <a:pt x="38532" y="635102"/>
                </a:lnTo>
                <a:lnTo>
                  <a:pt x="17194" y="720288"/>
                </a:lnTo>
                <a:lnTo>
                  <a:pt x="4309" y="807156"/>
                </a:lnTo>
                <a:lnTo>
                  <a:pt x="0" y="894869"/>
                </a:lnTo>
                <a:lnTo>
                  <a:pt x="4309" y="982581"/>
                </a:lnTo>
                <a:lnTo>
                  <a:pt x="17194" y="1069449"/>
                </a:lnTo>
                <a:lnTo>
                  <a:pt x="38532" y="1154635"/>
                </a:lnTo>
                <a:lnTo>
                  <a:pt x="68118" y="1237320"/>
                </a:lnTo>
                <a:lnTo>
                  <a:pt x="105665" y="1316707"/>
                </a:lnTo>
                <a:lnTo>
                  <a:pt x="150812" y="1392031"/>
                </a:lnTo>
                <a:lnTo>
                  <a:pt x="203126" y="1462567"/>
                </a:lnTo>
                <a:lnTo>
                  <a:pt x="262101" y="1527636"/>
                </a:lnTo>
                <a:lnTo>
                  <a:pt x="327170" y="1586611"/>
                </a:lnTo>
                <a:lnTo>
                  <a:pt x="397706" y="1638924"/>
                </a:lnTo>
                <a:lnTo>
                  <a:pt x="473030" y="1684072"/>
                </a:lnTo>
                <a:lnTo>
                  <a:pt x="552417" y="1721619"/>
                </a:lnTo>
                <a:lnTo>
                  <a:pt x="635102" y="1751204"/>
                </a:lnTo>
                <a:lnTo>
                  <a:pt x="720288" y="1772542"/>
                </a:lnTo>
                <a:lnTo>
                  <a:pt x="807156" y="1785428"/>
                </a:lnTo>
                <a:lnTo>
                  <a:pt x="894868" y="1789737"/>
                </a:lnTo>
                <a:lnTo>
                  <a:pt x="982581" y="1785428"/>
                </a:lnTo>
                <a:lnTo>
                  <a:pt x="1069448" y="1772542"/>
                </a:lnTo>
                <a:lnTo>
                  <a:pt x="1154635" y="1751204"/>
                </a:lnTo>
                <a:lnTo>
                  <a:pt x="1237319" y="1721619"/>
                </a:lnTo>
                <a:lnTo>
                  <a:pt x="1316706" y="1684072"/>
                </a:lnTo>
                <a:lnTo>
                  <a:pt x="1392030" y="1638924"/>
                </a:lnTo>
                <a:lnTo>
                  <a:pt x="1462567" y="1586611"/>
                </a:lnTo>
                <a:lnTo>
                  <a:pt x="1527636" y="1527636"/>
                </a:lnTo>
                <a:lnTo>
                  <a:pt x="1586611" y="1462567"/>
                </a:lnTo>
                <a:lnTo>
                  <a:pt x="1638924" y="1392031"/>
                </a:lnTo>
                <a:lnTo>
                  <a:pt x="1684072" y="1316707"/>
                </a:lnTo>
                <a:lnTo>
                  <a:pt x="1721619" y="1237320"/>
                </a:lnTo>
                <a:lnTo>
                  <a:pt x="1751204" y="1154635"/>
                </a:lnTo>
                <a:lnTo>
                  <a:pt x="1772542" y="1069449"/>
                </a:lnTo>
                <a:lnTo>
                  <a:pt x="1785428" y="982581"/>
                </a:lnTo>
                <a:lnTo>
                  <a:pt x="1789737" y="894869"/>
                </a:lnTo>
                <a:close/>
              </a:path>
            </a:pathLst>
          </a:cu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554533" y="3309849"/>
            <a:ext cx="822960" cy="240791"/>
          </a:xfrm>
          <a:prstGeom prst="rect">
            <a:avLst/>
          </a:prstGeom>
          <a:noFill/>
        </p:spPr>
        <p:txBody>
          <a:bodyPr wrap="square" lIns="0" rIns="0" tIns="0" bIns="0" anchor="ctr">
            <a:spAutoFit/>
          </a:bodyPr>
          <a:lstStyle/>
          <a:p>
            <a:pPr algn="ctr"/>
            <a:r>
              <a:rPr sz="1200" b="1" i="0">
                <a:solidFill>
                  <a:srgbClr val="FFFFFF"/>
                </a:solidFill>
              </a:rPr>
              <a:t>75%</a:t>
            </a:r>
          </a:p>
        </p:txBody>
      </p:sp>
      <p:sp>
        <p:nvSpPr>
          <p:cNvPr id="25" name="Freeform 24"/>
          <p:cNvSpPr/>
          <p:nvPr/>
        </p:nvSpPr>
        <p:spPr>
          <a:xfrm>
            <a:off x="8333018" y="2168371"/>
            <a:ext cx="894869" cy="894869"/>
          </a:xfrm>
          <a:custGeom>
            <a:avLst/>
            <a:gdLst/>
            <a:ahLst/>
            <a:cxnLst/>
            <a:rect l="l" t="t" r="r" b="b"/>
            <a:pathLst>
              <a:path w="894869" h="894869">
                <a:moveTo>
                  <a:pt x="0" y="894869"/>
                </a:moveTo>
                <a:lnTo>
                  <a:pt x="894869" y="894869"/>
                </a:lnTo>
                <a:lnTo>
                  <a:pt x="894389" y="865589"/>
                </a:lnTo>
                <a:lnTo>
                  <a:pt x="892953" y="836341"/>
                </a:lnTo>
                <a:lnTo>
                  <a:pt x="890560" y="807156"/>
                </a:lnTo>
                <a:lnTo>
                  <a:pt x="887213" y="778065"/>
                </a:lnTo>
                <a:lnTo>
                  <a:pt x="882916" y="749098"/>
                </a:lnTo>
                <a:lnTo>
                  <a:pt x="877674" y="720288"/>
                </a:lnTo>
                <a:lnTo>
                  <a:pt x="871492" y="691665"/>
                </a:lnTo>
                <a:lnTo>
                  <a:pt x="864377" y="663260"/>
                </a:lnTo>
                <a:lnTo>
                  <a:pt x="856336" y="635102"/>
                </a:lnTo>
                <a:lnTo>
                  <a:pt x="847378" y="607222"/>
                </a:lnTo>
                <a:lnTo>
                  <a:pt x="837513" y="579651"/>
                </a:lnTo>
                <a:lnTo>
                  <a:pt x="826751" y="552417"/>
                </a:lnTo>
                <a:lnTo>
                  <a:pt x="815103" y="525550"/>
                </a:lnTo>
                <a:lnTo>
                  <a:pt x="802583" y="499078"/>
                </a:lnTo>
                <a:lnTo>
                  <a:pt x="789204" y="473030"/>
                </a:lnTo>
                <a:lnTo>
                  <a:pt x="774979" y="447434"/>
                </a:lnTo>
                <a:lnTo>
                  <a:pt x="759924" y="422317"/>
                </a:lnTo>
                <a:lnTo>
                  <a:pt x="744056" y="397706"/>
                </a:lnTo>
                <a:lnTo>
                  <a:pt x="727391" y="373628"/>
                </a:lnTo>
                <a:lnTo>
                  <a:pt x="709947" y="350107"/>
                </a:lnTo>
                <a:lnTo>
                  <a:pt x="691743" y="327170"/>
                </a:lnTo>
                <a:lnTo>
                  <a:pt x="672798" y="304841"/>
                </a:lnTo>
                <a:lnTo>
                  <a:pt x="653132" y="283143"/>
                </a:lnTo>
                <a:lnTo>
                  <a:pt x="632768" y="262101"/>
                </a:lnTo>
                <a:lnTo>
                  <a:pt x="611725" y="241736"/>
                </a:lnTo>
                <a:lnTo>
                  <a:pt x="590028" y="222071"/>
                </a:lnTo>
                <a:lnTo>
                  <a:pt x="567699" y="203126"/>
                </a:lnTo>
                <a:lnTo>
                  <a:pt x="544762" y="184922"/>
                </a:lnTo>
                <a:lnTo>
                  <a:pt x="521241" y="167478"/>
                </a:lnTo>
                <a:lnTo>
                  <a:pt x="497162" y="150813"/>
                </a:lnTo>
                <a:lnTo>
                  <a:pt x="472551" y="134944"/>
                </a:lnTo>
                <a:lnTo>
                  <a:pt x="447434" y="119890"/>
                </a:lnTo>
                <a:lnTo>
                  <a:pt x="421838" y="105665"/>
                </a:lnTo>
                <a:lnTo>
                  <a:pt x="395790" y="92285"/>
                </a:lnTo>
                <a:lnTo>
                  <a:pt x="369319" y="79765"/>
                </a:lnTo>
                <a:lnTo>
                  <a:pt x="342451" y="68118"/>
                </a:lnTo>
                <a:lnTo>
                  <a:pt x="315218" y="57356"/>
                </a:lnTo>
                <a:lnTo>
                  <a:pt x="287646" y="47491"/>
                </a:lnTo>
                <a:lnTo>
                  <a:pt x="259767" y="38533"/>
                </a:lnTo>
                <a:lnTo>
                  <a:pt x="231609" y="30492"/>
                </a:lnTo>
                <a:lnTo>
                  <a:pt x="203204" y="23377"/>
                </a:lnTo>
                <a:lnTo>
                  <a:pt x="174580" y="17195"/>
                </a:lnTo>
                <a:lnTo>
                  <a:pt x="145770" y="11953"/>
                </a:lnTo>
                <a:lnTo>
                  <a:pt x="116804" y="7656"/>
                </a:lnTo>
                <a:lnTo>
                  <a:pt x="87713" y="4309"/>
                </a:lnTo>
                <a:lnTo>
                  <a:pt x="58527" y="1916"/>
                </a:lnTo>
                <a:lnTo>
                  <a:pt x="29279" y="479"/>
                </a:lnTo>
                <a:lnTo>
                  <a:pt x="0" y="0"/>
                </a:lnTo>
                <a:close/>
              </a:path>
            </a:pathLst>
          </a:cu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88543" y="2575838"/>
            <a:ext cx="822960" cy="240791"/>
          </a:xfrm>
          <a:prstGeom prst="rect">
            <a:avLst/>
          </a:prstGeom>
          <a:noFill/>
        </p:spPr>
        <p:txBody>
          <a:bodyPr wrap="square" lIns="0" rIns="0" tIns="0" bIns="0" anchor="ctr">
            <a:spAutoFit/>
          </a:bodyPr>
          <a:lstStyle/>
          <a:p>
            <a:pPr algn="ctr"/>
            <a:r>
              <a:rPr sz="1200" b="1" i="0">
                <a:solidFill>
                  <a:srgbClr val="FFFFFF"/>
                </a:solidFill>
              </a:rPr>
              <a:t>25%</a:t>
            </a:r>
          </a:p>
        </p:txBody>
      </p:sp>
      <p:sp>
        <p:nvSpPr>
          <p:cNvPr id="27" name="TextBox 26"/>
          <p:cNvSpPr txBox="1"/>
          <p:nvPr/>
        </p:nvSpPr>
        <p:spPr>
          <a:xfrm>
            <a:off x="7296729" y="4214140"/>
            <a:ext cx="2072579" cy="384111"/>
          </a:xfrm>
          <a:prstGeom prst="rect">
            <a:avLst/>
          </a:prstGeom>
          <a:noFill/>
        </p:spPr>
        <p:txBody>
          <a:bodyPr wrap="square" lIns="0" rIns="0" tIns="0" bIns="0" anchor="ctr">
            <a:spAutoFit/>
          </a:bodyPr>
          <a:lstStyle/>
          <a:p>
            <a:pPr algn="ctr">
              <a:lnSpc>
                <a:spcPct val="125000"/>
              </a:lnSpc>
            </a:pPr>
            <a:r>
              <a:rPr sz="850" b="0" i="0">
                <a:solidFill>
                  <a:srgbClr val="8A8A8A"/>
                </a:solidFill>
              </a:rPr>
              <a:t>14 coded mentions</a:t>
            </a:r>
          </a:p>
          <a:p>
            <a:pPr algn="ctr">
              <a:lnSpc>
                <a:spcPct val="125000"/>
              </a:lnSpc>
            </a:pPr>
            <a:r>
              <a:rPr sz="850" b="0" i="0">
                <a:solidFill>
                  <a:srgbClr val="8A8A8A"/>
                </a:solidFill>
              </a:rPr>
              <a:t>split from 32 detected mentions across 19 respondents</a:t>
            </a:r>
          </a:p>
        </p:txBody>
      </p:sp>
      <p:sp>
        <p:nvSpPr>
          <p:cNvPr id="28" name="TextBox 27"/>
          <p:cNvSpPr txBox="1"/>
          <p:nvPr/>
        </p:nvSpPr>
        <p:spPr>
          <a:xfrm>
            <a:off x="9533900" y="1417320"/>
            <a:ext cx="2072579" cy="217551"/>
          </a:xfrm>
          <a:prstGeom prst="rect">
            <a:avLst/>
          </a:prstGeom>
          <a:noFill/>
        </p:spPr>
        <p:txBody>
          <a:bodyPr wrap="square" lIns="0" rIns="0" tIns="0" bIns="0" anchor="ctr">
            <a:spAutoFit/>
          </a:bodyPr>
          <a:lstStyle/>
          <a:p>
            <a:pPr algn="ctr"/>
            <a:r>
              <a:rPr sz="1050" b="1" i="0">
                <a:solidFill>
                  <a:srgbClr val="333333"/>
                </a:solidFill>
              </a:rPr>
              <a:t>M2  Real-world expertise from volunteers and industry</a:t>
            </a:r>
          </a:p>
        </p:txBody>
      </p:sp>
      <p:sp>
        <p:nvSpPr>
          <p:cNvPr id="29" name="Freeform 28"/>
          <p:cNvSpPr/>
          <p:nvPr/>
        </p:nvSpPr>
        <p:spPr>
          <a:xfrm>
            <a:off x="9675547" y="2168371"/>
            <a:ext cx="1586385" cy="1789061"/>
          </a:xfrm>
          <a:custGeom>
            <a:avLst/>
            <a:gdLst/>
            <a:ahLst/>
            <a:cxnLst/>
            <a:rect l="l" t="t" r="r" b="b"/>
            <a:pathLst>
              <a:path w="1586385" h="1789061">
                <a:moveTo>
                  <a:pt x="894642" y="894869"/>
                </a:moveTo>
                <a:lnTo>
                  <a:pt x="894642" y="0"/>
                </a:lnTo>
                <a:lnTo>
                  <a:pt x="819689" y="3145"/>
                </a:lnTo>
                <a:lnTo>
                  <a:pt x="745262" y="12556"/>
                </a:lnTo>
                <a:lnTo>
                  <a:pt x="671885" y="28169"/>
                </a:lnTo>
                <a:lnTo>
                  <a:pt x="600073" y="49872"/>
                </a:lnTo>
                <a:lnTo>
                  <a:pt x="530332" y="77514"/>
                </a:lnTo>
                <a:lnTo>
                  <a:pt x="463151" y="110901"/>
                </a:lnTo>
                <a:lnTo>
                  <a:pt x="399003" y="149797"/>
                </a:lnTo>
                <a:lnTo>
                  <a:pt x="338338" y="193930"/>
                </a:lnTo>
                <a:lnTo>
                  <a:pt x="281582" y="242989"/>
                </a:lnTo>
                <a:lnTo>
                  <a:pt x="229136" y="296629"/>
                </a:lnTo>
                <a:lnTo>
                  <a:pt x="181366" y="354474"/>
                </a:lnTo>
                <a:lnTo>
                  <a:pt x="138609" y="416116"/>
                </a:lnTo>
                <a:lnTo>
                  <a:pt x="101166" y="481123"/>
                </a:lnTo>
                <a:lnTo>
                  <a:pt x="69299" y="549038"/>
                </a:lnTo>
                <a:lnTo>
                  <a:pt x="43233" y="619384"/>
                </a:lnTo>
                <a:lnTo>
                  <a:pt x="23150" y="691665"/>
                </a:lnTo>
                <a:lnTo>
                  <a:pt x="9193" y="765375"/>
                </a:lnTo>
                <a:lnTo>
                  <a:pt x="1458" y="839995"/>
                </a:lnTo>
                <a:lnTo>
                  <a:pt x="0" y="915000"/>
                </a:lnTo>
                <a:lnTo>
                  <a:pt x="4830" y="989864"/>
                </a:lnTo>
                <a:lnTo>
                  <a:pt x="15914" y="1064060"/>
                </a:lnTo>
                <a:lnTo>
                  <a:pt x="33173" y="1137067"/>
                </a:lnTo>
                <a:lnTo>
                  <a:pt x="56487" y="1208372"/>
                </a:lnTo>
                <a:lnTo>
                  <a:pt x="85691" y="1277474"/>
                </a:lnTo>
                <a:lnTo>
                  <a:pt x="120580" y="1343887"/>
                </a:lnTo>
                <a:lnTo>
                  <a:pt x="160910" y="1407144"/>
                </a:lnTo>
                <a:lnTo>
                  <a:pt x="206396" y="1466801"/>
                </a:lnTo>
                <a:lnTo>
                  <a:pt x="256719" y="1522438"/>
                </a:lnTo>
                <a:lnTo>
                  <a:pt x="311526" y="1573665"/>
                </a:lnTo>
                <a:lnTo>
                  <a:pt x="370430" y="1620121"/>
                </a:lnTo>
                <a:lnTo>
                  <a:pt x="433019" y="1661480"/>
                </a:lnTo>
                <a:lnTo>
                  <a:pt x="498852" y="1697452"/>
                </a:lnTo>
                <a:lnTo>
                  <a:pt x="567467" y="1727782"/>
                </a:lnTo>
                <a:lnTo>
                  <a:pt x="638381" y="1752260"/>
                </a:lnTo>
                <a:lnTo>
                  <a:pt x="711096" y="1770711"/>
                </a:lnTo>
                <a:lnTo>
                  <a:pt x="785101" y="1783007"/>
                </a:lnTo>
                <a:lnTo>
                  <a:pt x="859876" y="1789061"/>
                </a:lnTo>
                <a:lnTo>
                  <a:pt x="934895" y="1788831"/>
                </a:lnTo>
                <a:lnTo>
                  <a:pt x="1009631" y="1782318"/>
                </a:lnTo>
                <a:lnTo>
                  <a:pt x="1083559" y="1769568"/>
                </a:lnTo>
                <a:lnTo>
                  <a:pt x="1156160" y="1750671"/>
                </a:lnTo>
                <a:lnTo>
                  <a:pt x="1226922" y="1725759"/>
                </a:lnTo>
                <a:lnTo>
                  <a:pt x="1295349" y="1695008"/>
                </a:lnTo>
                <a:lnTo>
                  <a:pt x="1360961" y="1658633"/>
                </a:lnTo>
                <a:lnTo>
                  <a:pt x="1423294" y="1616891"/>
                </a:lnTo>
                <a:lnTo>
                  <a:pt x="1481913" y="1570074"/>
                </a:lnTo>
                <a:lnTo>
                  <a:pt x="1536404" y="1518512"/>
                </a:lnTo>
                <a:lnTo>
                  <a:pt x="1586385" y="1462567"/>
                </a:lnTo>
                <a:close/>
              </a:path>
            </a:pathLst>
          </a:cu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689517" y="3164755"/>
            <a:ext cx="822960" cy="240791"/>
          </a:xfrm>
          <a:prstGeom prst="rect">
            <a:avLst/>
          </a:prstGeom>
          <a:noFill/>
        </p:spPr>
        <p:txBody>
          <a:bodyPr wrap="square" lIns="0" rIns="0" tIns="0" bIns="0" anchor="ctr">
            <a:spAutoFit/>
          </a:bodyPr>
          <a:lstStyle/>
          <a:p>
            <a:pPr algn="ctr"/>
            <a:r>
              <a:rPr sz="1200" b="1" i="0">
                <a:solidFill>
                  <a:srgbClr val="FFFFFF"/>
                </a:solidFill>
              </a:rPr>
              <a:t>64%</a:t>
            </a:r>
          </a:p>
        </p:txBody>
      </p:sp>
      <p:sp>
        <p:nvSpPr>
          <p:cNvPr id="31" name="Freeform 30"/>
          <p:cNvSpPr/>
          <p:nvPr/>
        </p:nvSpPr>
        <p:spPr>
          <a:xfrm>
            <a:off x="10570189" y="2168371"/>
            <a:ext cx="894717" cy="1462567"/>
          </a:xfrm>
          <a:custGeom>
            <a:avLst/>
            <a:gdLst/>
            <a:ahLst/>
            <a:cxnLst/>
            <a:rect l="l" t="t" r="r" b="b"/>
            <a:pathLst>
              <a:path w="894717" h="1462567">
                <a:moveTo>
                  <a:pt x="0" y="894869"/>
                </a:moveTo>
                <a:lnTo>
                  <a:pt x="691743" y="1462567"/>
                </a:lnTo>
                <a:lnTo>
                  <a:pt x="717673" y="1429410"/>
                </a:lnTo>
                <a:lnTo>
                  <a:pt x="742016" y="1395070"/>
                </a:lnTo>
                <a:lnTo>
                  <a:pt x="764717" y="1359624"/>
                </a:lnTo>
                <a:lnTo>
                  <a:pt x="785726" y="1323149"/>
                </a:lnTo>
                <a:lnTo>
                  <a:pt x="804997" y="1285727"/>
                </a:lnTo>
                <a:lnTo>
                  <a:pt x="822486" y="1247440"/>
                </a:lnTo>
                <a:lnTo>
                  <a:pt x="838156" y="1208372"/>
                </a:lnTo>
                <a:lnTo>
                  <a:pt x="851971" y="1168611"/>
                </a:lnTo>
                <a:lnTo>
                  <a:pt x="863901" y="1128245"/>
                </a:lnTo>
                <a:lnTo>
                  <a:pt x="873920" y="1087362"/>
                </a:lnTo>
                <a:lnTo>
                  <a:pt x="882005" y="1046053"/>
                </a:lnTo>
                <a:lnTo>
                  <a:pt x="888139" y="1004410"/>
                </a:lnTo>
                <a:lnTo>
                  <a:pt x="892307" y="962524"/>
                </a:lnTo>
                <a:lnTo>
                  <a:pt x="894502" y="920489"/>
                </a:lnTo>
                <a:lnTo>
                  <a:pt x="894717" y="878397"/>
                </a:lnTo>
                <a:lnTo>
                  <a:pt x="892953" y="836341"/>
                </a:lnTo>
                <a:lnTo>
                  <a:pt x="889213" y="794415"/>
                </a:lnTo>
                <a:lnTo>
                  <a:pt x="883505" y="752711"/>
                </a:lnTo>
                <a:lnTo>
                  <a:pt x="875843" y="711322"/>
                </a:lnTo>
                <a:lnTo>
                  <a:pt x="866243" y="670339"/>
                </a:lnTo>
                <a:lnTo>
                  <a:pt x="854726" y="629852"/>
                </a:lnTo>
                <a:lnTo>
                  <a:pt x="841318" y="589952"/>
                </a:lnTo>
                <a:lnTo>
                  <a:pt x="826049" y="550727"/>
                </a:lnTo>
                <a:lnTo>
                  <a:pt x="808952" y="512263"/>
                </a:lnTo>
                <a:lnTo>
                  <a:pt x="790065" y="474645"/>
                </a:lnTo>
                <a:lnTo>
                  <a:pt x="769430" y="437958"/>
                </a:lnTo>
                <a:lnTo>
                  <a:pt x="747093" y="402281"/>
                </a:lnTo>
                <a:lnTo>
                  <a:pt x="723102" y="367694"/>
                </a:lnTo>
                <a:lnTo>
                  <a:pt x="697512" y="334274"/>
                </a:lnTo>
                <a:lnTo>
                  <a:pt x="670379" y="302094"/>
                </a:lnTo>
                <a:lnTo>
                  <a:pt x="641762" y="271225"/>
                </a:lnTo>
                <a:lnTo>
                  <a:pt x="611725" y="241736"/>
                </a:lnTo>
                <a:lnTo>
                  <a:pt x="580335" y="213693"/>
                </a:lnTo>
                <a:lnTo>
                  <a:pt x="547661" y="187156"/>
                </a:lnTo>
                <a:lnTo>
                  <a:pt x="513775" y="162185"/>
                </a:lnTo>
                <a:lnTo>
                  <a:pt x="478753" y="138836"/>
                </a:lnTo>
                <a:lnTo>
                  <a:pt x="442671" y="117159"/>
                </a:lnTo>
                <a:lnTo>
                  <a:pt x="405609" y="97203"/>
                </a:lnTo>
                <a:lnTo>
                  <a:pt x="367651" y="79012"/>
                </a:lnTo>
                <a:lnTo>
                  <a:pt x="328879" y="62625"/>
                </a:lnTo>
                <a:lnTo>
                  <a:pt x="289379" y="48081"/>
                </a:lnTo>
                <a:lnTo>
                  <a:pt x="249239" y="35410"/>
                </a:lnTo>
                <a:lnTo>
                  <a:pt x="208547" y="24640"/>
                </a:lnTo>
                <a:lnTo>
                  <a:pt x="167394" y="15796"/>
                </a:lnTo>
                <a:lnTo>
                  <a:pt x="125871" y="8897"/>
                </a:lnTo>
                <a:lnTo>
                  <a:pt x="84069" y="3958"/>
                </a:lnTo>
                <a:lnTo>
                  <a:pt x="42081" y="990"/>
                </a:lnTo>
                <a:lnTo>
                  <a:pt x="0" y="0"/>
                </a:lnTo>
                <a:close/>
              </a:path>
            </a:pathLst>
          </a:cu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627901" y="2720932"/>
            <a:ext cx="822960" cy="240791"/>
          </a:xfrm>
          <a:prstGeom prst="rect">
            <a:avLst/>
          </a:prstGeom>
          <a:noFill/>
        </p:spPr>
        <p:txBody>
          <a:bodyPr wrap="square" lIns="0" rIns="0" tIns="0" bIns="0" anchor="ctr">
            <a:spAutoFit/>
          </a:bodyPr>
          <a:lstStyle/>
          <a:p>
            <a:pPr algn="ctr"/>
            <a:r>
              <a:rPr sz="1200" b="1" i="0">
                <a:solidFill>
                  <a:srgbClr val="FFFFFF"/>
                </a:solidFill>
              </a:rPr>
              <a:t>36%</a:t>
            </a:r>
          </a:p>
        </p:txBody>
      </p:sp>
      <p:sp>
        <p:nvSpPr>
          <p:cNvPr id="33" name="TextBox 32"/>
          <p:cNvSpPr txBox="1"/>
          <p:nvPr/>
        </p:nvSpPr>
        <p:spPr>
          <a:xfrm>
            <a:off x="9533900" y="4214140"/>
            <a:ext cx="2072579" cy="384111"/>
          </a:xfrm>
          <a:prstGeom prst="rect">
            <a:avLst/>
          </a:prstGeom>
          <a:noFill/>
        </p:spPr>
        <p:txBody>
          <a:bodyPr wrap="square" lIns="0" rIns="0" tIns="0" bIns="0" anchor="ctr">
            <a:spAutoFit/>
          </a:bodyPr>
          <a:lstStyle/>
          <a:p>
            <a:pPr algn="ctr">
              <a:lnSpc>
                <a:spcPct val="125000"/>
              </a:lnSpc>
            </a:pPr>
            <a:r>
              <a:rPr sz="850" b="0" i="0">
                <a:solidFill>
                  <a:srgbClr val="8A8A8A"/>
                </a:solidFill>
              </a:rPr>
              <a:t>12 coded mentions</a:t>
            </a:r>
          </a:p>
          <a:p>
            <a:pPr algn="ctr">
              <a:lnSpc>
                <a:spcPct val="125000"/>
              </a:lnSpc>
            </a:pPr>
            <a:r>
              <a:rPr sz="850" b="0" i="0">
                <a:solidFill>
                  <a:srgbClr val="8A8A8A"/>
                </a:solidFill>
              </a:rPr>
              <a:t>split from 64 detected mentions across 25 respondents</a:t>
            </a:r>
          </a:p>
        </p:txBody>
      </p:sp>
      <p:sp>
        <p:nvSpPr>
          <p:cNvPr id="34" name="Rectangle 33"/>
          <p:cNvSpPr/>
          <p:nvPr/>
        </p:nvSpPr>
        <p:spPr>
          <a:xfrm>
            <a:off x="502920" y="5934456"/>
            <a:ext cx="11185855" cy="18288"/>
          </a:xfrm>
          <a:prstGeom prst="rect">
            <a:avLst/>
          </a:prstGeom>
          <a:solidFill>
            <a:srgbClr val="2F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502920" y="6190488"/>
            <a:ext cx="182880" cy="182880"/>
          </a:xfrm>
          <a:prstGeom prst="ellipse">
            <a:avLst/>
          </a:pr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6177026"/>
            <a:ext cx="2468880" cy="209804"/>
          </a:xfrm>
          <a:prstGeom prst="rect">
            <a:avLst/>
          </a:prstGeom>
          <a:noFill/>
        </p:spPr>
        <p:txBody>
          <a:bodyPr wrap="square" lIns="0" rIns="0" tIns="0" bIns="0" anchor="ctr">
            <a:spAutoFit/>
          </a:bodyPr>
          <a:lstStyle/>
          <a:p>
            <a:pPr algn="l"/>
            <a:r>
              <a:rPr sz="1000" b="0" i="0">
                <a:solidFill>
                  <a:srgbClr val="333333"/>
                </a:solidFill>
              </a:rPr>
              <a:t>Established Supporters</a:t>
            </a:r>
          </a:p>
        </p:txBody>
      </p:sp>
      <p:sp>
        <p:nvSpPr>
          <p:cNvPr id="37" name="Oval 36"/>
          <p:cNvSpPr/>
          <p:nvPr/>
        </p:nvSpPr>
        <p:spPr>
          <a:xfrm>
            <a:off x="3429000" y="6190488"/>
            <a:ext cx="182880" cy="182880"/>
          </a:xfrm>
          <a:prstGeom prst="ellipse">
            <a:avLst/>
          </a:pr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703320" y="6177026"/>
            <a:ext cx="2468880" cy="209804"/>
          </a:xfrm>
          <a:prstGeom prst="rect">
            <a:avLst/>
          </a:prstGeom>
          <a:noFill/>
        </p:spPr>
        <p:txBody>
          <a:bodyPr wrap="square" lIns="0" rIns="0" tIns="0" bIns="0" anchor="ctr">
            <a:spAutoFit/>
          </a:bodyPr>
          <a:lstStyle/>
          <a:p>
            <a:pPr algn="l"/>
            <a:r>
              <a:rPr sz="1000" b="0" i="0">
                <a:solidFill>
                  <a:srgbClr val="333333"/>
                </a:solidFill>
              </a:rPr>
              <a:t>Potential Adopters</a:t>
            </a:r>
          </a:p>
        </p:txBody>
      </p:sp>
      <p:sp>
        <p:nvSpPr>
          <p:cNvPr id="39" name="TextBox 38"/>
          <p:cNvSpPr txBox="1"/>
          <p:nvPr/>
        </p:nvSpPr>
        <p:spPr>
          <a:xfrm>
            <a:off x="6933895" y="6188646"/>
            <a:ext cx="4754880" cy="186563"/>
          </a:xfrm>
          <a:prstGeom prst="rect">
            <a:avLst/>
          </a:prstGeom>
          <a:noFill/>
        </p:spPr>
        <p:txBody>
          <a:bodyPr wrap="square" lIns="0" rIns="0" tIns="0" bIns="0" anchor="ctr">
            <a:spAutoFit/>
          </a:bodyPr>
          <a:lstStyle/>
          <a:p>
            <a:pPr algn="r"/>
            <a:r>
              <a:rPr sz="850" b="0" i="1">
                <a:solidFill>
                  <a:srgbClr val="8A8A8A"/>
                </a:solidFill>
              </a:rPr>
              <a:t>Attribution comes from the interview text; the coded frequency does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8229600" cy="457708"/>
          </a:xfrm>
          <a:prstGeom prst="rect">
            <a:avLst/>
          </a:prstGeom>
          <a:noFill/>
        </p:spPr>
        <p:txBody>
          <a:bodyPr wrap="square" lIns="0" rIns="0" tIns="0" bIns="0" anchor="ctr">
            <a:spAutoFit/>
          </a:bodyPr>
          <a:lstStyle/>
          <a:p>
            <a:pPr algn="l"/>
            <a:r>
              <a:rPr sz="2600" b="1" i="0">
                <a:solidFill>
                  <a:srgbClr val="1A1A1A"/>
                </a:solidFill>
              </a:rPr>
              <a:t>Barriers — who raised each factor</a:t>
            </a:r>
          </a:p>
        </p:txBody>
      </p:sp>
      <p:sp>
        <p:nvSpPr>
          <p:cNvPr id="3" name="TextBox 2"/>
          <p:cNvSpPr txBox="1"/>
          <p:nvPr/>
        </p:nvSpPr>
        <p:spPr>
          <a:xfrm>
            <a:off x="502920" y="868680"/>
            <a:ext cx="10058400" cy="217551"/>
          </a:xfrm>
          <a:prstGeom prst="rect">
            <a:avLst/>
          </a:prstGeom>
          <a:noFill/>
        </p:spPr>
        <p:txBody>
          <a:bodyPr wrap="square" lIns="0" rIns="0" tIns="0" bIns="0" anchor="ctr">
            <a:spAutoFit/>
          </a:bodyPr>
          <a:lstStyle/>
          <a:p>
            <a:pPr algn="l"/>
            <a:r>
              <a:rPr sz="1050" b="0" i="1">
                <a:solidFill>
                  <a:srgbClr val="8A8A8A"/>
                </a:solidFill>
              </a:rPr>
              <a:t>Share of coded mentions by Brand Persona. Percentages are of that factor's own mentions, so each pie totals 100%.</a:t>
            </a:r>
          </a:p>
        </p:txBody>
      </p:sp>
      <p:sp>
        <p:nvSpPr>
          <p:cNvPr id="4" name="TextBox 3"/>
          <p:cNvSpPr txBox="1"/>
          <p:nvPr/>
        </p:nvSpPr>
        <p:spPr>
          <a:xfrm>
            <a:off x="585216" y="1417320"/>
            <a:ext cx="2072579" cy="217551"/>
          </a:xfrm>
          <a:prstGeom prst="rect">
            <a:avLst/>
          </a:prstGeom>
          <a:noFill/>
        </p:spPr>
        <p:txBody>
          <a:bodyPr wrap="square" lIns="0" rIns="0" tIns="0" bIns="0" anchor="ctr">
            <a:spAutoFit/>
          </a:bodyPr>
          <a:lstStyle/>
          <a:p>
            <a:pPr algn="ctr"/>
            <a:r>
              <a:rPr sz="1050" b="1" i="0">
                <a:solidFill>
                  <a:srgbClr val="333333"/>
                </a:solidFill>
              </a:rPr>
              <a:t>B4  Low awareness of JABC programs</a:t>
            </a:r>
          </a:p>
        </p:txBody>
      </p:sp>
      <p:sp>
        <p:nvSpPr>
          <p:cNvPr id="5" name="Freeform 4"/>
          <p:cNvSpPr/>
          <p:nvPr/>
        </p:nvSpPr>
        <p:spPr>
          <a:xfrm>
            <a:off x="726637" y="2168371"/>
            <a:ext cx="894868" cy="1342303"/>
          </a:xfrm>
          <a:custGeom>
            <a:avLst/>
            <a:gdLst/>
            <a:ahLst/>
            <a:cxnLst/>
            <a:rect l="l" t="t" r="r" b="b"/>
            <a:pathLst>
              <a:path w="894868" h="1342303">
                <a:moveTo>
                  <a:pt x="894868" y="894869"/>
                </a:moveTo>
                <a:lnTo>
                  <a:pt x="894868" y="0"/>
                </a:lnTo>
                <a:lnTo>
                  <a:pt x="855834" y="852"/>
                </a:lnTo>
                <a:lnTo>
                  <a:pt x="816875" y="3405"/>
                </a:lnTo>
                <a:lnTo>
                  <a:pt x="778064" y="7656"/>
                </a:lnTo>
                <a:lnTo>
                  <a:pt x="739476" y="13595"/>
                </a:lnTo>
                <a:lnTo>
                  <a:pt x="701183" y="21212"/>
                </a:lnTo>
                <a:lnTo>
                  <a:pt x="663259" y="30492"/>
                </a:lnTo>
                <a:lnTo>
                  <a:pt x="625776" y="41417"/>
                </a:lnTo>
                <a:lnTo>
                  <a:pt x="588805" y="53967"/>
                </a:lnTo>
                <a:lnTo>
                  <a:pt x="552417" y="68118"/>
                </a:lnTo>
                <a:lnTo>
                  <a:pt x="516680" y="83842"/>
                </a:lnTo>
                <a:lnTo>
                  <a:pt x="481664" y="101111"/>
                </a:lnTo>
                <a:lnTo>
                  <a:pt x="447434" y="119890"/>
                </a:lnTo>
                <a:lnTo>
                  <a:pt x="414056" y="140144"/>
                </a:lnTo>
                <a:lnTo>
                  <a:pt x="381593" y="161835"/>
                </a:lnTo>
                <a:lnTo>
                  <a:pt x="350107" y="184922"/>
                </a:lnTo>
                <a:lnTo>
                  <a:pt x="319658" y="209360"/>
                </a:lnTo>
                <a:lnTo>
                  <a:pt x="290304" y="235102"/>
                </a:lnTo>
                <a:lnTo>
                  <a:pt x="262100" y="262101"/>
                </a:lnTo>
                <a:lnTo>
                  <a:pt x="235102" y="290304"/>
                </a:lnTo>
                <a:lnTo>
                  <a:pt x="209359" y="319658"/>
                </a:lnTo>
                <a:lnTo>
                  <a:pt x="184921" y="350107"/>
                </a:lnTo>
                <a:lnTo>
                  <a:pt x="161835" y="381593"/>
                </a:lnTo>
                <a:lnTo>
                  <a:pt x="140144" y="414056"/>
                </a:lnTo>
                <a:lnTo>
                  <a:pt x="119889" y="447434"/>
                </a:lnTo>
                <a:lnTo>
                  <a:pt x="101110" y="481664"/>
                </a:lnTo>
                <a:lnTo>
                  <a:pt x="83842" y="516681"/>
                </a:lnTo>
                <a:lnTo>
                  <a:pt x="68117" y="552417"/>
                </a:lnTo>
                <a:lnTo>
                  <a:pt x="53967" y="588805"/>
                </a:lnTo>
                <a:lnTo>
                  <a:pt x="41417" y="625776"/>
                </a:lnTo>
                <a:lnTo>
                  <a:pt x="30492" y="663260"/>
                </a:lnTo>
                <a:lnTo>
                  <a:pt x="21212" y="701184"/>
                </a:lnTo>
                <a:lnTo>
                  <a:pt x="13595" y="739476"/>
                </a:lnTo>
                <a:lnTo>
                  <a:pt x="7655" y="778065"/>
                </a:lnTo>
                <a:lnTo>
                  <a:pt x="3405" y="816876"/>
                </a:lnTo>
                <a:lnTo>
                  <a:pt x="851" y="855835"/>
                </a:lnTo>
                <a:lnTo>
                  <a:pt x="0" y="894869"/>
                </a:lnTo>
                <a:lnTo>
                  <a:pt x="851" y="933902"/>
                </a:lnTo>
                <a:lnTo>
                  <a:pt x="3405" y="972861"/>
                </a:lnTo>
                <a:lnTo>
                  <a:pt x="7655" y="1011672"/>
                </a:lnTo>
                <a:lnTo>
                  <a:pt x="13595" y="1050261"/>
                </a:lnTo>
                <a:lnTo>
                  <a:pt x="21212" y="1088553"/>
                </a:lnTo>
                <a:lnTo>
                  <a:pt x="30492" y="1126477"/>
                </a:lnTo>
                <a:lnTo>
                  <a:pt x="41417" y="1163961"/>
                </a:lnTo>
                <a:lnTo>
                  <a:pt x="53967" y="1200932"/>
                </a:lnTo>
                <a:lnTo>
                  <a:pt x="68117" y="1237320"/>
                </a:lnTo>
                <a:lnTo>
                  <a:pt x="83842" y="1273056"/>
                </a:lnTo>
                <a:lnTo>
                  <a:pt x="101110" y="1308073"/>
                </a:lnTo>
                <a:lnTo>
                  <a:pt x="119889" y="1342303"/>
                </a:lnTo>
                <a:close/>
              </a:path>
            </a:pathLst>
          </a:cu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60537" y="2683332"/>
            <a:ext cx="822960" cy="240791"/>
          </a:xfrm>
          <a:prstGeom prst="rect">
            <a:avLst/>
          </a:prstGeom>
          <a:noFill/>
        </p:spPr>
        <p:txBody>
          <a:bodyPr wrap="square" lIns="0" rIns="0" tIns="0" bIns="0" anchor="ctr">
            <a:spAutoFit/>
          </a:bodyPr>
          <a:lstStyle/>
          <a:p>
            <a:pPr algn="ctr"/>
            <a:r>
              <a:rPr sz="1200" b="1" i="0">
                <a:solidFill>
                  <a:srgbClr val="FFFFFF"/>
                </a:solidFill>
              </a:rPr>
              <a:t>33%</a:t>
            </a:r>
          </a:p>
        </p:txBody>
      </p:sp>
      <p:sp>
        <p:nvSpPr>
          <p:cNvPr id="7" name="Freeform 6"/>
          <p:cNvSpPr/>
          <p:nvPr/>
        </p:nvSpPr>
        <p:spPr>
          <a:xfrm>
            <a:off x="846526" y="2168371"/>
            <a:ext cx="1669847" cy="1789737"/>
          </a:xfrm>
          <a:custGeom>
            <a:avLst/>
            <a:gdLst/>
            <a:ahLst/>
            <a:cxnLst/>
            <a:rect l="l" t="t" r="r" b="b"/>
            <a:pathLst>
              <a:path w="1669847" h="1789737">
                <a:moveTo>
                  <a:pt x="774979" y="894869"/>
                </a:moveTo>
                <a:lnTo>
                  <a:pt x="0" y="1342303"/>
                </a:lnTo>
                <a:lnTo>
                  <a:pt x="41946" y="1408144"/>
                </a:lnTo>
                <a:lnTo>
                  <a:pt x="89470" y="1470079"/>
                </a:lnTo>
                <a:lnTo>
                  <a:pt x="142211" y="1527636"/>
                </a:lnTo>
                <a:lnTo>
                  <a:pt x="199769" y="1580377"/>
                </a:lnTo>
                <a:lnTo>
                  <a:pt x="261704" y="1627902"/>
                </a:lnTo>
                <a:lnTo>
                  <a:pt x="327545" y="1669847"/>
                </a:lnTo>
                <a:lnTo>
                  <a:pt x="396791" y="1705895"/>
                </a:lnTo>
                <a:lnTo>
                  <a:pt x="468916" y="1735770"/>
                </a:lnTo>
                <a:lnTo>
                  <a:pt x="543370" y="1759245"/>
                </a:lnTo>
                <a:lnTo>
                  <a:pt x="619587" y="1776142"/>
                </a:lnTo>
                <a:lnTo>
                  <a:pt x="696986" y="1786332"/>
                </a:lnTo>
                <a:lnTo>
                  <a:pt x="774979" y="1789737"/>
                </a:lnTo>
                <a:lnTo>
                  <a:pt x="852972" y="1786332"/>
                </a:lnTo>
                <a:lnTo>
                  <a:pt x="930371" y="1776142"/>
                </a:lnTo>
                <a:lnTo>
                  <a:pt x="1006588" y="1759245"/>
                </a:lnTo>
                <a:lnTo>
                  <a:pt x="1081042" y="1735770"/>
                </a:lnTo>
                <a:lnTo>
                  <a:pt x="1153167" y="1705895"/>
                </a:lnTo>
                <a:lnTo>
                  <a:pt x="1222413" y="1669847"/>
                </a:lnTo>
                <a:lnTo>
                  <a:pt x="1288254" y="1627902"/>
                </a:lnTo>
                <a:lnTo>
                  <a:pt x="1350189" y="1580377"/>
                </a:lnTo>
                <a:lnTo>
                  <a:pt x="1407747" y="1527636"/>
                </a:lnTo>
                <a:lnTo>
                  <a:pt x="1460488" y="1470079"/>
                </a:lnTo>
                <a:lnTo>
                  <a:pt x="1508012" y="1408144"/>
                </a:lnTo>
                <a:lnTo>
                  <a:pt x="1549958" y="1342303"/>
                </a:lnTo>
                <a:lnTo>
                  <a:pt x="1586005" y="1273056"/>
                </a:lnTo>
                <a:lnTo>
                  <a:pt x="1615880" y="1200932"/>
                </a:lnTo>
                <a:lnTo>
                  <a:pt x="1639356" y="1126477"/>
                </a:lnTo>
                <a:lnTo>
                  <a:pt x="1656252" y="1050261"/>
                </a:lnTo>
                <a:lnTo>
                  <a:pt x="1666442" y="972861"/>
                </a:lnTo>
                <a:lnTo>
                  <a:pt x="1669847" y="894869"/>
                </a:lnTo>
                <a:lnTo>
                  <a:pt x="1666442" y="816876"/>
                </a:lnTo>
                <a:lnTo>
                  <a:pt x="1656252" y="739476"/>
                </a:lnTo>
                <a:lnTo>
                  <a:pt x="1639356" y="663260"/>
                </a:lnTo>
                <a:lnTo>
                  <a:pt x="1615880" y="588805"/>
                </a:lnTo>
                <a:lnTo>
                  <a:pt x="1586005" y="516681"/>
                </a:lnTo>
                <a:lnTo>
                  <a:pt x="1549958" y="447434"/>
                </a:lnTo>
                <a:lnTo>
                  <a:pt x="1508012" y="381593"/>
                </a:lnTo>
                <a:lnTo>
                  <a:pt x="1460488" y="319658"/>
                </a:lnTo>
                <a:lnTo>
                  <a:pt x="1407747" y="262101"/>
                </a:lnTo>
                <a:lnTo>
                  <a:pt x="1350189" y="209360"/>
                </a:lnTo>
                <a:lnTo>
                  <a:pt x="1288254" y="161835"/>
                </a:lnTo>
                <a:lnTo>
                  <a:pt x="1222413" y="119890"/>
                </a:lnTo>
                <a:lnTo>
                  <a:pt x="1153167" y="83842"/>
                </a:lnTo>
                <a:lnTo>
                  <a:pt x="1081042" y="53967"/>
                </a:lnTo>
                <a:lnTo>
                  <a:pt x="1006588" y="30492"/>
                </a:lnTo>
                <a:lnTo>
                  <a:pt x="930371" y="13595"/>
                </a:lnTo>
                <a:lnTo>
                  <a:pt x="852972" y="3405"/>
                </a:lnTo>
                <a:lnTo>
                  <a:pt x="774979" y="0"/>
                </a:lnTo>
                <a:close/>
              </a:path>
            </a:pathLst>
          </a:cu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659513" y="3202355"/>
            <a:ext cx="822960" cy="240791"/>
          </a:xfrm>
          <a:prstGeom prst="rect">
            <a:avLst/>
          </a:prstGeom>
          <a:noFill/>
        </p:spPr>
        <p:txBody>
          <a:bodyPr wrap="square" lIns="0" rIns="0" tIns="0" bIns="0" anchor="ctr">
            <a:spAutoFit/>
          </a:bodyPr>
          <a:lstStyle/>
          <a:p>
            <a:pPr algn="ctr"/>
            <a:r>
              <a:rPr sz="1200" b="1" i="0">
                <a:solidFill>
                  <a:srgbClr val="FFFFFF"/>
                </a:solidFill>
              </a:rPr>
              <a:t>67%</a:t>
            </a:r>
          </a:p>
        </p:txBody>
      </p:sp>
      <p:sp>
        <p:nvSpPr>
          <p:cNvPr id="9" name="TextBox 8"/>
          <p:cNvSpPr txBox="1"/>
          <p:nvPr/>
        </p:nvSpPr>
        <p:spPr>
          <a:xfrm>
            <a:off x="585216" y="4214140"/>
            <a:ext cx="2072579" cy="384111"/>
          </a:xfrm>
          <a:prstGeom prst="rect">
            <a:avLst/>
          </a:prstGeom>
          <a:noFill/>
        </p:spPr>
        <p:txBody>
          <a:bodyPr wrap="square" lIns="0" rIns="0" tIns="0" bIns="0" anchor="ctr">
            <a:spAutoFit/>
          </a:bodyPr>
          <a:lstStyle/>
          <a:p>
            <a:pPr algn="ctr">
              <a:lnSpc>
                <a:spcPct val="125000"/>
              </a:lnSpc>
            </a:pPr>
            <a:r>
              <a:rPr sz="850" b="0" i="0">
                <a:solidFill>
                  <a:srgbClr val="8A8A8A"/>
                </a:solidFill>
              </a:rPr>
              <a:t>7 coded mentions</a:t>
            </a:r>
          </a:p>
          <a:p>
            <a:pPr algn="ctr">
              <a:lnSpc>
                <a:spcPct val="125000"/>
              </a:lnSpc>
            </a:pPr>
            <a:r>
              <a:rPr sz="850" b="0" i="0">
                <a:solidFill>
                  <a:srgbClr val="8A8A8A"/>
                </a:solidFill>
              </a:rPr>
              <a:t>split from 6 detected mentions across 4 respondents</a:t>
            </a:r>
          </a:p>
        </p:txBody>
      </p:sp>
      <p:sp>
        <p:nvSpPr>
          <p:cNvPr id="10" name="TextBox 9"/>
          <p:cNvSpPr txBox="1"/>
          <p:nvPr/>
        </p:nvSpPr>
        <p:spPr>
          <a:xfrm>
            <a:off x="2822387" y="1417320"/>
            <a:ext cx="2072579" cy="217551"/>
          </a:xfrm>
          <a:prstGeom prst="rect">
            <a:avLst/>
          </a:prstGeom>
          <a:noFill/>
        </p:spPr>
        <p:txBody>
          <a:bodyPr wrap="square" lIns="0" rIns="0" tIns="0" bIns="0" anchor="ctr">
            <a:spAutoFit/>
          </a:bodyPr>
          <a:lstStyle/>
          <a:p>
            <a:pPr algn="ctr"/>
            <a:r>
              <a:rPr sz="1050" b="1" i="0">
                <a:solidFill>
                  <a:srgbClr val="333333"/>
                </a:solidFill>
              </a:rPr>
              <a:t>B2  Difficulty integrating programs into curriculum</a:t>
            </a:r>
          </a:p>
        </p:txBody>
      </p:sp>
      <p:sp>
        <p:nvSpPr>
          <p:cNvPr id="11" name="Freeform 10"/>
          <p:cNvSpPr/>
          <p:nvPr/>
        </p:nvSpPr>
        <p:spPr>
          <a:xfrm>
            <a:off x="2963808" y="2168371"/>
            <a:ext cx="894868" cy="894869"/>
          </a:xfrm>
          <a:custGeom>
            <a:avLst/>
            <a:gdLst/>
            <a:ahLst/>
            <a:cxnLst/>
            <a:rect l="l" t="t" r="r" b="b"/>
            <a:pathLst>
              <a:path w="894868" h="894869">
                <a:moveTo>
                  <a:pt x="894868" y="894869"/>
                </a:moveTo>
                <a:lnTo>
                  <a:pt x="894868" y="0"/>
                </a:lnTo>
                <a:lnTo>
                  <a:pt x="865589" y="479"/>
                </a:lnTo>
                <a:lnTo>
                  <a:pt x="836341" y="1916"/>
                </a:lnTo>
                <a:lnTo>
                  <a:pt x="807156" y="4309"/>
                </a:lnTo>
                <a:lnTo>
                  <a:pt x="778064" y="7656"/>
                </a:lnTo>
                <a:lnTo>
                  <a:pt x="749098" y="11953"/>
                </a:lnTo>
                <a:lnTo>
                  <a:pt x="720288" y="17195"/>
                </a:lnTo>
                <a:lnTo>
                  <a:pt x="691665" y="23377"/>
                </a:lnTo>
                <a:lnTo>
                  <a:pt x="663259" y="30492"/>
                </a:lnTo>
                <a:lnTo>
                  <a:pt x="635101" y="38533"/>
                </a:lnTo>
                <a:lnTo>
                  <a:pt x="607222" y="47491"/>
                </a:lnTo>
                <a:lnTo>
                  <a:pt x="579651" y="57356"/>
                </a:lnTo>
                <a:lnTo>
                  <a:pt x="552417" y="68118"/>
                </a:lnTo>
                <a:lnTo>
                  <a:pt x="525550" y="79765"/>
                </a:lnTo>
                <a:lnTo>
                  <a:pt x="499078" y="92285"/>
                </a:lnTo>
                <a:lnTo>
                  <a:pt x="473030" y="105665"/>
                </a:lnTo>
                <a:lnTo>
                  <a:pt x="447434" y="119890"/>
                </a:lnTo>
                <a:lnTo>
                  <a:pt x="422317" y="134944"/>
                </a:lnTo>
                <a:lnTo>
                  <a:pt x="397706" y="150813"/>
                </a:lnTo>
                <a:lnTo>
                  <a:pt x="373627" y="167478"/>
                </a:lnTo>
                <a:lnTo>
                  <a:pt x="350107" y="184922"/>
                </a:lnTo>
                <a:lnTo>
                  <a:pt x="327170" y="203126"/>
                </a:lnTo>
                <a:lnTo>
                  <a:pt x="304840" y="222071"/>
                </a:lnTo>
                <a:lnTo>
                  <a:pt x="283143" y="241736"/>
                </a:lnTo>
                <a:lnTo>
                  <a:pt x="262101" y="262101"/>
                </a:lnTo>
                <a:lnTo>
                  <a:pt x="241736" y="283143"/>
                </a:lnTo>
                <a:lnTo>
                  <a:pt x="222070" y="304841"/>
                </a:lnTo>
                <a:lnTo>
                  <a:pt x="203125" y="327170"/>
                </a:lnTo>
                <a:lnTo>
                  <a:pt x="184921" y="350107"/>
                </a:lnTo>
                <a:lnTo>
                  <a:pt x="167477" y="373628"/>
                </a:lnTo>
                <a:lnTo>
                  <a:pt x="150812" y="397706"/>
                </a:lnTo>
                <a:lnTo>
                  <a:pt x="134944" y="422317"/>
                </a:lnTo>
                <a:lnTo>
                  <a:pt x="119889" y="447434"/>
                </a:lnTo>
                <a:lnTo>
                  <a:pt x="105665" y="473030"/>
                </a:lnTo>
                <a:lnTo>
                  <a:pt x="92285" y="499078"/>
                </a:lnTo>
                <a:lnTo>
                  <a:pt x="79765" y="525550"/>
                </a:lnTo>
                <a:lnTo>
                  <a:pt x="68117" y="552417"/>
                </a:lnTo>
                <a:lnTo>
                  <a:pt x="57355" y="579651"/>
                </a:lnTo>
                <a:lnTo>
                  <a:pt x="47490" y="607222"/>
                </a:lnTo>
                <a:lnTo>
                  <a:pt x="38532" y="635102"/>
                </a:lnTo>
                <a:lnTo>
                  <a:pt x="30492" y="663260"/>
                </a:lnTo>
                <a:lnTo>
                  <a:pt x="23376" y="691665"/>
                </a:lnTo>
                <a:lnTo>
                  <a:pt x="17194" y="720288"/>
                </a:lnTo>
                <a:lnTo>
                  <a:pt x="11952" y="749098"/>
                </a:lnTo>
                <a:lnTo>
                  <a:pt x="7655" y="778065"/>
                </a:lnTo>
                <a:lnTo>
                  <a:pt x="4309" y="807156"/>
                </a:lnTo>
                <a:lnTo>
                  <a:pt x="1916" y="836341"/>
                </a:lnTo>
                <a:lnTo>
                  <a:pt x="479" y="865589"/>
                </a:lnTo>
                <a:lnTo>
                  <a:pt x="0" y="894869"/>
                </a:lnTo>
                <a:close/>
              </a:path>
            </a:pathLst>
          </a:cu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080191" y="2575838"/>
            <a:ext cx="822960" cy="240791"/>
          </a:xfrm>
          <a:prstGeom prst="rect">
            <a:avLst/>
          </a:prstGeom>
          <a:noFill/>
        </p:spPr>
        <p:txBody>
          <a:bodyPr wrap="square" lIns="0" rIns="0" tIns="0" bIns="0" anchor="ctr">
            <a:spAutoFit/>
          </a:bodyPr>
          <a:lstStyle/>
          <a:p>
            <a:pPr algn="ctr"/>
            <a:r>
              <a:rPr sz="1200" b="1" i="0">
                <a:solidFill>
                  <a:srgbClr val="FFFFFF"/>
                </a:solidFill>
              </a:rPr>
              <a:t>25%</a:t>
            </a:r>
          </a:p>
        </p:txBody>
      </p:sp>
      <p:sp>
        <p:nvSpPr>
          <p:cNvPr id="13" name="Freeform 12"/>
          <p:cNvSpPr/>
          <p:nvPr/>
        </p:nvSpPr>
        <p:spPr>
          <a:xfrm>
            <a:off x="2963808" y="2168371"/>
            <a:ext cx="1789736" cy="1789737"/>
          </a:xfrm>
          <a:custGeom>
            <a:avLst/>
            <a:gdLst/>
            <a:ahLst/>
            <a:cxnLst/>
            <a:rect l="l" t="t" r="r" b="b"/>
            <a:pathLst>
              <a:path w="1789736" h="1789737">
                <a:moveTo>
                  <a:pt x="894868" y="894869"/>
                </a:moveTo>
                <a:lnTo>
                  <a:pt x="0" y="894869"/>
                </a:lnTo>
                <a:lnTo>
                  <a:pt x="4309" y="982581"/>
                </a:lnTo>
                <a:lnTo>
                  <a:pt x="17194" y="1069449"/>
                </a:lnTo>
                <a:lnTo>
                  <a:pt x="38532" y="1154635"/>
                </a:lnTo>
                <a:lnTo>
                  <a:pt x="68117" y="1237320"/>
                </a:lnTo>
                <a:lnTo>
                  <a:pt x="105665" y="1316707"/>
                </a:lnTo>
                <a:lnTo>
                  <a:pt x="150812" y="1392031"/>
                </a:lnTo>
                <a:lnTo>
                  <a:pt x="203125" y="1462567"/>
                </a:lnTo>
                <a:lnTo>
                  <a:pt x="262101" y="1527636"/>
                </a:lnTo>
                <a:lnTo>
                  <a:pt x="327170" y="1586611"/>
                </a:lnTo>
                <a:lnTo>
                  <a:pt x="397706" y="1638924"/>
                </a:lnTo>
                <a:lnTo>
                  <a:pt x="473030" y="1684072"/>
                </a:lnTo>
                <a:lnTo>
                  <a:pt x="552417" y="1721619"/>
                </a:lnTo>
                <a:lnTo>
                  <a:pt x="635101" y="1751204"/>
                </a:lnTo>
                <a:lnTo>
                  <a:pt x="720288" y="1772542"/>
                </a:lnTo>
                <a:lnTo>
                  <a:pt x="807156" y="1785428"/>
                </a:lnTo>
                <a:lnTo>
                  <a:pt x="894868" y="1789737"/>
                </a:lnTo>
                <a:lnTo>
                  <a:pt x="982581" y="1785428"/>
                </a:lnTo>
                <a:lnTo>
                  <a:pt x="1069448" y="1772542"/>
                </a:lnTo>
                <a:lnTo>
                  <a:pt x="1154635" y="1751204"/>
                </a:lnTo>
                <a:lnTo>
                  <a:pt x="1237319" y="1721619"/>
                </a:lnTo>
                <a:lnTo>
                  <a:pt x="1316706" y="1684072"/>
                </a:lnTo>
                <a:lnTo>
                  <a:pt x="1392030" y="1638924"/>
                </a:lnTo>
                <a:lnTo>
                  <a:pt x="1462567" y="1586611"/>
                </a:lnTo>
                <a:lnTo>
                  <a:pt x="1527636" y="1527636"/>
                </a:lnTo>
                <a:lnTo>
                  <a:pt x="1586611" y="1462567"/>
                </a:lnTo>
                <a:lnTo>
                  <a:pt x="1638924" y="1392031"/>
                </a:lnTo>
                <a:lnTo>
                  <a:pt x="1684072" y="1316707"/>
                </a:lnTo>
                <a:lnTo>
                  <a:pt x="1721619" y="1237320"/>
                </a:lnTo>
                <a:lnTo>
                  <a:pt x="1751204" y="1154635"/>
                </a:lnTo>
                <a:lnTo>
                  <a:pt x="1772542" y="1069449"/>
                </a:lnTo>
                <a:lnTo>
                  <a:pt x="1785427" y="982581"/>
                </a:lnTo>
                <a:lnTo>
                  <a:pt x="1789736" y="894869"/>
                </a:lnTo>
                <a:lnTo>
                  <a:pt x="1785427" y="807156"/>
                </a:lnTo>
                <a:lnTo>
                  <a:pt x="1772542" y="720288"/>
                </a:lnTo>
                <a:lnTo>
                  <a:pt x="1751204" y="635102"/>
                </a:lnTo>
                <a:lnTo>
                  <a:pt x="1721619" y="552417"/>
                </a:lnTo>
                <a:lnTo>
                  <a:pt x="1684072" y="473030"/>
                </a:lnTo>
                <a:lnTo>
                  <a:pt x="1638924" y="397706"/>
                </a:lnTo>
                <a:lnTo>
                  <a:pt x="1586611" y="327170"/>
                </a:lnTo>
                <a:lnTo>
                  <a:pt x="1527636" y="262101"/>
                </a:lnTo>
                <a:lnTo>
                  <a:pt x="1462567" y="203126"/>
                </a:lnTo>
                <a:lnTo>
                  <a:pt x="1392030" y="150813"/>
                </a:lnTo>
                <a:lnTo>
                  <a:pt x="1316706" y="105665"/>
                </a:lnTo>
                <a:lnTo>
                  <a:pt x="1237319" y="68118"/>
                </a:lnTo>
                <a:lnTo>
                  <a:pt x="1154635" y="38533"/>
                </a:lnTo>
                <a:lnTo>
                  <a:pt x="1069448" y="17195"/>
                </a:lnTo>
                <a:lnTo>
                  <a:pt x="982581" y="4309"/>
                </a:lnTo>
                <a:lnTo>
                  <a:pt x="894868" y="0"/>
                </a:lnTo>
                <a:close/>
              </a:path>
            </a:pathLst>
          </a:cu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814201" y="3309849"/>
            <a:ext cx="822960" cy="240791"/>
          </a:xfrm>
          <a:prstGeom prst="rect">
            <a:avLst/>
          </a:prstGeom>
          <a:noFill/>
        </p:spPr>
        <p:txBody>
          <a:bodyPr wrap="square" lIns="0" rIns="0" tIns="0" bIns="0" anchor="ctr">
            <a:spAutoFit/>
          </a:bodyPr>
          <a:lstStyle/>
          <a:p>
            <a:pPr algn="ctr"/>
            <a:r>
              <a:rPr sz="1200" b="1" i="0">
                <a:solidFill>
                  <a:srgbClr val="FFFFFF"/>
                </a:solidFill>
              </a:rPr>
              <a:t>75%</a:t>
            </a:r>
          </a:p>
        </p:txBody>
      </p:sp>
      <p:sp>
        <p:nvSpPr>
          <p:cNvPr id="15" name="TextBox 14"/>
          <p:cNvSpPr txBox="1"/>
          <p:nvPr/>
        </p:nvSpPr>
        <p:spPr>
          <a:xfrm>
            <a:off x="2822387" y="4214140"/>
            <a:ext cx="2072579" cy="384111"/>
          </a:xfrm>
          <a:prstGeom prst="rect">
            <a:avLst/>
          </a:prstGeom>
          <a:noFill/>
        </p:spPr>
        <p:txBody>
          <a:bodyPr wrap="square" lIns="0" rIns="0" tIns="0" bIns="0" anchor="ctr">
            <a:spAutoFit/>
          </a:bodyPr>
          <a:lstStyle/>
          <a:p>
            <a:pPr algn="ctr">
              <a:lnSpc>
                <a:spcPct val="125000"/>
              </a:lnSpc>
            </a:pPr>
            <a:r>
              <a:rPr sz="850" b="0" i="0">
                <a:solidFill>
                  <a:srgbClr val="8A8A8A"/>
                </a:solidFill>
              </a:rPr>
              <a:t>9 coded mentions</a:t>
            </a:r>
          </a:p>
          <a:p>
            <a:pPr algn="ctr">
              <a:lnSpc>
                <a:spcPct val="125000"/>
              </a:lnSpc>
            </a:pPr>
            <a:r>
              <a:rPr sz="850" b="0" i="0">
                <a:solidFill>
                  <a:srgbClr val="8A8A8A"/>
                </a:solidFill>
              </a:rPr>
              <a:t>split from 8 detected mentions across 7 respondents</a:t>
            </a:r>
          </a:p>
        </p:txBody>
      </p:sp>
      <p:sp>
        <p:nvSpPr>
          <p:cNvPr id="16" name="TextBox 15"/>
          <p:cNvSpPr txBox="1"/>
          <p:nvPr/>
        </p:nvSpPr>
        <p:spPr>
          <a:xfrm>
            <a:off x="5059558" y="1417320"/>
            <a:ext cx="2072579" cy="217551"/>
          </a:xfrm>
          <a:prstGeom prst="rect">
            <a:avLst/>
          </a:prstGeom>
          <a:noFill/>
        </p:spPr>
        <p:txBody>
          <a:bodyPr wrap="square" lIns="0" rIns="0" tIns="0" bIns="0" anchor="ctr">
            <a:spAutoFit/>
          </a:bodyPr>
          <a:lstStyle/>
          <a:p>
            <a:pPr algn="ctr"/>
            <a:r>
              <a:rPr sz="1050" b="1" i="0">
                <a:solidFill>
                  <a:srgbClr val="333333"/>
                </a:solidFill>
              </a:rPr>
              <a:t>B5  Information overload and competing priorities</a:t>
            </a:r>
          </a:p>
        </p:txBody>
      </p:sp>
      <p:sp>
        <p:nvSpPr>
          <p:cNvPr id="17" name="Freeform 16"/>
          <p:cNvSpPr/>
          <p:nvPr/>
        </p:nvSpPr>
        <p:spPr>
          <a:xfrm>
            <a:off x="5201704" y="2168371"/>
            <a:ext cx="1788830" cy="1789555"/>
          </a:xfrm>
          <a:custGeom>
            <a:avLst/>
            <a:gdLst/>
            <a:ahLst/>
            <a:cxnLst/>
            <a:rect l="l" t="t" r="r" b="b"/>
            <a:pathLst>
              <a:path w="1788830" h="1789555">
                <a:moveTo>
                  <a:pt x="894143" y="894869"/>
                </a:moveTo>
                <a:lnTo>
                  <a:pt x="894143" y="0"/>
                </a:lnTo>
                <a:lnTo>
                  <a:pt x="804189" y="4533"/>
                </a:lnTo>
                <a:lnTo>
                  <a:pt x="715146" y="18085"/>
                </a:lnTo>
                <a:lnTo>
                  <a:pt x="627917" y="40519"/>
                </a:lnTo>
                <a:lnTo>
                  <a:pt x="543385" y="71608"/>
                </a:lnTo>
                <a:lnTo>
                  <a:pt x="462405" y="111037"/>
                </a:lnTo>
                <a:lnTo>
                  <a:pt x="385800" y="158406"/>
                </a:lnTo>
                <a:lnTo>
                  <a:pt x="314344" y="213236"/>
                </a:lnTo>
                <a:lnTo>
                  <a:pt x="248762" y="274971"/>
                </a:lnTo>
                <a:lnTo>
                  <a:pt x="189717" y="342986"/>
                </a:lnTo>
                <a:lnTo>
                  <a:pt x="137809" y="416592"/>
                </a:lnTo>
                <a:lnTo>
                  <a:pt x="93563" y="495043"/>
                </a:lnTo>
                <a:lnTo>
                  <a:pt x="57427" y="577544"/>
                </a:lnTo>
                <a:lnTo>
                  <a:pt x="29767" y="663260"/>
                </a:lnTo>
                <a:lnTo>
                  <a:pt x="10863" y="751322"/>
                </a:lnTo>
                <a:lnTo>
                  <a:pt x="907" y="840838"/>
                </a:lnTo>
                <a:lnTo>
                  <a:pt x="0" y="930901"/>
                </a:lnTo>
                <a:lnTo>
                  <a:pt x="8151" y="1020600"/>
                </a:lnTo>
                <a:lnTo>
                  <a:pt x="25278" y="1109025"/>
                </a:lnTo>
                <a:lnTo>
                  <a:pt x="51206" y="1195280"/>
                </a:lnTo>
                <a:lnTo>
                  <a:pt x="85674" y="1278492"/>
                </a:lnTo>
                <a:lnTo>
                  <a:pt x="128331" y="1357818"/>
                </a:lnTo>
                <a:lnTo>
                  <a:pt x="178747" y="1432454"/>
                </a:lnTo>
                <a:lnTo>
                  <a:pt x="236410" y="1501644"/>
                </a:lnTo>
                <a:lnTo>
                  <a:pt x="300736" y="1564687"/>
                </a:lnTo>
                <a:lnTo>
                  <a:pt x="371073" y="1620945"/>
                </a:lnTo>
                <a:lnTo>
                  <a:pt x="446709" y="1669847"/>
                </a:lnTo>
                <a:lnTo>
                  <a:pt x="526878" y="1710899"/>
                </a:lnTo>
                <a:lnTo>
                  <a:pt x="610767" y="1743684"/>
                </a:lnTo>
                <a:lnTo>
                  <a:pt x="697527" y="1767870"/>
                </a:lnTo>
                <a:lnTo>
                  <a:pt x="786279" y="1783212"/>
                </a:lnTo>
                <a:lnTo>
                  <a:pt x="876123" y="1789555"/>
                </a:lnTo>
                <a:lnTo>
                  <a:pt x="966150" y="1786835"/>
                </a:lnTo>
                <a:lnTo>
                  <a:pt x="1055448" y="1775079"/>
                </a:lnTo>
                <a:lnTo>
                  <a:pt x="1143111" y="1754406"/>
                </a:lnTo>
                <a:lnTo>
                  <a:pt x="1228252" y="1725025"/>
                </a:lnTo>
                <a:lnTo>
                  <a:pt x="1310009" y="1687235"/>
                </a:lnTo>
                <a:lnTo>
                  <a:pt x="1387553" y="1641418"/>
                </a:lnTo>
                <a:lnTo>
                  <a:pt x="1460098" y="1588038"/>
                </a:lnTo>
                <a:lnTo>
                  <a:pt x="1526911" y="1527636"/>
                </a:lnTo>
                <a:lnTo>
                  <a:pt x="1587313" y="1460824"/>
                </a:lnTo>
                <a:lnTo>
                  <a:pt x="1640693" y="1388278"/>
                </a:lnTo>
                <a:lnTo>
                  <a:pt x="1686510" y="1310735"/>
                </a:lnTo>
                <a:lnTo>
                  <a:pt x="1724300" y="1228978"/>
                </a:lnTo>
                <a:lnTo>
                  <a:pt x="1753680" y="1143837"/>
                </a:lnTo>
                <a:lnTo>
                  <a:pt x="1774353" y="1056173"/>
                </a:lnTo>
                <a:lnTo>
                  <a:pt x="1786110" y="966875"/>
                </a:lnTo>
                <a:lnTo>
                  <a:pt x="1788830" y="876848"/>
                </a:lnTo>
                <a:lnTo>
                  <a:pt x="1782487" y="787004"/>
                </a:lnTo>
                <a:close/>
              </a:path>
            </a:pathLst>
          </a:cu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40191" y="3331338"/>
            <a:ext cx="822960" cy="240791"/>
          </a:xfrm>
          <a:prstGeom prst="rect">
            <a:avLst/>
          </a:prstGeom>
          <a:noFill/>
        </p:spPr>
        <p:txBody>
          <a:bodyPr wrap="square" lIns="0" rIns="0" tIns="0" bIns="0" anchor="ctr">
            <a:spAutoFit/>
          </a:bodyPr>
          <a:lstStyle/>
          <a:p>
            <a:pPr algn="ctr"/>
            <a:r>
              <a:rPr sz="1200" b="1" i="0">
                <a:solidFill>
                  <a:srgbClr val="FFFFFF"/>
                </a:solidFill>
              </a:rPr>
              <a:t>77%</a:t>
            </a:r>
          </a:p>
        </p:txBody>
      </p:sp>
      <p:sp>
        <p:nvSpPr>
          <p:cNvPr id="19" name="Freeform 18"/>
          <p:cNvSpPr/>
          <p:nvPr/>
        </p:nvSpPr>
        <p:spPr>
          <a:xfrm>
            <a:off x="6095847" y="2168371"/>
            <a:ext cx="888344" cy="894869"/>
          </a:xfrm>
          <a:custGeom>
            <a:avLst/>
            <a:gdLst/>
            <a:ahLst/>
            <a:cxnLst/>
            <a:rect l="l" t="t" r="r" b="b"/>
            <a:pathLst>
              <a:path w="888344" h="894869">
                <a:moveTo>
                  <a:pt x="0" y="894869"/>
                </a:moveTo>
                <a:lnTo>
                  <a:pt x="888344" y="787004"/>
                </a:lnTo>
                <a:lnTo>
                  <a:pt x="884681" y="760223"/>
                </a:lnTo>
                <a:lnTo>
                  <a:pt x="880210" y="733564"/>
                </a:lnTo>
                <a:lnTo>
                  <a:pt x="874937" y="707053"/>
                </a:lnTo>
                <a:lnTo>
                  <a:pt x="868865" y="680712"/>
                </a:lnTo>
                <a:lnTo>
                  <a:pt x="862001" y="654568"/>
                </a:lnTo>
                <a:lnTo>
                  <a:pt x="854350" y="628642"/>
                </a:lnTo>
                <a:lnTo>
                  <a:pt x="845919" y="602960"/>
                </a:lnTo>
                <a:lnTo>
                  <a:pt x="836717" y="577544"/>
                </a:lnTo>
                <a:lnTo>
                  <a:pt x="826751" y="552417"/>
                </a:lnTo>
                <a:lnTo>
                  <a:pt x="816030" y="527603"/>
                </a:lnTo>
                <a:lnTo>
                  <a:pt x="804566" y="503124"/>
                </a:lnTo>
                <a:lnTo>
                  <a:pt x="792367" y="479002"/>
                </a:lnTo>
                <a:lnTo>
                  <a:pt x="779445" y="455260"/>
                </a:lnTo>
                <a:lnTo>
                  <a:pt x="765812" y="431919"/>
                </a:lnTo>
                <a:lnTo>
                  <a:pt x="751480" y="409001"/>
                </a:lnTo>
                <a:lnTo>
                  <a:pt x="736462" y="386525"/>
                </a:lnTo>
                <a:lnTo>
                  <a:pt x="720773" y="364514"/>
                </a:lnTo>
                <a:lnTo>
                  <a:pt x="704426" y="342986"/>
                </a:lnTo>
                <a:lnTo>
                  <a:pt x="687436" y="321962"/>
                </a:lnTo>
                <a:lnTo>
                  <a:pt x="669819" y="301461"/>
                </a:lnTo>
                <a:lnTo>
                  <a:pt x="651590" y="281501"/>
                </a:lnTo>
                <a:lnTo>
                  <a:pt x="632768" y="262101"/>
                </a:lnTo>
                <a:lnTo>
                  <a:pt x="613367" y="243278"/>
                </a:lnTo>
                <a:lnTo>
                  <a:pt x="593408" y="225050"/>
                </a:lnTo>
                <a:lnTo>
                  <a:pt x="572906" y="207433"/>
                </a:lnTo>
                <a:lnTo>
                  <a:pt x="551882" y="190443"/>
                </a:lnTo>
                <a:lnTo>
                  <a:pt x="530355" y="174096"/>
                </a:lnTo>
                <a:lnTo>
                  <a:pt x="508343" y="158406"/>
                </a:lnTo>
                <a:lnTo>
                  <a:pt x="485868" y="143389"/>
                </a:lnTo>
                <a:lnTo>
                  <a:pt x="462949" y="129057"/>
                </a:lnTo>
                <a:lnTo>
                  <a:pt x="439608" y="115424"/>
                </a:lnTo>
                <a:lnTo>
                  <a:pt x="415866" y="102502"/>
                </a:lnTo>
                <a:lnTo>
                  <a:pt x="391745" y="90303"/>
                </a:lnTo>
                <a:lnTo>
                  <a:pt x="367266" y="78838"/>
                </a:lnTo>
                <a:lnTo>
                  <a:pt x="342451" y="68118"/>
                </a:lnTo>
                <a:lnTo>
                  <a:pt x="317325" y="58152"/>
                </a:lnTo>
                <a:lnTo>
                  <a:pt x="291909" y="48950"/>
                </a:lnTo>
                <a:lnTo>
                  <a:pt x="266226" y="40519"/>
                </a:lnTo>
                <a:lnTo>
                  <a:pt x="240301" y="32868"/>
                </a:lnTo>
                <a:lnTo>
                  <a:pt x="214156" y="26003"/>
                </a:lnTo>
                <a:lnTo>
                  <a:pt x="187816" y="19932"/>
                </a:lnTo>
                <a:lnTo>
                  <a:pt x="161305" y="14658"/>
                </a:lnTo>
                <a:lnTo>
                  <a:pt x="134646" y="10188"/>
                </a:lnTo>
                <a:lnTo>
                  <a:pt x="107865" y="6525"/>
                </a:lnTo>
                <a:lnTo>
                  <a:pt x="80985" y="3672"/>
                </a:lnTo>
                <a:lnTo>
                  <a:pt x="54031" y="1633"/>
                </a:lnTo>
                <a:lnTo>
                  <a:pt x="27028" y="408"/>
                </a:lnTo>
                <a:lnTo>
                  <a:pt x="0" y="0"/>
                </a:lnTo>
                <a:close/>
              </a:path>
            </a:pathLst>
          </a:cu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028543" y="2554349"/>
            <a:ext cx="822960" cy="240791"/>
          </a:xfrm>
          <a:prstGeom prst="rect">
            <a:avLst/>
          </a:prstGeom>
          <a:noFill/>
        </p:spPr>
        <p:txBody>
          <a:bodyPr wrap="square" lIns="0" rIns="0" tIns="0" bIns="0" anchor="ctr">
            <a:spAutoFit/>
          </a:bodyPr>
          <a:lstStyle/>
          <a:p>
            <a:pPr algn="ctr"/>
            <a:r>
              <a:rPr sz="1200" b="1" i="0">
                <a:solidFill>
                  <a:srgbClr val="FFFFFF"/>
                </a:solidFill>
              </a:rPr>
              <a:t>23%</a:t>
            </a:r>
          </a:p>
        </p:txBody>
      </p:sp>
      <p:sp>
        <p:nvSpPr>
          <p:cNvPr id="21" name="TextBox 20"/>
          <p:cNvSpPr txBox="1"/>
          <p:nvPr/>
        </p:nvSpPr>
        <p:spPr>
          <a:xfrm>
            <a:off x="5059558" y="4214140"/>
            <a:ext cx="2072579" cy="384111"/>
          </a:xfrm>
          <a:prstGeom prst="rect">
            <a:avLst/>
          </a:prstGeom>
          <a:noFill/>
        </p:spPr>
        <p:txBody>
          <a:bodyPr wrap="square" lIns="0" rIns="0" tIns="0" bIns="0" anchor="ctr">
            <a:spAutoFit/>
          </a:bodyPr>
          <a:lstStyle/>
          <a:p>
            <a:pPr algn="ctr">
              <a:lnSpc>
                <a:spcPct val="125000"/>
              </a:lnSpc>
            </a:pPr>
            <a:r>
              <a:rPr sz="850" b="0" i="0">
                <a:solidFill>
                  <a:srgbClr val="8A8A8A"/>
                </a:solidFill>
              </a:rPr>
              <a:t>6 coded mentions</a:t>
            </a:r>
          </a:p>
          <a:p>
            <a:pPr algn="ctr">
              <a:lnSpc>
                <a:spcPct val="125000"/>
              </a:lnSpc>
            </a:pPr>
            <a:r>
              <a:rPr sz="850" b="0" i="0">
                <a:solidFill>
                  <a:srgbClr val="8A8A8A"/>
                </a:solidFill>
              </a:rPr>
              <a:t>split from 13 detected mentions across 9 respondents</a:t>
            </a:r>
          </a:p>
        </p:txBody>
      </p:sp>
      <p:sp>
        <p:nvSpPr>
          <p:cNvPr id="22" name="TextBox 21"/>
          <p:cNvSpPr txBox="1"/>
          <p:nvPr/>
        </p:nvSpPr>
        <p:spPr>
          <a:xfrm>
            <a:off x="7296729" y="1417320"/>
            <a:ext cx="2072579" cy="217551"/>
          </a:xfrm>
          <a:prstGeom prst="rect">
            <a:avLst/>
          </a:prstGeom>
          <a:noFill/>
        </p:spPr>
        <p:txBody>
          <a:bodyPr wrap="square" lIns="0" rIns="0" tIns="0" bIns="0" anchor="ctr">
            <a:spAutoFit/>
          </a:bodyPr>
          <a:lstStyle/>
          <a:p>
            <a:pPr algn="ctr"/>
            <a:r>
              <a:rPr sz="1050" b="1" i="0">
                <a:solidFill>
                  <a:srgbClr val="333333"/>
                </a:solidFill>
              </a:rPr>
              <a:t>B1  Limited instructional time and scheduling</a:t>
            </a:r>
          </a:p>
        </p:txBody>
      </p:sp>
      <p:sp>
        <p:nvSpPr>
          <p:cNvPr id="23" name="Freeform 22"/>
          <p:cNvSpPr/>
          <p:nvPr/>
        </p:nvSpPr>
        <p:spPr>
          <a:xfrm>
            <a:off x="7438629" y="2168371"/>
            <a:ext cx="1341823" cy="1789684"/>
          </a:xfrm>
          <a:custGeom>
            <a:avLst/>
            <a:gdLst/>
            <a:ahLst/>
            <a:cxnLst/>
            <a:rect l="l" t="t" r="r" b="b"/>
            <a:pathLst>
              <a:path w="1341823" h="1789684">
                <a:moveTo>
                  <a:pt x="894389" y="894869"/>
                </a:moveTo>
                <a:lnTo>
                  <a:pt x="894389" y="0"/>
                </a:lnTo>
                <a:lnTo>
                  <a:pt x="826125" y="2608"/>
                </a:lnTo>
                <a:lnTo>
                  <a:pt x="758259" y="10415"/>
                </a:lnTo>
                <a:lnTo>
                  <a:pt x="691186" y="23377"/>
                </a:lnTo>
                <a:lnTo>
                  <a:pt x="625297" y="41417"/>
                </a:lnTo>
                <a:lnTo>
                  <a:pt x="560976" y="64432"/>
                </a:lnTo>
                <a:lnTo>
                  <a:pt x="498599" y="92285"/>
                </a:lnTo>
                <a:lnTo>
                  <a:pt x="438528" y="124816"/>
                </a:lnTo>
                <a:lnTo>
                  <a:pt x="381114" y="161835"/>
                </a:lnTo>
                <a:lnTo>
                  <a:pt x="326691" y="203126"/>
                </a:lnTo>
                <a:lnTo>
                  <a:pt x="275576" y="248448"/>
                </a:lnTo>
                <a:lnTo>
                  <a:pt x="228068" y="297537"/>
                </a:lnTo>
                <a:lnTo>
                  <a:pt x="184442" y="350107"/>
                </a:lnTo>
                <a:lnTo>
                  <a:pt x="144954" y="405852"/>
                </a:lnTo>
                <a:lnTo>
                  <a:pt x="109834" y="464447"/>
                </a:lnTo>
                <a:lnTo>
                  <a:pt x="79286" y="525550"/>
                </a:lnTo>
                <a:lnTo>
                  <a:pt x="53488" y="588805"/>
                </a:lnTo>
                <a:lnTo>
                  <a:pt x="32590" y="653845"/>
                </a:lnTo>
                <a:lnTo>
                  <a:pt x="16715" y="720288"/>
                </a:lnTo>
                <a:lnTo>
                  <a:pt x="5955" y="787749"/>
                </a:lnTo>
                <a:lnTo>
                  <a:pt x="372" y="855835"/>
                </a:lnTo>
                <a:lnTo>
                  <a:pt x="0" y="924148"/>
                </a:lnTo>
                <a:lnTo>
                  <a:pt x="4840" y="992290"/>
                </a:lnTo>
                <a:lnTo>
                  <a:pt x="14863" y="1059865"/>
                </a:lnTo>
                <a:lnTo>
                  <a:pt x="30013" y="1126477"/>
                </a:lnTo>
                <a:lnTo>
                  <a:pt x="50199" y="1191741"/>
                </a:lnTo>
                <a:lnTo>
                  <a:pt x="75306" y="1255274"/>
                </a:lnTo>
                <a:lnTo>
                  <a:pt x="105186" y="1316707"/>
                </a:lnTo>
                <a:lnTo>
                  <a:pt x="139665" y="1375681"/>
                </a:lnTo>
                <a:lnTo>
                  <a:pt x="178542" y="1431853"/>
                </a:lnTo>
                <a:lnTo>
                  <a:pt x="221591" y="1484896"/>
                </a:lnTo>
                <a:lnTo>
                  <a:pt x="268562" y="1534501"/>
                </a:lnTo>
                <a:lnTo>
                  <a:pt x="319179" y="1580377"/>
                </a:lnTo>
                <a:lnTo>
                  <a:pt x="373148" y="1622259"/>
                </a:lnTo>
                <a:lnTo>
                  <a:pt x="430155" y="1659902"/>
                </a:lnTo>
                <a:lnTo>
                  <a:pt x="489868" y="1693087"/>
                </a:lnTo>
                <a:lnTo>
                  <a:pt x="551938" y="1721619"/>
                </a:lnTo>
                <a:lnTo>
                  <a:pt x="616004" y="1745334"/>
                </a:lnTo>
                <a:lnTo>
                  <a:pt x="681692" y="1764092"/>
                </a:lnTo>
                <a:lnTo>
                  <a:pt x="748619" y="1777784"/>
                </a:lnTo>
                <a:lnTo>
                  <a:pt x="816396" y="1786332"/>
                </a:lnTo>
                <a:lnTo>
                  <a:pt x="884628" y="1789684"/>
                </a:lnTo>
                <a:lnTo>
                  <a:pt x="952916" y="1787821"/>
                </a:lnTo>
                <a:lnTo>
                  <a:pt x="1020864" y="1780754"/>
                </a:lnTo>
                <a:lnTo>
                  <a:pt x="1088074" y="1768525"/>
                </a:lnTo>
                <a:lnTo>
                  <a:pt x="1154156" y="1751204"/>
                </a:lnTo>
                <a:lnTo>
                  <a:pt x="1218723" y="1728893"/>
                </a:lnTo>
                <a:lnTo>
                  <a:pt x="1281401" y="1701721"/>
                </a:lnTo>
                <a:lnTo>
                  <a:pt x="1341823" y="1669847"/>
                </a:lnTo>
                <a:close/>
              </a:path>
            </a:pathLst>
          </a:cu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20200" y="3077177"/>
            <a:ext cx="822960" cy="240791"/>
          </a:xfrm>
          <a:prstGeom prst="rect">
            <a:avLst/>
          </a:prstGeom>
          <a:noFill/>
        </p:spPr>
        <p:txBody>
          <a:bodyPr wrap="square" lIns="0" rIns="0" tIns="0" bIns="0" anchor="ctr">
            <a:spAutoFit/>
          </a:bodyPr>
          <a:lstStyle/>
          <a:p>
            <a:pPr algn="ctr"/>
            <a:r>
              <a:rPr sz="1200" b="1" i="0">
                <a:solidFill>
                  <a:srgbClr val="FFFFFF"/>
                </a:solidFill>
              </a:rPr>
              <a:t>58%</a:t>
            </a:r>
          </a:p>
        </p:txBody>
      </p:sp>
      <p:sp>
        <p:nvSpPr>
          <p:cNvPr id="25" name="Freeform 24"/>
          <p:cNvSpPr/>
          <p:nvPr/>
        </p:nvSpPr>
        <p:spPr>
          <a:xfrm>
            <a:off x="8333018" y="2168371"/>
            <a:ext cx="894815" cy="1669847"/>
          </a:xfrm>
          <a:custGeom>
            <a:avLst/>
            <a:gdLst/>
            <a:ahLst/>
            <a:cxnLst/>
            <a:rect l="l" t="t" r="r" b="b"/>
            <a:pathLst>
              <a:path w="894815" h="1669847">
                <a:moveTo>
                  <a:pt x="0" y="894869"/>
                </a:moveTo>
                <a:lnTo>
                  <a:pt x="447434" y="1669847"/>
                </a:lnTo>
                <a:lnTo>
                  <a:pt x="489017" y="1644303"/>
                </a:lnTo>
                <a:lnTo>
                  <a:pt x="529144" y="1616530"/>
                </a:lnTo>
                <a:lnTo>
                  <a:pt x="567699" y="1586611"/>
                </a:lnTo>
                <a:lnTo>
                  <a:pt x="604564" y="1554635"/>
                </a:lnTo>
                <a:lnTo>
                  <a:pt x="639632" y="1520696"/>
                </a:lnTo>
                <a:lnTo>
                  <a:pt x="672798" y="1484896"/>
                </a:lnTo>
                <a:lnTo>
                  <a:pt x="703962" y="1447342"/>
                </a:lnTo>
                <a:lnTo>
                  <a:pt x="733033" y="1408144"/>
                </a:lnTo>
                <a:lnTo>
                  <a:pt x="759924" y="1367420"/>
                </a:lnTo>
                <a:lnTo>
                  <a:pt x="784555" y="1325290"/>
                </a:lnTo>
                <a:lnTo>
                  <a:pt x="806853" y="1281880"/>
                </a:lnTo>
                <a:lnTo>
                  <a:pt x="826751" y="1237320"/>
                </a:lnTo>
                <a:lnTo>
                  <a:pt x="844190" y="1191741"/>
                </a:lnTo>
                <a:lnTo>
                  <a:pt x="859118" y="1145279"/>
                </a:lnTo>
                <a:lnTo>
                  <a:pt x="871492" y="1098072"/>
                </a:lnTo>
                <a:lnTo>
                  <a:pt x="881273" y="1050261"/>
                </a:lnTo>
                <a:lnTo>
                  <a:pt x="888434" y="1001988"/>
                </a:lnTo>
                <a:lnTo>
                  <a:pt x="892953" y="953396"/>
                </a:lnTo>
                <a:lnTo>
                  <a:pt x="894815" y="904630"/>
                </a:lnTo>
                <a:lnTo>
                  <a:pt x="894017" y="855835"/>
                </a:lnTo>
                <a:lnTo>
                  <a:pt x="890560" y="807156"/>
                </a:lnTo>
                <a:lnTo>
                  <a:pt x="884454" y="758738"/>
                </a:lnTo>
                <a:lnTo>
                  <a:pt x="875717" y="710725"/>
                </a:lnTo>
                <a:lnTo>
                  <a:pt x="864377" y="663260"/>
                </a:lnTo>
                <a:lnTo>
                  <a:pt x="850465" y="616483"/>
                </a:lnTo>
                <a:lnTo>
                  <a:pt x="834025" y="570534"/>
                </a:lnTo>
                <a:lnTo>
                  <a:pt x="815103" y="525550"/>
                </a:lnTo>
                <a:lnTo>
                  <a:pt x="793758" y="481664"/>
                </a:lnTo>
                <a:lnTo>
                  <a:pt x="770052" y="439007"/>
                </a:lnTo>
                <a:lnTo>
                  <a:pt x="744056" y="397706"/>
                </a:lnTo>
                <a:lnTo>
                  <a:pt x="715847" y="357884"/>
                </a:lnTo>
                <a:lnTo>
                  <a:pt x="685509" y="319658"/>
                </a:lnTo>
                <a:lnTo>
                  <a:pt x="653132" y="283143"/>
                </a:lnTo>
                <a:lnTo>
                  <a:pt x="618813" y="248448"/>
                </a:lnTo>
                <a:lnTo>
                  <a:pt x="582654" y="215675"/>
                </a:lnTo>
                <a:lnTo>
                  <a:pt x="544762" y="184922"/>
                </a:lnTo>
                <a:lnTo>
                  <a:pt x="505249" y="156280"/>
                </a:lnTo>
                <a:lnTo>
                  <a:pt x="464234" y="129835"/>
                </a:lnTo>
                <a:lnTo>
                  <a:pt x="421838" y="105665"/>
                </a:lnTo>
                <a:lnTo>
                  <a:pt x="378188" y="83842"/>
                </a:lnTo>
                <a:lnTo>
                  <a:pt x="333413" y="64432"/>
                </a:lnTo>
                <a:lnTo>
                  <a:pt x="287646" y="47491"/>
                </a:lnTo>
                <a:lnTo>
                  <a:pt x="241024" y="33070"/>
                </a:lnTo>
                <a:lnTo>
                  <a:pt x="193685" y="21212"/>
                </a:lnTo>
                <a:lnTo>
                  <a:pt x="145770" y="11953"/>
                </a:lnTo>
                <a:lnTo>
                  <a:pt x="97422" y="5319"/>
                </a:lnTo>
                <a:lnTo>
                  <a:pt x="48783" y="1331"/>
                </a:lnTo>
                <a:lnTo>
                  <a:pt x="0" y="0"/>
                </a:lnTo>
                <a:close/>
              </a:path>
            </a:pathLst>
          </a:cu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22877" y="2808510"/>
            <a:ext cx="822960" cy="240791"/>
          </a:xfrm>
          <a:prstGeom prst="rect">
            <a:avLst/>
          </a:prstGeom>
          <a:noFill/>
        </p:spPr>
        <p:txBody>
          <a:bodyPr wrap="square" lIns="0" rIns="0" tIns="0" bIns="0" anchor="ctr">
            <a:spAutoFit/>
          </a:bodyPr>
          <a:lstStyle/>
          <a:p>
            <a:pPr algn="ctr"/>
            <a:r>
              <a:rPr sz="1200" b="1" i="0">
                <a:solidFill>
                  <a:srgbClr val="FFFFFF"/>
                </a:solidFill>
              </a:rPr>
              <a:t>42%</a:t>
            </a:r>
          </a:p>
        </p:txBody>
      </p:sp>
      <p:sp>
        <p:nvSpPr>
          <p:cNvPr id="27" name="TextBox 26"/>
          <p:cNvSpPr txBox="1"/>
          <p:nvPr/>
        </p:nvSpPr>
        <p:spPr>
          <a:xfrm>
            <a:off x="7296729" y="4214140"/>
            <a:ext cx="2072579" cy="384111"/>
          </a:xfrm>
          <a:prstGeom prst="rect">
            <a:avLst/>
          </a:prstGeom>
          <a:noFill/>
        </p:spPr>
        <p:txBody>
          <a:bodyPr wrap="square" lIns="0" rIns="0" tIns="0" bIns="0" anchor="ctr">
            <a:spAutoFit/>
          </a:bodyPr>
          <a:lstStyle/>
          <a:p>
            <a:pPr algn="ctr">
              <a:lnSpc>
                <a:spcPct val="125000"/>
              </a:lnSpc>
            </a:pPr>
            <a:r>
              <a:rPr sz="850" b="0" i="0">
                <a:solidFill>
                  <a:srgbClr val="8A8A8A"/>
                </a:solidFill>
              </a:rPr>
              <a:t>11 coded mentions</a:t>
            </a:r>
          </a:p>
          <a:p>
            <a:pPr algn="ctr">
              <a:lnSpc>
                <a:spcPct val="125000"/>
              </a:lnSpc>
            </a:pPr>
            <a:r>
              <a:rPr sz="850" b="0" i="0">
                <a:solidFill>
                  <a:srgbClr val="8A8A8A"/>
                </a:solidFill>
              </a:rPr>
              <a:t>split from 36 detected mentions across 22 respondents</a:t>
            </a:r>
          </a:p>
        </p:txBody>
      </p:sp>
      <p:sp>
        <p:nvSpPr>
          <p:cNvPr id="28" name="TextBox 27"/>
          <p:cNvSpPr txBox="1"/>
          <p:nvPr/>
        </p:nvSpPr>
        <p:spPr>
          <a:xfrm>
            <a:off x="9533900" y="1417320"/>
            <a:ext cx="2072579" cy="217551"/>
          </a:xfrm>
          <a:prstGeom prst="rect">
            <a:avLst/>
          </a:prstGeom>
          <a:noFill/>
        </p:spPr>
        <p:txBody>
          <a:bodyPr wrap="square" lIns="0" rIns="0" tIns="0" bIns="0" anchor="ctr">
            <a:spAutoFit/>
          </a:bodyPr>
          <a:lstStyle/>
          <a:p>
            <a:pPr algn="ctr"/>
            <a:r>
              <a:rPr sz="1050" b="1" i="0">
                <a:solidFill>
                  <a:srgbClr val="333333"/>
                </a:solidFill>
              </a:rPr>
              <a:t>B3  Program discovery and registration friction</a:t>
            </a:r>
          </a:p>
        </p:txBody>
      </p:sp>
      <p:sp>
        <p:nvSpPr>
          <p:cNvPr id="29" name="Freeform 28"/>
          <p:cNvSpPr/>
          <p:nvPr/>
        </p:nvSpPr>
        <p:spPr>
          <a:xfrm>
            <a:off x="9675661" y="2168371"/>
            <a:ext cx="1786340" cy="1788972"/>
          </a:xfrm>
          <a:custGeom>
            <a:avLst/>
            <a:gdLst/>
            <a:ahLst/>
            <a:cxnLst/>
            <a:rect l="l" t="t" r="r" b="b"/>
            <a:pathLst>
              <a:path w="1786340" h="1788972">
                <a:moveTo>
                  <a:pt x="894528" y="894869"/>
                </a:moveTo>
                <a:lnTo>
                  <a:pt x="894528" y="0"/>
                </a:lnTo>
                <a:lnTo>
                  <a:pt x="808350" y="4159"/>
                </a:lnTo>
                <a:lnTo>
                  <a:pt x="722972" y="16599"/>
                </a:lnTo>
                <a:lnTo>
                  <a:pt x="639190" y="37202"/>
                </a:lnTo>
                <a:lnTo>
                  <a:pt x="557781" y="65778"/>
                </a:lnTo>
                <a:lnTo>
                  <a:pt x="479502" y="102062"/>
                </a:lnTo>
                <a:lnTo>
                  <a:pt x="405082" y="145715"/>
                </a:lnTo>
                <a:lnTo>
                  <a:pt x="335211" y="196332"/>
                </a:lnTo>
                <a:lnTo>
                  <a:pt x="270539" y="253442"/>
                </a:lnTo>
                <a:lnTo>
                  <a:pt x="211668" y="316516"/>
                </a:lnTo>
                <a:lnTo>
                  <a:pt x="159145" y="384965"/>
                </a:lnTo>
                <a:lnTo>
                  <a:pt x="113458" y="458155"/>
                </a:lnTo>
                <a:lnTo>
                  <a:pt x="75032" y="535404"/>
                </a:lnTo>
                <a:lnTo>
                  <a:pt x="44223" y="615995"/>
                </a:lnTo>
                <a:lnTo>
                  <a:pt x="21319" y="699178"/>
                </a:lnTo>
                <a:lnTo>
                  <a:pt x="6532" y="784180"/>
                </a:lnTo>
                <a:lnTo>
                  <a:pt x="0" y="870211"/>
                </a:lnTo>
                <a:lnTo>
                  <a:pt x="1783" y="956471"/>
                </a:lnTo>
                <a:lnTo>
                  <a:pt x="11865" y="1042159"/>
                </a:lnTo>
                <a:lnTo>
                  <a:pt x="30152" y="1126477"/>
                </a:lnTo>
                <a:lnTo>
                  <a:pt x="56474" y="1208643"/>
                </a:lnTo>
                <a:lnTo>
                  <a:pt x="90586" y="1287892"/>
                </a:lnTo>
                <a:lnTo>
                  <a:pt x="132172" y="1363487"/>
                </a:lnTo>
                <a:lnTo>
                  <a:pt x="180845" y="1434726"/>
                </a:lnTo>
                <a:lnTo>
                  <a:pt x="236152" y="1500946"/>
                </a:lnTo>
                <a:lnTo>
                  <a:pt x="297579" y="1561533"/>
                </a:lnTo>
                <a:lnTo>
                  <a:pt x="364556" y="1615922"/>
                </a:lnTo>
                <a:lnTo>
                  <a:pt x="436458" y="1663609"/>
                </a:lnTo>
                <a:lnTo>
                  <a:pt x="512619" y="1704149"/>
                </a:lnTo>
                <a:lnTo>
                  <a:pt x="592331" y="1737167"/>
                </a:lnTo>
                <a:lnTo>
                  <a:pt x="674851" y="1762354"/>
                </a:lnTo>
                <a:lnTo>
                  <a:pt x="759413" y="1779478"/>
                </a:lnTo>
                <a:lnTo>
                  <a:pt x="845232" y="1788378"/>
                </a:lnTo>
                <a:lnTo>
                  <a:pt x="931509" y="1788972"/>
                </a:lnTo>
                <a:lnTo>
                  <a:pt x="1017442" y="1781255"/>
                </a:lnTo>
                <a:lnTo>
                  <a:pt x="1102232" y="1765299"/>
                </a:lnTo>
                <a:lnTo>
                  <a:pt x="1185091" y="1741250"/>
                </a:lnTo>
                <a:lnTo>
                  <a:pt x="1265250" y="1709334"/>
                </a:lnTo>
                <a:lnTo>
                  <a:pt x="1341962" y="1669847"/>
                </a:lnTo>
                <a:lnTo>
                  <a:pt x="1414515" y="1623156"/>
                </a:lnTo>
                <a:lnTo>
                  <a:pt x="1482235" y="1569695"/>
                </a:lnTo>
                <a:lnTo>
                  <a:pt x="1544491" y="1509960"/>
                </a:lnTo>
                <a:lnTo>
                  <a:pt x="1600705" y="1444508"/>
                </a:lnTo>
                <a:lnTo>
                  <a:pt x="1650355" y="1373946"/>
                </a:lnTo>
                <a:lnTo>
                  <a:pt x="1692978" y="1298931"/>
                </a:lnTo>
                <a:lnTo>
                  <a:pt x="1728180" y="1220160"/>
                </a:lnTo>
                <a:lnTo>
                  <a:pt x="1755631" y="1138365"/>
                </a:lnTo>
                <a:lnTo>
                  <a:pt x="1775079" y="1054307"/>
                </a:lnTo>
                <a:lnTo>
                  <a:pt x="1786340" y="968766"/>
                </a:lnTo>
                <a:close/>
              </a:path>
            </a:pathLst>
          </a:cu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776851" y="3294369"/>
            <a:ext cx="822960" cy="240791"/>
          </a:xfrm>
          <a:prstGeom prst="rect">
            <a:avLst/>
          </a:prstGeom>
          <a:noFill/>
        </p:spPr>
        <p:txBody>
          <a:bodyPr wrap="square" lIns="0" rIns="0" tIns="0" bIns="0" anchor="ctr">
            <a:spAutoFit/>
          </a:bodyPr>
          <a:lstStyle/>
          <a:p>
            <a:pPr algn="ctr"/>
            <a:r>
              <a:rPr sz="1200" b="1" i="0">
                <a:solidFill>
                  <a:srgbClr val="FFFFFF"/>
                </a:solidFill>
              </a:rPr>
              <a:t>74%</a:t>
            </a:r>
          </a:p>
        </p:txBody>
      </p:sp>
      <p:sp>
        <p:nvSpPr>
          <p:cNvPr id="31" name="Freeform 30"/>
          <p:cNvSpPr/>
          <p:nvPr/>
        </p:nvSpPr>
        <p:spPr>
          <a:xfrm>
            <a:off x="10570189" y="2168371"/>
            <a:ext cx="894784" cy="968766"/>
          </a:xfrm>
          <a:custGeom>
            <a:avLst/>
            <a:gdLst/>
            <a:ahLst/>
            <a:cxnLst/>
            <a:rect l="l" t="t" r="r" b="b"/>
            <a:pathLst>
              <a:path w="894784" h="968766">
                <a:moveTo>
                  <a:pt x="0" y="894869"/>
                </a:moveTo>
                <a:lnTo>
                  <a:pt x="891812" y="968766"/>
                </a:lnTo>
                <a:lnTo>
                  <a:pt x="893828" y="938008"/>
                </a:lnTo>
                <a:lnTo>
                  <a:pt x="894784" y="907198"/>
                </a:lnTo>
                <a:lnTo>
                  <a:pt x="894677" y="876374"/>
                </a:lnTo>
                <a:lnTo>
                  <a:pt x="893510" y="845572"/>
                </a:lnTo>
                <a:lnTo>
                  <a:pt x="891282" y="814829"/>
                </a:lnTo>
                <a:lnTo>
                  <a:pt x="887997" y="784180"/>
                </a:lnTo>
                <a:lnTo>
                  <a:pt x="883658" y="753663"/>
                </a:lnTo>
                <a:lnTo>
                  <a:pt x="878270" y="723313"/>
                </a:lnTo>
                <a:lnTo>
                  <a:pt x="871841" y="693166"/>
                </a:lnTo>
                <a:lnTo>
                  <a:pt x="864377" y="663260"/>
                </a:lnTo>
                <a:lnTo>
                  <a:pt x="855887" y="633627"/>
                </a:lnTo>
                <a:lnTo>
                  <a:pt x="846382" y="604305"/>
                </a:lnTo>
                <a:lnTo>
                  <a:pt x="835873" y="575328"/>
                </a:lnTo>
                <a:lnTo>
                  <a:pt x="824372" y="546729"/>
                </a:lnTo>
                <a:lnTo>
                  <a:pt x="811893" y="518544"/>
                </a:lnTo>
                <a:lnTo>
                  <a:pt x="798450" y="490806"/>
                </a:lnTo>
                <a:lnTo>
                  <a:pt x="784061" y="463546"/>
                </a:lnTo>
                <a:lnTo>
                  <a:pt x="768740" y="436799"/>
                </a:lnTo>
                <a:lnTo>
                  <a:pt x="752508" y="410595"/>
                </a:lnTo>
                <a:lnTo>
                  <a:pt x="735383" y="384965"/>
                </a:lnTo>
                <a:lnTo>
                  <a:pt x="717386" y="359941"/>
                </a:lnTo>
                <a:lnTo>
                  <a:pt x="698537" y="335551"/>
                </a:lnTo>
                <a:lnTo>
                  <a:pt x="678859" y="311825"/>
                </a:lnTo>
                <a:lnTo>
                  <a:pt x="658376" y="288791"/>
                </a:lnTo>
                <a:lnTo>
                  <a:pt x="637112" y="266475"/>
                </a:lnTo>
                <a:lnTo>
                  <a:pt x="615092" y="244906"/>
                </a:lnTo>
                <a:lnTo>
                  <a:pt x="592342" y="224107"/>
                </a:lnTo>
                <a:lnTo>
                  <a:pt x="568889" y="204105"/>
                </a:lnTo>
                <a:lnTo>
                  <a:pt x="544762" y="184922"/>
                </a:lnTo>
                <a:lnTo>
                  <a:pt x="519987" y="166581"/>
                </a:lnTo>
                <a:lnTo>
                  <a:pt x="494596" y="149104"/>
                </a:lnTo>
                <a:lnTo>
                  <a:pt x="468619" y="132513"/>
                </a:lnTo>
                <a:lnTo>
                  <a:pt x="442085" y="116826"/>
                </a:lnTo>
                <a:lnTo>
                  <a:pt x="415026" y="102062"/>
                </a:lnTo>
                <a:lnTo>
                  <a:pt x="387475" y="88238"/>
                </a:lnTo>
                <a:lnTo>
                  <a:pt x="359465" y="75372"/>
                </a:lnTo>
                <a:lnTo>
                  <a:pt x="331028" y="63478"/>
                </a:lnTo>
                <a:lnTo>
                  <a:pt x="302198" y="52570"/>
                </a:lnTo>
                <a:lnTo>
                  <a:pt x="273009" y="42662"/>
                </a:lnTo>
                <a:lnTo>
                  <a:pt x="243497" y="33765"/>
                </a:lnTo>
                <a:lnTo>
                  <a:pt x="213696" y="25890"/>
                </a:lnTo>
                <a:lnTo>
                  <a:pt x="183641" y="19046"/>
                </a:lnTo>
                <a:lnTo>
                  <a:pt x="153368" y="13241"/>
                </a:lnTo>
                <a:lnTo>
                  <a:pt x="122914" y="8482"/>
                </a:lnTo>
                <a:lnTo>
                  <a:pt x="92313" y="4774"/>
                </a:lnTo>
                <a:lnTo>
                  <a:pt x="61603" y="2123"/>
                </a:lnTo>
                <a:lnTo>
                  <a:pt x="30820" y="531"/>
                </a:lnTo>
                <a:lnTo>
                  <a:pt x="0" y="0"/>
                </a:lnTo>
                <a:close/>
              </a:path>
            </a:pathLst>
          </a:cu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540567" y="2591318"/>
            <a:ext cx="822960" cy="240791"/>
          </a:xfrm>
          <a:prstGeom prst="rect">
            <a:avLst/>
          </a:prstGeom>
          <a:noFill/>
        </p:spPr>
        <p:txBody>
          <a:bodyPr wrap="square" lIns="0" rIns="0" tIns="0" bIns="0" anchor="ctr">
            <a:spAutoFit/>
          </a:bodyPr>
          <a:lstStyle/>
          <a:p>
            <a:pPr algn="ctr"/>
            <a:r>
              <a:rPr sz="1200" b="1" i="0">
                <a:solidFill>
                  <a:srgbClr val="FFFFFF"/>
                </a:solidFill>
              </a:rPr>
              <a:t>26%</a:t>
            </a:r>
          </a:p>
        </p:txBody>
      </p:sp>
      <p:sp>
        <p:nvSpPr>
          <p:cNvPr id="33" name="TextBox 32"/>
          <p:cNvSpPr txBox="1"/>
          <p:nvPr/>
        </p:nvSpPr>
        <p:spPr>
          <a:xfrm>
            <a:off x="9533900" y="4214140"/>
            <a:ext cx="2072579" cy="384111"/>
          </a:xfrm>
          <a:prstGeom prst="rect">
            <a:avLst/>
          </a:prstGeom>
          <a:noFill/>
        </p:spPr>
        <p:txBody>
          <a:bodyPr wrap="square" lIns="0" rIns="0" tIns="0" bIns="0" anchor="ctr">
            <a:spAutoFit/>
          </a:bodyPr>
          <a:lstStyle/>
          <a:p>
            <a:pPr algn="ctr">
              <a:lnSpc>
                <a:spcPct val="125000"/>
              </a:lnSpc>
            </a:pPr>
            <a:r>
              <a:rPr sz="850" b="0" i="0">
                <a:solidFill>
                  <a:srgbClr val="8A8A8A"/>
                </a:solidFill>
              </a:rPr>
              <a:t>8 coded mentions</a:t>
            </a:r>
          </a:p>
          <a:p>
            <a:pPr algn="ctr">
              <a:lnSpc>
                <a:spcPct val="125000"/>
              </a:lnSpc>
            </a:pPr>
            <a:r>
              <a:rPr sz="850" b="0" i="0">
                <a:solidFill>
                  <a:srgbClr val="8A8A8A"/>
                </a:solidFill>
              </a:rPr>
              <a:t>split from 38 detected mentions across 21 respondents</a:t>
            </a:r>
          </a:p>
        </p:txBody>
      </p:sp>
      <p:sp>
        <p:nvSpPr>
          <p:cNvPr id="34" name="Rectangle 33"/>
          <p:cNvSpPr/>
          <p:nvPr/>
        </p:nvSpPr>
        <p:spPr>
          <a:xfrm>
            <a:off x="502920" y="5934456"/>
            <a:ext cx="11185855" cy="18288"/>
          </a:xfrm>
          <a:prstGeom prst="rect">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502920" y="6190488"/>
            <a:ext cx="182880" cy="182880"/>
          </a:xfrm>
          <a:prstGeom prst="ellipse">
            <a:avLst/>
          </a:prstGeom>
          <a:solidFill>
            <a:srgbClr val="3C9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6177026"/>
            <a:ext cx="2468880" cy="209804"/>
          </a:xfrm>
          <a:prstGeom prst="rect">
            <a:avLst/>
          </a:prstGeom>
          <a:noFill/>
        </p:spPr>
        <p:txBody>
          <a:bodyPr wrap="square" lIns="0" rIns="0" tIns="0" bIns="0" anchor="ctr">
            <a:spAutoFit/>
          </a:bodyPr>
          <a:lstStyle/>
          <a:p>
            <a:pPr algn="l"/>
            <a:r>
              <a:rPr sz="1000" b="0" i="0">
                <a:solidFill>
                  <a:srgbClr val="333333"/>
                </a:solidFill>
              </a:rPr>
              <a:t>Established Supporters</a:t>
            </a:r>
          </a:p>
        </p:txBody>
      </p:sp>
      <p:sp>
        <p:nvSpPr>
          <p:cNvPr id="37" name="Oval 36"/>
          <p:cNvSpPr/>
          <p:nvPr/>
        </p:nvSpPr>
        <p:spPr>
          <a:xfrm>
            <a:off x="3429000" y="6190488"/>
            <a:ext cx="182880" cy="182880"/>
          </a:xfrm>
          <a:prstGeom prst="ellipse">
            <a:avLst/>
          </a:prstGeom>
          <a:solidFill>
            <a:srgbClr val="4C8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703320" y="6177026"/>
            <a:ext cx="2468880" cy="209804"/>
          </a:xfrm>
          <a:prstGeom prst="rect">
            <a:avLst/>
          </a:prstGeom>
          <a:noFill/>
        </p:spPr>
        <p:txBody>
          <a:bodyPr wrap="square" lIns="0" rIns="0" tIns="0" bIns="0" anchor="ctr">
            <a:spAutoFit/>
          </a:bodyPr>
          <a:lstStyle/>
          <a:p>
            <a:pPr algn="l"/>
            <a:r>
              <a:rPr sz="1000" b="0" i="0">
                <a:solidFill>
                  <a:srgbClr val="333333"/>
                </a:solidFill>
              </a:rPr>
              <a:t>Potential Adopters</a:t>
            </a:r>
          </a:p>
        </p:txBody>
      </p:sp>
      <p:sp>
        <p:nvSpPr>
          <p:cNvPr id="39" name="TextBox 38"/>
          <p:cNvSpPr txBox="1"/>
          <p:nvPr/>
        </p:nvSpPr>
        <p:spPr>
          <a:xfrm>
            <a:off x="6933895" y="6188646"/>
            <a:ext cx="4754880" cy="186563"/>
          </a:xfrm>
          <a:prstGeom prst="rect">
            <a:avLst/>
          </a:prstGeom>
          <a:noFill/>
        </p:spPr>
        <p:txBody>
          <a:bodyPr wrap="square" lIns="0" rIns="0" tIns="0" bIns="0" anchor="ctr">
            <a:spAutoFit/>
          </a:bodyPr>
          <a:lstStyle/>
          <a:p>
            <a:pPr algn="r"/>
            <a:r>
              <a:rPr sz="850" b="0" i="1">
                <a:solidFill>
                  <a:srgbClr val="8A8A8A"/>
                </a:solidFill>
              </a:rPr>
              <a:t>Attribution comes from the interview text; the coded frequency does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3657600" cy="171069"/>
          </a:xfrm>
          <a:prstGeom prst="rect">
            <a:avLst/>
          </a:prstGeom>
          <a:noFill/>
        </p:spPr>
        <p:txBody>
          <a:bodyPr wrap="square" lIns="0" rIns="0" tIns="0" bIns="0" anchor="ctr">
            <a:spAutoFit/>
          </a:bodyPr>
          <a:lstStyle/>
          <a:p>
            <a:pPr algn="l"/>
            <a:r>
              <a:rPr sz="750" b="1" i="0">
                <a:solidFill>
                  <a:srgbClr val="7A2E9F"/>
                </a:solidFill>
              </a:rPr>
              <a:t>O P P O R T U N I T Y   T H E M E S</a:t>
            </a:r>
          </a:p>
        </p:txBody>
      </p:sp>
      <p:sp>
        <p:nvSpPr>
          <p:cNvPr id="3" name="TextBox 2"/>
          <p:cNvSpPr txBox="1"/>
          <p:nvPr/>
        </p:nvSpPr>
        <p:spPr>
          <a:xfrm>
            <a:off x="502920" y="402336"/>
            <a:ext cx="7315200" cy="457708"/>
          </a:xfrm>
          <a:prstGeom prst="rect">
            <a:avLst/>
          </a:prstGeom>
          <a:noFill/>
        </p:spPr>
        <p:txBody>
          <a:bodyPr wrap="square" lIns="0" rIns="0" tIns="0" bIns="0" anchor="ctr">
            <a:spAutoFit/>
          </a:bodyPr>
          <a:lstStyle/>
          <a:p>
            <a:pPr algn="l"/>
            <a:r>
              <a:rPr sz="2600" b="1" i="0">
                <a:solidFill>
                  <a:srgbClr val="1A1A1A"/>
                </a:solidFill>
              </a:rPr>
              <a:t>Prioritizing Opportunities</a:t>
            </a:r>
          </a:p>
        </p:txBody>
      </p:sp>
      <p:sp>
        <p:nvSpPr>
          <p:cNvPr id="4" name="TextBox 3"/>
          <p:cNvSpPr txBox="1"/>
          <p:nvPr/>
        </p:nvSpPr>
        <p:spPr>
          <a:xfrm>
            <a:off x="502920" y="914400"/>
            <a:ext cx="10058400" cy="253574"/>
          </a:xfrm>
          <a:prstGeom prst="rect">
            <a:avLst/>
          </a:prstGeom>
          <a:noFill/>
        </p:spPr>
        <p:txBody>
          <a:bodyPr wrap="square" lIns="0" rIns="0" tIns="0" bIns="0" anchor="ctr">
            <a:spAutoFit/>
          </a:bodyPr>
          <a:lstStyle/>
          <a:p>
            <a:pPr algn="l">
              <a:lnSpc>
                <a:spcPct val="135000"/>
              </a:lnSpc>
            </a:pPr>
            <a:r>
              <a:rPr sz="950" b="0" i="0">
                <a:solidFill>
                  <a:srgbClr val="666666"/>
                </a:solidFill>
              </a:rPr>
              <a:t>We have used the below framework to prioritize opportunities, basis how many educators raised the theme (value) and how hard the change is for JABC to make (difficulty). Bubble size is the number of people who raised it.</a:t>
            </a:r>
          </a:p>
        </p:txBody>
      </p:sp>
      <p:sp>
        <p:nvSpPr>
          <p:cNvPr id="5" name="Rectangle 4"/>
          <p:cNvSpPr/>
          <p:nvPr/>
        </p:nvSpPr>
        <p:spPr>
          <a:xfrm>
            <a:off x="1417320" y="1691640"/>
            <a:ext cx="7269480" cy="3794760"/>
          </a:xfrm>
          <a:prstGeom prst="rect">
            <a:avLst/>
          </a:prstGeom>
          <a:noFill/>
          <a:ln w="13970">
            <a:solidFill>
              <a:srgbClr val="E3D6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052060" y="1691640"/>
            <a:ext cx="0" cy="3794760"/>
          </a:xfrm>
          <a:prstGeom prst="line">
            <a:avLst/>
          </a:prstGeom>
          <a:ln w="13970">
            <a:solidFill>
              <a:srgbClr val="E3D6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417320" y="3589020"/>
            <a:ext cx="7269480" cy="0"/>
          </a:xfrm>
          <a:prstGeom prst="line">
            <a:avLst/>
          </a:prstGeom>
          <a:ln w="13970">
            <a:solidFill>
              <a:srgbClr val="E3D6F0"/>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52060" y="3589020"/>
            <a:ext cx="3634740" cy="1897380"/>
          </a:xfrm>
          <a:prstGeom prst="rect">
            <a:avLst/>
          </a:prstGeom>
          <a:solidFill>
            <a:srgbClr val="EFD9FF"/>
          </a:solidFill>
          <a:ln w="22860">
            <a:solidFill>
              <a:srgbClr val="950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547132" y="1805482"/>
            <a:ext cx="1463040" cy="271780"/>
          </a:xfrm>
          <a:prstGeom prst="rect">
            <a:avLst/>
          </a:prstGeom>
          <a:noFill/>
        </p:spPr>
        <p:txBody>
          <a:bodyPr wrap="square" lIns="0" rIns="0" tIns="0" bIns="0" anchor="ctr">
            <a:spAutoFit/>
          </a:bodyPr>
          <a:lstStyle/>
          <a:p>
            <a:pPr algn="l"/>
            <a:r>
              <a:rPr sz="1400" b="1" i="0">
                <a:solidFill>
                  <a:srgbClr val="E3D6F0"/>
                </a:solidFill>
              </a:rPr>
              <a:t>Avoid</a:t>
            </a:r>
          </a:p>
        </p:txBody>
      </p:sp>
      <p:sp>
        <p:nvSpPr>
          <p:cNvPr id="10" name="TextBox 9"/>
          <p:cNvSpPr txBox="1"/>
          <p:nvPr/>
        </p:nvSpPr>
        <p:spPr>
          <a:xfrm>
            <a:off x="7093947" y="1805482"/>
            <a:ext cx="1463040" cy="271780"/>
          </a:xfrm>
          <a:prstGeom prst="rect">
            <a:avLst/>
          </a:prstGeom>
          <a:noFill/>
        </p:spPr>
        <p:txBody>
          <a:bodyPr wrap="square" lIns="0" rIns="0" tIns="0" bIns="0" anchor="ctr">
            <a:spAutoFit/>
          </a:bodyPr>
          <a:lstStyle/>
          <a:p>
            <a:pPr algn="r"/>
            <a:r>
              <a:rPr sz="1400" b="1" i="0">
                <a:solidFill>
                  <a:srgbClr val="BC8CDD"/>
                </a:solidFill>
              </a:rPr>
              <a:t>Consider</a:t>
            </a:r>
          </a:p>
        </p:txBody>
      </p:sp>
      <p:sp>
        <p:nvSpPr>
          <p:cNvPr id="11" name="TextBox 10"/>
          <p:cNvSpPr txBox="1"/>
          <p:nvPr/>
        </p:nvSpPr>
        <p:spPr>
          <a:xfrm>
            <a:off x="1547132" y="5100777"/>
            <a:ext cx="1463040" cy="271780"/>
          </a:xfrm>
          <a:prstGeom prst="rect">
            <a:avLst/>
          </a:prstGeom>
          <a:noFill/>
        </p:spPr>
        <p:txBody>
          <a:bodyPr wrap="square" lIns="0" rIns="0" tIns="0" bIns="0" anchor="ctr">
            <a:spAutoFit/>
          </a:bodyPr>
          <a:lstStyle/>
          <a:p>
            <a:pPr algn="l"/>
            <a:r>
              <a:rPr sz="1400" b="1" i="0">
                <a:solidFill>
                  <a:srgbClr val="BC8CDD"/>
                </a:solidFill>
              </a:rPr>
              <a:t>Investigate</a:t>
            </a:r>
          </a:p>
        </p:txBody>
      </p:sp>
      <p:sp>
        <p:nvSpPr>
          <p:cNvPr id="12" name="TextBox 11"/>
          <p:cNvSpPr txBox="1"/>
          <p:nvPr/>
        </p:nvSpPr>
        <p:spPr>
          <a:xfrm>
            <a:off x="7093947" y="5100777"/>
            <a:ext cx="1463040" cy="271780"/>
          </a:xfrm>
          <a:prstGeom prst="rect">
            <a:avLst/>
          </a:prstGeom>
          <a:noFill/>
        </p:spPr>
        <p:txBody>
          <a:bodyPr wrap="square" lIns="0" rIns="0" tIns="0" bIns="0" anchor="ctr">
            <a:spAutoFit/>
          </a:bodyPr>
          <a:lstStyle/>
          <a:p>
            <a:pPr algn="r"/>
            <a:r>
              <a:rPr sz="1400" b="1" i="0">
                <a:solidFill>
                  <a:srgbClr val="9509E5"/>
                </a:solidFill>
              </a:rPr>
              <a:t>Prioritise</a:t>
            </a:r>
          </a:p>
        </p:txBody>
      </p:sp>
      <p:sp>
        <p:nvSpPr>
          <p:cNvPr id="13" name="TextBox 12"/>
          <p:cNvSpPr txBox="1"/>
          <p:nvPr/>
        </p:nvSpPr>
        <p:spPr>
          <a:xfrm>
            <a:off x="4091940" y="1326832"/>
            <a:ext cx="1920240" cy="217551"/>
          </a:xfrm>
          <a:prstGeom prst="rect">
            <a:avLst/>
          </a:prstGeom>
          <a:noFill/>
        </p:spPr>
        <p:txBody>
          <a:bodyPr wrap="square" lIns="0" rIns="0" tIns="0" bIns="0" anchor="ctr">
            <a:spAutoFit/>
          </a:bodyPr>
          <a:lstStyle/>
          <a:p>
            <a:pPr algn="ctr"/>
            <a:r>
              <a:rPr sz="1050" b="1" i="0">
                <a:solidFill>
                  <a:srgbClr val="1A1A1A"/>
                </a:solidFill>
              </a:rPr>
              <a:t>Relative Value</a:t>
            </a:r>
          </a:p>
        </p:txBody>
      </p:sp>
      <p:sp>
        <p:nvSpPr>
          <p:cNvPr id="14" name="TextBox 13"/>
          <p:cNvSpPr txBox="1"/>
          <p:nvPr/>
        </p:nvSpPr>
        <p:spPr>
          <a:xfrm>
            <a:off x="3698748" y="1326832"/>
            <a:ext cx="640080" cy="217551"/>
          </a:xfrm>
          <a:prstGeom prst="rect">
            <a:avLst/>
          </a:prstGeom>
          <a:noFill/>
        </p:spPr>
        <p:txBody>
          <a:bodyPr wrap="square" lIns="0" rIns="0" tIns="0" bIns="0" anchor="ctr">
            <a:spAutoFit/>
          </a:bodyPr>
          <a:lstStyle/>
          <a:p>
            <a:pPr algn="r"/>
            <a:r>
              <a:rPr sz="1050" b="0" i="0">
                <a:solidFill>
                  <a:srgbClr val="1A1A1A"/>
                </a:solidFill>
              </a:rPr>
              <a:t>Low–</a:t>
            </a:r>
          </a:p>
        </p:txBody>
      </p:sp>
      <p:sp>
        <p:nvSpPr>
          <p:cNvPr id="15" name="TextBox 14"/>
          <p:cNvSpPr txBox="1"/>
          <p:nvPr/>
        </p:nvSpPr>
        <p:spPr>
          <a:xfrm>
            <a:off x="5765292" y="1326832"/>
            <a:ext cx="640080" cy="217551"/>
          </a:xfrm>
          <a:prstGeom prst="rect">
            <a:avLst/>
          </a:prstGeom>
          <a:noFill/>
        </p:spPr>
        <p:txBody>
          <a:bodyPr wrap="square" lIns="0" rIns="0" tIns="0" bIns="0" anchor="ctr">
            <a:spAutoFit/>
          </a:bodyPr>
          <a:lstStyle/>
          <a:p>
            <a:pPr algn="l"/>
            <a:r>
              <a:rPr sz="1050" b="0" i="0">
                <a:solidFill>
                  <a:srgbClr val="1A1A1A"/>
                </a:solidFill>
              </a:rPr>
              <a:t>– High</a:t>
            </a:r>
          </a:p>
        </p:txBody>
      </p:sp>
      <p:sp>
        <p:nvSpPr>
          <p:cNvPr id="16" name="TextBox 15"/>
          <p:cNvSpPr txBox="1"/>
          <p:nvPr/>
        </p:nvSpPr>
        <p:spPr>
          <a:xfrm>
            <a:off x="4091940" y="5651944"/>
            <a:ext cx="1920240" cy="217551"/>
          </a:xfrm>
          <a:prstGeom prst="rect">
            <a:avLst/>
          </a:prstGeom>
          <a:noFill/>
        </p:spPr>
        <p:txBody>
          <a:bodyPr wrap="square" lIns="0" rIns="0" tIns="0" bIns="0" anchor="ctr">
            <a:spAutoFit/>
          </a:bodyPr>
          <a:lstStyle/>
          <a:p>
            <a:pPr algn="ctr"/>
            <a:r>
              <a:rPr sz="1050" b="1" i="0">
                <a:solidFill>
                  <a:srgbClr val="1A1A1A"/>
                </a:solidFill>
              </a:rPr>
              <a:t>Relative Value</a:t>
            </a:r>
          </a:p>
        </p:txBody>
      </p:sp>
      <p:sp>
        <p:nvSpPr>
          <p:cNvPr id="17" name="TextBox 16"/>
          <p:cNvSpPr txBox="1"/>
          <p:nvPr/>
        </p:nvSpPr>
        <p:spPr>
          <a:xfrm>
            <a:off x="3698748" y="5651944"/>
            <a:ext cx="640080" cy="217551"/>
          </a:xfrm>
          <a:prstGeom prst="rect">
            <a:avLst/>
          </a:prstGeom>
          <a:noFill/>
        </p:spPr>
        <p:txBody>
          <a:bodyPr wrap="square" lIns="0" rIns="0" tIns="0" bIns="0" anchor="ctr">
            <a:spAutoFit/>
          </a:bodyPr>
          <a:lstStyle/>
          <a:p>
            <a:pPr algn="r"/>
            <a:r>
              <a:rPr sz="1050" b="0" i="0">
                <a:solidFill>
                  <a:srgbClr val="1A1A1A"/>
                </a:solidFill>
              </a:rPr>
              <a:t>Low–</a:t>
            </a:r>
          </a:p>
        </p:txBody>
      </p:sp>
      <p:sp>
        <p:nvSpPr>
          <p:cNvPr id="18" name="TextBox 17"/>
          <p:cNvSpPr txBox="1"/>
          <p:nvPr/>
        </p:nvSpPr>
        <p:spPr>
          <a:xfrm>
            <a:off x="5765292" y="5651944"/>
            <a:ext cx="640080" cy="217551"/>
          </a:xfrm>
          <a:prstGeom prst="rect">
            <a:avLst/>
          </a:prstGeom>
          <a:noFill/>
        </p:spPr>
        <p:txBody>
          <a:bodyPr wrap="square" lIns="0" rIns="0" tIns="0" bIns="0" anchor="ctr">
            <a:spAutoFit/>
          </a:bodyPr>
          <a:lstStyle/>
          <a:p>
            <a:pPr algn="l"/>
            <a:r>
              <a:rPr sz="1050" b="0" i="0">
                <a:solidFill>
                  <a:srgbClr val="1A1A1A"/>
                </a:solidFill>
              </a:rPr>
              <a:t>– High</a:t>
            </a:r>
          </a:p>
        </p:txBody>
      </p:sp>
      <p:sp>
        <p:nvSpPr>
          <p:cNvPr id="19" name="TextBox 18"/>
          <p:cNvSpPr txBox="1"/>
          <p:nvPr/>
        </p:nvSpPr>
        <p:spPr>
          <a:xfrm>
            <a:off x="3223260" y="5961888"/>
            <a:ext cx="3657600" cy="186563"/>
          </a:xfrm>
          <a:prstGeom prst="rect">
            <a:avLst/>
          </a:prstGeom>
          <a:noFill/>
        </p:spPr>
        <p:txBody>
          <a:bodyPr wrap="square" lIns="0" rIns="0" tIns="0" bIns="0" anchor="ctr">
            <a:spAutoFit/>
          </a:bodyPr>
          <a:lstStyle/>
          <a:p>
            <a:pPr algn="ctr"/>
            <a:r>
              <a:rPr sz="850" b="0" i="0">
                <a:solidFill>
                  <a:srgbClr val="666666"/>
                </a:solidFill>
              </a:rPr>
              <a:t>number of educators who raised the theme</a:t>
            </a:r>
          </a:p>
        </p:txBody>
      </p:sp>
      <p:sp>
        <p:nvSpPr>
          <p:cNvPr id="20" name="TextBox 19"/>
          <p:cNvSpPr txBox="1"/>
          <p:nvPr/>
        </p:nvSpPr>
        <p:spPr>
          <a:xfrm rot="16200000">
            <a:off x="-182879" y="3480244"/>
            <a:ext cx="1920240" cy="217551"/>
          </a:xfrm>
          <a:prstGeom prst="rect">
            <a:avLst/>
          </a:prstGeom>
          <a:noFill/>
        </p:spPr>
        <p:txBody>
          <a:bodyPr wrap="square" lIns="0" rIns="0" tIns="0" bIns="0" anchor="ctr">
            <a:spAutoFit/>
          </a:bodyPr>
          <a:lstStyle/>
          <a:p>
            <a:pPr algn="ctr"/>
            <a:r>
              <a:rPr sz="1050" b="1" i="0">
                <a:solidFill>
                  <a:srgbClr val="1A1A1A"/>
                </a:solidFill>
              </a:rPr>
              <a:t>Relative Difficulty</a:t>
            </a:r>
          </a:p>
        </p:txBody>
      </p:sp>
      <p:sp>
        <p:nvSpPr>
          <p:cNvPr id="21" name="TextBox 20"/>
          <p:cNvSpPr txBox="1"/>
          <p:nvPr/>
        </p:nvSpPr>
        <p:spPr>
          <a:xfrm rot="16200000">
            <a:off x="457200" y="4083748"/>
            <a:ext cx="640080" cy="217551"/>
          </a:xfrm>
          <a:prstGeom prst="rect">
            <a:avLst/>
          </a:prstGeom>
          <a:noFill/>
        </p:spPr>
        <p:txBody>
          <a:bodyPr wrap="square" lIns="0" rIns="0" tIns="0" bIns="0" anchor="ctr">
            <a:spAutoFit/>
          </a:bodyPr>
          <a:lstStyle/>
          <a:p>
            <a:pPr algn="ctr"/>
            <a:r>
              <a:rPr sz="1050" b="0" i="0">
                <a:solidFill>
                  <a:srgbClr val="1A1A1A"/>
                </a:solidFill>
              </a:rPr>
              <a:t>Low –</a:t>
            </a:r>
          </a:p>
        </p:txBody>
      </p:sp>
      <p:sp>
        <p:nvSpPr>
          <p:cNvPr id="22" name="TextBox 21"/>
          <p:cNvSpPr txBox="1"/>
          <p:nvPr/>
        </p:nvSpPr>
        <p:spPr>
          <a:xfrm rot="16200000">
            <a:off x="457200" y="2876740"/>
            <a:ext cx="640080" cy="217551"/>
          </a:xfrm>
          <a:prstGeom prst="rect">
            <a:avLst/>
          </a:prstGeom>
          <a:noFill/>
        </p:spPr>
        <p:txBody>
          <a:bodyPr wrap="square" lIns="0" rIns="0" tIns="0" bIns="0" anchor="ctr">
            <a:spAutoFit/>
          </a:bodyPr>
          <a:lstStyle/>
          <a:p>
            <a:pPr algn="ctr"/>
            <a:r>
              <a:rPr sz="1050" b="0" i="0">
                <a:solidFill>
                  <a:srgbClr val="1A1A1A"/>
                </a:solidFill>
              </a:rPr>
              <a:t>– High</a:t>
            </a:r>
          </a:p>
        </p:txBody>
      </p:sp>
      <p:sp>
        <p:nvSpPr>
          <p:cNvPr id="23" name="TextBox 22"/>
          <p:cNvSpPr txBox="1"/>
          <p:nvPr/>
        </p:nvSpPr>
        <p:spPr>
          <a:xfrm rot="5400000">
            <a:off x="8366759" y="3480244"/>
            <a:ext cx="1920240" cy="217551"/>
          </a:xfrm>
          <a:prstGeom prst="rect">
            <a:avLst/>
          </a:prstGeom>
          <a:noFill/>
        </p:spPr>
        <p:txBody>
          <a:bodyPr wrap="square" lIns="0" rIns="0" tIns="0" bIns="0" anchor="ctr">
            <a:spAutoFit/>
          </a:bodyPr>
          <a:lstStyle/>
          <a:p>
            <a:pPr algn="ctr"/>
            <a:r>
              <a:rPr sz="1050" b="1" i="0">
                <a:solidFill>
                  <a:srgbClr val="1A1A1A"/>
                </a:solidFill>
              </a:rPr>
              <a:t>Relative Difficulty</a:t>
            </a:r>
          </a:p>
        </p:txBody>
      </p:sp>
      <p:sp>
        <p:nvSpPr>
          <p:cNvPr id="24" name="TextBox 23"/>
          <p:cNvSpPr txBox="1"/>
          <p:nvPr/>
        </p:nvSpPr>
        <p:spPr>
          <a:xfrm rot="5400000">
            <a:off x="9006840" y="4083748"/>
            <a:ext cx="640080" cy="217551"/>
          </a:xfrm>
          <a:prstGeom prst="rect">
            <a:avLst/>
          </a:prstGeom>
          <a:noFill/>
        </p:spPr>
        <p:txBody>
          <a:bodyPr wrap="square" lIns="0" rIns="0" tIns="0" bIns="0" anchor="ctr">
            <a:spAutoFit/>
          </a:bodyPr>
          <a:lstStyle/>
          <a:p>
            <a:pPr algn="ctr"/>
            <a:r>
              <a:rPr sz="1050" b="0" i="0">
                <a:solidFill>
                  <a:srgbClr val="1A1A1A"/>
                </a:solidFill>
              </a:rPr>
              <a:t>Low –</a:t>
            </a:r>
          </a:p>
        </p:txBody>
      </p:sp>
      <p:sp>
        <p:nvSpPr>
          <p:cNvPr id="25" name="TextBox 24"/>
          <p:cNvSpPr txBox="1"/>
          <p:nvPr/>
        </p:nvSpPr>
        <p:spPr>
          <a:xfrm rot="5400000">
            <a:off x="9006840" y="2876740"/>
            <a:ext cx="640080" cy="217551"/>
          </a:xfrm>
          <a:prstGeom prst="rect">
            <a:avLst/>
          </a:prstGeom>
          <a:noFill/>
        </p:spPr>
        <p:txBody>
          <a:bodyPr wrap="square" lIns="0" rIns="0" tIns="0" bIns="0" anchor="ctr">
            <a:spAutoFit/>
          </a:bodyPr>
          <a:lstStyle/>
          <a:p>
            <a:pPr algn="ctr"/>
            <a:r>
              <a:rPr sz="1050" b="0" i="0">
                <a:solidFill>
                  <a:srgbClr val="1A1A1A"/>
                </a:solidFill>
              </a:rPr>
              <a:t>– High</a:t>
            </a:r>
          </a:p>
        </p:txBody>
      </p:sp>
      <p:sp>
        <p:nvSpPr>
          <p:cNvPr id="26" name="O1 bubble"/>
          <p:cNvSpPr/>
          <p:nvPr/>
        </p:nvSpPr>
        <p:spPr>
          <a:xfrm>
            <a:off x="6194700" y="3897052"/>
            <a:ext cx="855134" cy="855134"/>
          </a:xfrm>
          <a:prstGeom prst="ellipse">
            <a:avLst/>
          </a:prstGeom>
          <a:solidFill>
            <a:srgbClr val="6F2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56507" y="4134593"/>
            <a:ext cx="731520" cy="243231"/>
          </a:xfrm>
          <a:prstGeom prst="rect">
            <a:avLst/>
          </a:prstGeom>
          <a:noFill/>
        </p:spPr>
        <p:txBody>
          <a:bodyPr wrap="square" lIns="0" rIns="0" tIns="0" bIns="0" anchor="ctr">
            <a:spAutoFit/>
          </a:bodyPr>
          <a:lstStyle/>
          <a:p>
            <a:pPr algn="ctr"/>
            <a:r>
              <a:rPr sz="1215" b="1" i="0">
                <a:solidFill>
                  <a:srgbClr val="FFFFFF"/>
                </a:solidFill>
              </a:rPr>
              <a:t>O1</a:t>
            </a:r>
          </a:p>
        </p:txBody>
      </p:sp>
      <p:sp>
        <p:nvSpPr>
          <p:cNvPr id="28" name="TextBox 27"/>
          <p:cNvSpPr txBox="1"/>
          <p:nvPr/>
        </p:nvSpPr>
        <p:spPr>
          <a:xfrm>
            <a:off x="6393667" y="4418663"/>
            <a:ext cx="457200" cy="171069"/>
          </a:xfrm>
          <a:prstGeom prst="rect">
            <a:avLst/>
          </a:prstGeom>
          <a:noFill/>
        </p:spPr>
        <p:txBody>
          <a:bodyPr wrap="square" lIns="0" rIns="0" tIns="0" bIns="0" anchor="ctr">
            <a:spAutoFit/>
          </a:bodyPr>
          <a:lstStyle/>
          <a:p>
            <a:pPr algn="ctr"/>
            <a:r>
              <a:rPr sz="750" b="0" i="0">
                <a:solidFill>
                  <a:srgbClr val="FFFFFF"/>
                </a:solidFill>
              </a:rPr>
              <a:t>10</a:t>
            </a:r>
          </a:p>
        </p:txBody>
      </p:sp>
      <p:sp>
        <p:nvSpPr>
          <p:cNvPr id="29" name="O2 bubble"/>
          <p:cNvSpPr/>
          <p:nvPr/>
        </p:nvSpPr>
        <p:spPr>
          <a:xfrm>
            <a:off x="4120188" y="2024609"/>
            <a:ext cx="816937" cy="816937"/>
          </a:xfrm>
          <a:prstGeom prst="ellipse">
            <a:avLst/>
          </a:prstGeom>
          <a:solidFill>
            <a:srgbClr val="6F2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162897" y="2250314"/>
            <a:ext cx="731520" cy="234817"/>
          </a:xfrm>
          <a:prstGeom prst="rect">
            <a:avLst/>
          </a:prstGeom>
          <a:noFill/>
        </p:spPr>
        <p:txBody>
          <a:bodyPr wrap="square" lIns="0" rIns="0" tIns="0" bIns="0" anchor="ctr">
            <a:spAutoFit/>
          </a:bodyPr>
          <a:lstStyle/>
          <a:p>
            <a:pPr algn="ctr"/>
            <a:r>
              <a:rPr sz="1161" b="1" i="0">
                <a:solidFill>
                  <a:srgbClr val="FFFFFF"/>
                </a:solidFill>
              </a:rPr>
              <a:t>O2</a:t>
            </a:r>
          </a:p>
        </p:txBody>
      </p:sp>
      <p:sp>
        <p:nvSpPr>
          <p:cNvPr id="31" name="TextBox 30"/>
          <p:cNvSpPr txBox="1"/>
          <p:nvPr/>
        </p:nvSpPr>
        <p:spPr>
          <a:xfrm>
            <a:off x="4300057" y="2519099"/>
            <a:ext cx="457200" cy="171069"/>
          </a:xfrm>
          <a:prstGeom prst="rect">
            <a:avLst/>
          </a:prstGeom>
          <a:noFill/>
        </p:spPr>
        <p:txBody>
          <a:bodyPr wrap="square" lIns="0" rIns="0" tIns="0" bIns="0" anchor="ctr">
            <a:spAutoFit/>
          </a:bodyPr>
          <a:lstStyle/>
          <a:p>
            <a:pPr algn="ctr"/>
            <a:r>
              <a:rPr sz="750" b="0" i="0">
                <a:solidFill>
                  <a:srgbClr val="FFFFFF"/>
                </a:solidFill>
              </a:rPr>
              <a:t>8</a:t>
            </a:r>
          </a:p>
        </p:txBody>
      </p:sp>
      <p:sp>
        <p:nvSpPr>
          <p:cNvPr id="32" name="O3 bubble"/>
          <p:cNvSpPr/>
          <p:nvPr/>
        </p:nvSpPr>
        <p:spPr>
          <a:xfrm>
            <a:off x="7232675" y="3047536"/>
            <a:ext cx="872794" cy="872794"/>
          </a:xfrm>
          <a:prstGeom prst="ellipse">
            <a:avLst/>
          </a:prstGeom>
          <a:solidFill>
            <a:srgbClr val="6F2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303312" y="3290550"/>
            <a:ext cx="731520" cy="247121"/>
          </a:xfrm>
          <a:prstGeom prst="rect">
            <a:avLst/>
          </a:prstGeom>
          <a:noFill/>
        </p:spPr>
        <p:txBody>
          <a:bodyPr wrap="square" lIns="0" rIns="0" tIns="0" bIns="0" anchor="ctr">
            <a:spAutoFit/>
          </a:bodyPr>
          <a:lstStyle/>
          <a:p>
            <a:pPr algn="ctr"/>
            <a:r>
              <a:rPr sz="1240" b="1" i="0">
                <a:solidFill>
                  <a:srgbClr val="FFFFFF"/>
                </a:solidFill>
              </a:rPr>
              <a:t>O3</a:t>
            </a:r>
          </a:p>
        </p:txBody>
      </p:sp>
      <p:sp>
        <p:nvSpPr>
          <p:cNvPr id="34" name="TextBox 33"/>
          <p:cNvSpPr txBox="1"/>
          <p:nvPr/>
        </p:nvSpPr>
        <p:spPr>
          <a:xfrm>
            <a:off x="7440472" y="3581686"/>
            <a:ext cx="457200" cy="171069"/>
          </a:xfrm>
          <a:prstGeom prst="rect">
            <a:avLst/>
          </a:prstGeom>
          <a:noFill/>
        </p:spPr>
        <p:txBody>
          <a:bodyPr wrap="square" lIns="0" rIns="0" tIns="0" bIns="0" anchor="ctr">
            <a:spAutoFit/>
          </a:bodyPr>
          <a:lstStyle/>
          <a:p>
            <a:pPr algn="ctr"/>
            <a:r>
              <a:rPr sz="750" b="0" i="0">
                <a:solidFill>
                  <a:srgbClr val="FFFFFF"/>
                </a:solidFill>
              </a:rPr>
              <a:t>11</a:t>
            </a:r>
          </a:p>
        </p:txBody>
      </p:sp>
      <p:sp>
        <p:nvSpPr>
          <p:cNvPr id="35" name="O4 bubble"/>
          <p:cNvSpPr/>
          <p:nvPr/>
        </p:nvSpPr>
        <p:spPr>
          <a:xfrm>
            <a:off x="4120188" y="4126322"/>
            <a:ext cx="816937" cy="816937"/>
          </a:xfrm>
          <a:prstGeom prst="ellipse">
            <a:avLst/>
          </a:prstGeom>
          <a:solidFill>
            <a:srgbClr val="6F2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162897" y="4352027"/>
            <a:ext cx="731520" cy="234817"/>
          </a:xfrm>
          <a:prstGeom prst="rect">
            <a:avLst/>
          </a:prstGeom>
          <a:noFill/>
        </p:spPr>
        <p:txBody>
          <a:bodyPr wrap="square" lIns="0" rIns="0" tIns="0" bIns="0" anchor="ctr">
            <a:spAutoFit/>
          </a:bodyPr>
          <a:lstStyle/>
          <a:p>
            <a:pPr algn="ctr"/>
            <a:r>
              <a:rPr sz="1161" b="1" i="0">
                <a:solidFill>
                  <a:srgbClr val="FFFFFF"/>
                </a:solidFill>
              </a:rPr>
              <a:t>O4</a:t>
            </a:r>
          </a:p>
        </p:txBody>
      </p:sp>
      <p:sp>
        <p:nvSpPr>
          <p:cNvPr id="37" name="TextBox 36"/>
          <p:cNvSpPr txBox="1"/>
          <p:nvPr/>
        </p:nvSpPr>
        <p:spPr>
          <a:xfrm>
            <a:off x="4300057" y="4620813"/>
            <a:ext cx="457200" cy="171069"/>
          </a:xfrm>
          <a:prstGeom prst="rect">
            <a:avLst/>
          </a:prstGeom>
          <a:noFill/>
        </p:spPr>
        <p:txBody>
          <a:bodyPr wrap="square" lIns="0" rIns="0" tIns="0" bIns="0" anchor="ctr">
            <a:spAutoFit/>
          </a:bodyPr>
          <a:lstStyle/>
          <a:p>
            <a:pPr algn="ctr"/>
            <a:r>
              <a:rPr sz="750" b="0" i="0">
                <a:solidFill>
                  <a:srgbClr val="FFFFFF"/>
                </a:solidFill>
              </a:rPr>
              <a:t>8</a:t>
            </a:r>
          </a:p>
        </p:txBody>
      </p:sp>
      <p:sp>
        <p:nvSpPr>
          <p:cNvPr id="38" name="O5 bubble"/>
          <p:cNvSpPr/>
          <p:nvPr/>
        </p:nvSpPr>
        <p:spPr>
          <a:xfrm>
            <a:off x="3083834" y="4690364"/>
            <a:ext cx="796035" cy="796035"/>
          </a:xfrm>
          <a:prstGeom prst="ellipse">
            <a:avLst/>
          </a:prstGeom>
          <a:solidFill>
            <a:srgbClr val="6F2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116092" y="4909592"/>
            <a:ext cx="731520" cy="230213"/>
          </a:xfrm>
          <a:prstGeom prst="rect">
            <a:avLst/>
          </a:prstGeom>
          <a:noFill/>
        </p:spPr>
        <p:txBody>
          <a:bodyPr wrap="square" lIns="0" rIns="0" tIns="0" bIns="0" anchor="ctr">
            <a:spAutoFit/>
          </a:bodyPr>
          <a:lstStyle/>
          <a:p>
            <a:pPr algn="ctr"/>
            <a:r>
              <a:rPr sz="1131" b="1" i="0">
                <a:solidFill>
                  <a:srgbClr val="FFFFFF"/>
                </a:solidFill>
              </a:rPr>
              <a:t>O5</a:t>
            </a:r>
          </a:p>
        </p:txBody>
      </p:sp>
      <p:sp>
        <p:nvSpPr>
          <p:cNvPr id="40" name="TextBox 39"/>
          <p:cNvSpPr txBox="1"/>
          <p:nvPr/>
        </p:nvSpPr>
        <p:spPr>
          <a:xfrm>
            <a:off x="3253252" y="5170015"/>
            <a:ext cx="457200" cy="171069"/>
          </a:xfrm>
          <a:prstGeom prst="rect">
            <a:avLst/>
          </a:prstGeom>
          <a:noFill/>
        </p:spPr>
        <p:txBody>
          <a:bodyPr wrap="square" lIns="0" rIns="0" tIns="0" bIns="0" anchor="ctr">
            <a:spAutoFit/>
          </a:bodyPr>
          <a:lstStyle/>
          <a:p>
            <a:pPr algn="ctr"/>
            <a:r>
              <a:rPr sz="750" b="0" i="0">
                <a:solidFill>
                  <a:srgbClr val="FFFFFF"/>
                </a:solidFill>
              </a:rPr>
              <a:t>7</a:t>
            </a:r>
          </a:p>
        </p:txBody>
      </p:sp>
      <p:sp>
        <p:nvSpPr>
          <p:cNvPr id="41" name="O6 bubble"/>
          <p:cNvSpPr/>
          <p:nvPr/>
        </p:nvSpPr>
        <p:spPr>
          <a:xfrm>
            <a:off x="3083834" y="3837406"/>
            <a:ext cx="796035" cy="796035"/>
          </a:xfrm>
          <a:prstGeom prst="ellipse">
            <a:avLst/>
          </a:prstGeom>
          <a:solidFill>
            <a:srgbClr val="6F2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3116092" y="4056635"/>
            <a:ext cx="731520" cy="230213"/>
          </a:xfrm>
          <a:prstGeom prst="rect">
            <a:avLst/>
          </a:prstGeom>
          <a:noFill/>
        </p:spPr>
        <p:txBody>
          <a:bodyPr wrap="square" lIns="0" rIns="0" tIns="0" bIns="0" anchor="ctr">
            <a:spAutoFit/>
          </a:bodyPr>
          <a:lstStyle/>
          <a:p>
            <a:pPr algn="ctr"/>
            <a:r>
              <a:rPr sz="1131" b="1" i="0">
                <a:solidFill>
                  <a:srgbClr val="FFFFFF"/>
                </a:solidFill>
              </a:rPr>
              <a:t>O6</a:t>
            </a:r>
          </a:p>
        </p:txBody>
      </p:sp>
      <p:sp>
        <p:nvSpPr>
          <p:cNvPr id="43" name="TextBox 42"/>
          <p:cNvSpPr txBox="1"/>
          <p:nvPr/>
        </p:nvSpPr>
        <p:spPr>
          <a:xfrm>
            <a:off x="3253252" y="4317057"/>
            <a:ext cx="457200" cy="171069"/>
          </a:xfrm>
          <a:prstGeom prst="rect">
            <a:avLst/>
          </a:prstGeom>
          <a:noFill/>
        </p:spPr>
        <p:txBody>
          <a:bodyPr wrap="square" lIns="0" rIns="0" tIns="0" bIns="0" anchor="ctr">
            <a:spAutoFit/>
          </a:bodyPr>
          <a:lstStyle/>
          <a:p>
            <a:pPr algn="ctr"/>
            <a:r>
              <a:rPr sz="750" b="0" i="0">
                <a:solidFill>
                  <a:srgbClr val="FFFFFF"/>
                </a:solidFill>
              </a:rPr>
              <a:t>7</a:t>
            </a:r>
          </a:p>
        </p:txBody>
      </p:sp>
      <p:sp>
        <p:nvSpPr>
          <p:cNvPr id="44" name="O7 bubble"/>
          <p:cNvSpPr/>
          <p:nvPr/>
        </p:nvSpPr>
        <p:spPr>
          <a:xfrm>
            <a:off x="2048257" y="2184958"/>
            <a:ext cx="773580" cy="773580"/>
          </a:xfrm>
          <a:prstGeom prst="ellipse">
            <a:avLst/>
          </a:prstGeom>
          <a:solidFill>
            <a:srgbClr val="6F2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2069287" y="2397229"/>
            <a:ext cx="731520" cy="225266"/>
          </a:xfrm>
          <a:prstGeom prst="rect">
            <a:avLst/>
          </a:prstGeom>
          <a:noFill/>
        </p:spPr>
        <p:txBody>
          <a:bodyPr wrap="square" lIns="0" rIns="0" tIns="0" bIns="0" anchor="ctr">
            <a:spAutoFit/>
          </a:bodyPr>
          <a:lstStyle/>
          <a:p>
            <a:pPr algn="ctr"/>
            <a:r>
              <a:rPr sz="1099" b="1" i="0">
                <a:solidFill>
                  <a:srgbClr val="FFFFFF"/>
                </a:solidFill>
              </a:rPr>
              <a:t>O7</a:t>
            </a:r>
          </a:p>
        </p:txBody>
      </p:sp>
      <p:sp>
        <p:nvSpPr>
          <p:cNvPr id="46" name="TextBox 45"/>
          <p:cNvSpPr txBox="1"/>
          <p:nvPr/>
        </p:nvSpPr>
        <p:spPr>
          <a:xfrm>
            <a:off x="2206447" y="2648666"/>
            <a:ext cx="457200" cy="171069"/>
          </a:xfrm>
          <a:prstGeom prst="rect">
            <a:avLst/>
          </a:prstGeom>
          <a:noFill/>
        </p:spPr>
        <p:txBody>
          <a:bodyPr wrap="square" lIns="0" rIns="0" tIns="0" bIns="0" anchor="ctr">
            <a:spAutoFit/>
          </a:bodyPr>
          <a:lstStyle/>
          <a:p>
            <a:pPr algn="ctr"/>
            <a:r>
              <a:rPr sz="750" b="0" i="0">
                <a:solidFill>
                  <a:srgbClr val="FFFFFF"/>
                </a:solidFill>
              </a:rPr>
              <a:t>6</a:t>
            </a:r>
          </a:p>
        </p:txBody>
      </p:sp>
      <p:sp>
        <p:nvSpPr>
          <p:cNvPr id="47" name="TextBox 46"/>
          <p:cNvSpPr txBox="1"/>
          <p:nvPr/>
        </p:nvSpPr>
        <p:spPr>
          <a:xfrm>
            <a:off x="9555480" y="1783080"/>
            <a:ext cx="365760" cy="194310"/>
          </a:xfrm>
          <a:prstGeom prst="rect">
            <a:avLst/>
          </a:prstGeom>
          <a:noFill/>
        </p:spPr>
        <p:txBody>
          <a:bodyPr wrap="square" lIns="0" rIns="0" tIns="0" bIns="0" anchor="ctr">
            <a:spAutoFit/>
          </a:bodyPr>
          <a:lstStyle/>
          <a:p>
            <a:pPr algn="l"/>
            <a:r>
              <a:rPr sz="900" b="1" i="0">
                <a:solidFill>
                  <a:srgbClr val="6F2F9F"/>
                </a:solidFill>
              </a:rPr>
              <a:t>O1</a:t>
            </a:r>
          </a:p>
        </p:txBody>
      </p:sp>
      <p:sp>
        <p:nvSpPr>
          <p:cNvPr id="48" name="TextBox 47"/>
          <p:cNvSpPr txBox="1"/>
          <p:nvPr/>
        </p:nvSpPr>
        <p:spPr>
          <a:xfrm>
            <a:off x="9866376" y="1783080"/>
            <a:ext cx="2194560" cy="203606"/>
          </a:xfrm>
          <a:prstGeom prst="rect">
            <a:avLst/>
          </a:prstGeom>
          <a:noFill/>
        </p:spPr>
        <p:txBody>
          <a:bodyPr wrap="square" lIns="0" rIns="0" tIns="0" bIns="0" anchor="ctr">
            <a:spAutoFit/>
          </a:bodyPr>
          <a:lstStyle/>
          <a:p>
            <a:pPr algn="l">
              <a:lnSpc>
                <a:spcPct val="120000"/>
              </a:lnSpc>
            </a:pPr>
            <a:r>
              <a:rPr sz="800" b="0" i="0">
                <a:solidFill>
                  <a:srgbClr val="333333"/>
                </a:solidFill>
              </a:rPr>
              <a:t>Lead with engaging, real-world expert delivery  (10)</a:t>
            </a:r>
          </a:p>
        </p:txBody>
      </p:sp>
      <p:sp>
        <p:nvSpPr>
          <p:cNvPr id="49" name="TextBox 48"/>
          <p:cNvSpPr txBox="1"/>
          <p:nvPr/>
        </p:nvSpPr>
        <p:spPr>
          <a:xfrm>
            <a:off x="9555480" y="2167128"/>
            <a:ext cx="365760" cy="194310"/>
          </a:xfrm>
          <a:prstGeom prst="rect">
            <a:avLst/>
          </a:prstGeom>
          <a:noFill/>
        </p:spPr>
        <p:txBody>
          <a:bodyPr wrap="square" lIns="0" rIns="0" tIns="0" bIns="0" anchor="ctr">
            <a:spAutoFit/>
          </a:bodyPr>
          <a:lstStyle/>
          <a:p>
            <a:pPr algn="l"/>
            <a:r>
              <a:rPr sz="900" b="1" i="0">
                <a:solidFill>
                  <a:srgbClr val="6F2F9F"/>
                </a:solidFill>
              </a:rPr>
              <a:t>O2</a:t>
            </a:r>
          </a:p>
        </p:txBody>
      </p:sp>
      <p:sp>
        <p:nvSpPr>
          <p:cNvPr id="50" name="TextBox 49"/>
          <p:cNvSpPr txBox="1"/>
          <p:nvPr/>
        </p:nvSpPr>
        <p:spPr>
          <a:xfrm>
            <a:off x="9866376" y="2167128"/>
            <a:ext cx="2194560" cy="203606"/>
          </a:xfrm>
          <a:prstGeom prst="rect">
            <a:avLst/>
          </a:prstGeom>
          <a:noFill/>
        </p:spPr>
        <p:txBody>
          <a:bodyPr wrap="square" lIns="0" rIns="0" tIns="0" bIns="0" anchor="ctr">
            <a:spAutoFit/>
          </a:bodyPr>
          <a:lstStyle/>
          <a:p>
            <a:pPr algn="l">
              <a:lnSpc>
                <a:spcPct val="120000"/>
              </a:lnSpc>
            </a:pPr>
            <a:r>
              <a:rPr sz="800" b="0" i="0">
                <a:solidFill>
                  <a:srgbClr val="333333"/>
                </a:solidFill>
              </a:rPr>
              <a:t>Simplify how educators discover, access and navigate programs  (8)</a:t>
            </a:r>
          </a:p>
        </p:txBody>
      </p:sp>
      <p:sp>
        <p:nvSpPr>
          <p:cNvPr id="51" name="TextBox 50"/>
          <p:cNvSpPr txBox="1"/>
          <p:nvPr/>
        </p:nvSpPr>
        <p:spPr>
          <a:xfrm>
            <a:off x="9555480" y="2551176"/>
            <a:ext cx="365760" cy="194310"/>
          </a:xfrm>
          <a:prstGeom prst="rect">
            <a:avLst/>
          </a:prstGeom>
          <a:noFill/>
        </p:spPr>
        <p:txBody>
          <a:bodyPr wrap="square" lIns="0" rIns="0" tIns="0" bIns="0" anchor="ctr">
            <a:spAutoFit/>
          </a:bodyPr>
          <a:lstStyle/>
          <a:p>
            <a:pPr algn="l"/>
            <a:r>
              <a:rPr sz="900" b="1" i="0">
                <a:solidFill>
                  <a:srgbClr val="6F2F9F"/>
                </a:solidFill>
              </a:rPr>
              <a:t>O3</a:t>
            </a:r>
          </a:p>
        </p:txBody>
      </p:sp>
      <p:sp>
        <p:nvSpPr>
          <p:cNvPr id="52" name="TextBox 51"/>
          <p:cNvSpPr txBox="1"/>
          <p:nvPr/>
        </p:nvSpPr>
        <p:spPr>
          <a:xfrm>
            <a:off x="9866376" y="2551176"/>
            <a:ext cx="2194560" cy="203606"/>
          </a:xfrm>
          <a:prstGeom prst="rect">
            <a:avLst/>
          </a:prstGeom>
          <a:noFill/>
        </p:spPr>
        <p:txBody>
          <a:bodyPr wrap="square" lIns="0" rIns="0" tIns="0" bIns="0" anchor="ctr">
            <a:spAutoFit/>
          </a:bodyPr>
          <a:lstStyle/>
          <a:p>
            <a:pPr algn="l">
              <a:lnSpc>
                <a:spcPct val="120000"/>
              </a:lnSpc>
            </a:pPr>
            <a:r>
              <a:rPr sz="800" b="0" i="0">
                <a:solidFill>
                  <a:srgbClr val="333333"/>
                </a:solidFill>
              </a:rPr>
              <a:t>Increase awareness through trusted educator channels  (11)</a:t>
            </a:r>
          </a:p>
        </p:txBody>
      </p:sp>
      <p:sp>
        <p:nvSpPr>
          <p:cNvPr id="53" name="TextBox 52"/>
          <p:cNvSpPr txBox="1"/>
          <p:nvPr/>
        </p:nvSpPr>
        <p:spPr>
          <a:xfrm>
            <a:off x="9555480" y="2935224"/>
            <a:ext cx="365760" cy="194310"/>
          </a:xfrm>
          <a:prstGeom prst="rect">
            <a:avLst/>
          </a:prstGeom>
          <a:noFill/>
        </p:spPr>
        <p:txBody>
          <a:bodyPr wrap="square" lIns="0" rIns="0" tIns="0" bIns="0" anchor="ctr">
            <a:spAutoFit/>
          </a:bodyPr>
          <a:lstStyle/>
          <a:p>
            <a:pPr algn="l"/>
            <a:r>
              <a:rPr sz="900" b="1" i="0">
                <a:solidFill>
                  <a:srgbClr val="6F2F9F"/>
                </a:solidFill>
              </a:rPr>
              <a:t>O4</a:t>
            </a:r>
          </a:p>
        </p:txBody>
      </p:sp>
      <p:sp>
        <p:nvSpPr>
          <p:cNvPr id="54" name="TextBox 53"/>
          <p:cNvSpPr txBox="1"/>
          <p:nvPr/>
        </p:nvSpPr>
        <p:spPr>
          <a:xfrm>
            <a:off x="9866376" y="2935224"/>
            <a:ext cx="2194560" cy="203606"/>
          </a:xfrm>
          <a:prstGeom prst="rect">
            <a:avLst/>
          </a:prstGeom>
          <a:noFill/>
        </p:spPr>
        <p:txBody>
          <a:bodyPr wrap="square" lIns="0" rIns="0" tIns="0" bIns="0" anchor="ctr">
            <a:spAutoFit/>
          </a:bodyPr>
          <a:lstStyle/>
          <a:p>
            <a:pPr algn="l">
              <a:lnSpc>
                <a:spcPct val="120000"/>
              </a:lnSpc>
            </a:pPr>
            <a:r>
              <a:rPr sz="800" b="0" i="0">
                <a:solidFill>
                  <a:srgbClr val="333333"/>
                </a:solidFill>
              </a:rPr>
              <a:t>Make grade, curriculum and student fit immediately clear  (8)</a:t>
            </a:r>
          </a:p>
        </p:txBody>
      </p:sp>
      <p:sp>
        <p:nvSpPr>
          <p:cNvPr id="55" name="TextBox 54"/>
          <p:cNvSpPr txBox="1"/>
          <p:nvPr/>
        </p:nvSpPr>
        <p:spPr>
          <a:xfrm>
            <a:off x="9555480" y="3319272"/>
            <a:ext cx="365760" cy="194310"/>
          </a:xfrm>
          <a:prstGeom prst="rect">
            <a:avLst/>
          </a:prstGeom>
          <a:noFill/>
        </p:spPr>
        <p:txBody>
          <a:bodyPr wrap="square" lIns="0" rIns="0" tIns="0" bIns="0" anchor="ctr">
            <a:spAutoFit/>
          </a:bodyPr>
          <a:lstStyle/>
          <a:p>
            <a:pPr algn="l"/>
            <a:r>
              <a:rPr sz="900" b="1" i="0">
                <a:solidFill>
                  <a:srgbClr val="6F2F9F"/>
                </a:solidFill>
              </a:rPr>
              <a:t>O5</a:t>
            </a:r>
          </a:p>
        </p:txBody>
      </p:sp>
      <p:sp>
        <p:nvSpPr>
          <p:cNvPr id="56" name="TextBox 55"/>
          <p:cNvSpPr txBox="1"/>
          <p:nvPr/>
        </p:nvSpPr>
        <p:spPr>
          <a:xfrm>
            <a:off x="9866376" y="3319272"/>
            <a:ext cx="2194560" cy="203606"/>
          </a:xfrm>
          <a:prstGeom prst="rect">
            <a:avLst/>
          </a:prstGeom>
          <a:noFill/>
        </p:spPr>
        <p:txBody>
          <a:bodyPr wrap="square" lIns="0" rIns="0" tIns="0" bIns="0" anchor="ctr">
            <a:spAutoFit/>
          </a:bodyPr>
          <a:lstStyle/>
          <a:p>
            <a:pPr algn="l">
              <a:lnSpc>
                <a:spcPct val="120000"/>
              </a:lnSpc>
            </a:pPr>
            <a:r>
              <a:rPr sz="800" b="0" i="0">
                <a:solidFill>
                  <a:srgbClr val="333333"/>
                </a:solidFill>
              </a:rPr>
              <a:t>Promote JABC as low-prep, flexible and ready to use  (7)</a:t>
            </a:r>
          </a:p>
        </p:txBody>
      </p:sp>
      <p:sp>
        <p:nvSpPr>
          <p:cNvPr id="57" name="TextBox 56"/>
          <p:cNvSpPr txBox="1"/>
          <p:nvPr/>
        </p:nvSpPr>
        <p:spPr>
          <a:xfrm>
            <a:off x="9555480" y="3703320"/>
            <a:ext cx="365760" cy="194310"/>
          </a:xfrm>
          <a:prstGeom prst="rect">
            <a:avLst/>
          </a:prstGeom>
          <a:noFill/>
        </p:spPr>
        <p:txBody>
          <a:bodyPr wrap="square" lIns="0" rIns="0" tIns="0" bIns="0" anchor="ctr">
            <a:spAutoFit/>
          </a:bodyPr>
          <a:lstStyle/>
          <a:p>
            <a:pPr algn="l"/>
            <a:r>
              <a:rPr sz="900" b="1" i="0">
                <a:solidFill>
                  <a:srgbClr val="6F2F9F"/>
                </a:solidFill>
              </a:rPr>
              <a:t>O6</a:t>
            </a:r>
          </a:p>
        </p:txBody>
      </p:sp>
      <p:sp>
        <p:nvSpPr>
          <p:cNvPr id="58" name="TextBox 57"/>
          <p:cNvSpPr txBox="1"/>
          <p:nvPr/>
        </p:nvSpPr>
        <p:spPr>
          <a:xfrm>
            <a:off x="9866376" y="3703320"/>
            <a:ext cx="2194560" cy="203606"/>
          </a:xfrm>
          <a:prstGeom prst="rect">
            <a:avLst/>
          </a:prstGeom>
          <a:noFill/>
        </p:spPr>
        <p:txBody>
          <a:bodyPr wrap="square" lIns="0" rIns="0" tIns="0" bIns="0" anchor="ctr">
            <a:spAutoFit/>
          </a:bodyPr>
          <a:lstStyle/>
          <a:p>
            <a:pPr algn="l">
              <a:lnSpc>
                <a:spcPct val="120000"/>
              </a:lnSpc>
            </a:pPr>
            <a:r>
              <a:rPr sz="800" b="0" i="0">
                <a:solidFill>
                  <a:srgbClr val="333333"/>
                </a:solidFill>
              </a:rPr>
              <a:t>Communicate at the right time with the right message  (7)</a:t>
            </a:r>
          </a:p>
        </p:txBody>
      </p:sp>
      <p:sp>
        <p:nvSpPr>
          <p:cNvPr id="59" name="TextBox 58"/>
          <p:cNvSpPr txBox="1"/>
          <p:nvPr/>
        </p:nvSpPr>
        <p:spPr>
          <a:xfrm>
            <a:off x="9555480" y="4087368"/>
            <a:ext cx="365760" cy="194310"/>
          </a:xfrm>
          <a:prstGeom prst="rect">
            <a:avLst/>
          </a:prstGeom>
          <a:noFill/>
        </p:spPr>
        <p:txBody>
          <a:bodyPr wrap="square" lIns="0" rIns="0" tIns="0" bIns="0" anchor="ctr">
            <a:spAutoFit/>
          </a:bodyPr>
          <a:lstStyle/>
          <a:p>
            <a:pPr algn="l"/>
            <a:r>
              <a:rPr sz="900" b="1" i="0">
                <a:solidFill>
                  <a:srgbClr val="6F2F9F"/>
                </a:solidFill>
              </a:rPr>
              <a:t>O7</a:t>
            </a:r>
          </a:p>
        </p:txBody>
      </p:sp>
      <p:sp>
        <p:nvSpPr>
          <p:cNvPr id="60" name="TextBox 59"/>
          <p:cNvSpPr txBox="1"/>
          <p:nvPr/>
        </p:nvSpPr>
        <p:spPr>
          <a:xfrm>
            <a:off x="9866376" y="4087368"/>
            <a:ext cx="2194560" cy="203606"/>
          </a:xfrm>
          <a:prstGeom prst="rect">
            <a:avLst/>
          </a:prstGeom>
          <a:noFill/>
        </p:spPr>
        <p:txBody>
          <a:bodyPr wrap="square" lIns="0" rIns="0" tIns="0" bIns="0" anchor="ctr">
            <a:spAutoFit/>
          </a:bodyPr>
          <a:lstStyle/>
          <a:p>
            <a:pPr algn="l">
              <a:lnSpc>
                <a:spcPct val="120000"/>
              </a:lnSpc>
            </a:pPr>
            <a:r>
              <a:rPr sz="800" b="0" i="0">
                <a:solidFill>
                  <a:srgbClr val="333333"/>
                </a:solidFill>
              </a:rPr>
              <a:t>Modernize and tailor content to age, culture and local context  (6)</a:t>
            </a:r>
          </a:p>
        </p:txBody>
      </p:sp>
      <p:sp>
        <p:nvSpPr>
          <p:cNvPr id="61" name="Oval 60"/>
          <p:cNvSpPr/>
          <p:nvPr/>
        </p:nvSpPr>
        <p:spPr>
          <a:xfrm>
            <a:off x="9555480" y="4690872"/>
            <a:ext cx="182880" cy="182880"/>
          </a:xfrm>
          <a:prstGeom prst="ellipse">
            <a:avLst/>
          </a:prstGeom>
          <a:solidFill>
            <a:srgbClr val="6F2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9848088" y="4700016"/>
            <a:ext cx="2377440" cy="186563"/>
          </a:xfrm>
          <a:prstGeom prst="rect">
            <a:avLst/>
          </a:prstGeom>
          <a:noFill/>
        </p:spPr>
        <p:txBody>
          <a:bodyPr wrap="square" lIns="0" rIns="0" tIns="0" bIns="0" anchor="ctr">
            <a:spAutoFit/>
          </a:bodyPr>
          <a:lstStyle/>
          <a:p>
            <a:pPr algn="l"/>
            <a:r>
              <a:rPr sz="850" b="1" i="0">
                <a:solidFill>
                  <a:srgbClr val="333333"/>
                </a:solidFill>
              </a:rPr>
              <a:t>Size = number of people who raised it</a:t>
            </a:r>
          </a:p>
        </p:txBody>
      </p:sp>
      <p:sp>
        <p:nvSpPr>
          <p:cNvPr id="63" name="TextBox 62"/>
          <p:cNvSpPr txBox="1"/>
          <p:nvPr/>
        </p:nvSpPr>
        <p:spPr>
          <a:xfrm>
            <a:off x="9555480" y="5010912"/>
            <a:ext cx="2560320" cy="508063"/>
          </a:xfrm>
          <a:prstGeom prst="rect">
            <a:avLst/>
          </a:prstGeom>
          <a:noFill/>
        </p:spPr>
        <p:txBody>
          <a:bodyPr wrap="square" lIns="0" rIns="0" tIns="0" bIns="0" anchor="ctr">
            <a:spAutoFit/>
          </a:bodyPr>
          <a:lstStyle/>
          <a:p>
            <a:pPr algn="l">
              <a:lnSpc>
                <a:spcPct val="130000"/>
              </a:lnSpc>
            </a:pPr>
            <a:r>
              <a:rPr sz="750" b="0" i="1">
                <a:solidFill>
                  <a:srgbClr val="8A8A8A"/>
                </a:solidFill>
              </a:rPr>
              <a:t>Value = coded mentions (measured).</a:t>
            </a:r>
          </a:p>
          <a:p>
            <a:pPr algn="l">
              <a:lnSpc>
                <a:spcPct val="130000"/>
              </a:lnSpc>
            </a:pPr>
            <a:r>
              <a:rPr sz="750" b="0" i="1">
                <a:solidFill>
                  <a:srgbClr val="8A8A8A"/>
                </a:solidFill>
              </a:rPr>
              <a:t>Difficulty = authored estimate</a:t>
            </a:r>
          </a:p>
          <a:p>
            <a:pPr algn="l">
              <a:lnSpc>
                <a:spcPct val="130000"/>
              </a:lnSpc>
            </a:pPr>
            <a:r>
              <a:rPr sz="750" b="0" i="1">
                <a:solidFill>
                  <a:srgbClr val="8A8A8A"/>
                </a:solidFill>
              </a:rPr>
              <a:t>(config/opportunities.yaml).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